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19007138" cy="10691813"/>
  <p:notesSz cx="7104063" cy="10234613"/>
  <p:embeddedFontLst>
    <p:embeddedFont>
      <p:font typeface="DFKai-SB" panose="03000509000000000000" pitchFamily="65" charset="-12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Gill Sans" panose="02020500000000000000" charset="0"/>
      <p:regular r:id="rId10"/>
      <p:bold r:id="rId11"/>
    </p:embeddedFon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598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6vfdiDx+GO/OPaR1gF8c/Ug1P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04F76-8588-49DD-B0B7-138E8E70B0CA}">
  <a:tblStyle styleId="{28704F76-8588-49DD-B0B7-138E8E70B0CA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tcBdr/>
        <a:fill>
          <a:solidFill>
            <a:srgbClr val="CC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B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6DD1FFD-3F0A-4F8B-9FD4-9AA5CBB8BCB9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08" y="56"/>
      </p:cViewPr>
      <p:guideLst>
        <p:guide orient="horz" pos="3368"/>
        <p:guide pos="59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1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bg>
      <p:bgPr>
        <a:solidFill>
          <a:srgbClr val="E8D7A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 txBox="1">
            <a:spLocks noGrp="1"/>
          </p:cNvSpPr>
          <p:nvPr>
            <p:ph type="ctrTitle"/>
          </p:nvPr>
        </p:nvSpPr>
        <p:spPr>
          <a:xfrm>
            <a:off x="2755642" y="561091"/>
            <a:ext cx="15617926" cy="229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ubTitle" idx="1"/>
          </p:nvPr>
        </p:nvSpPr>
        <p:spPr>
          <a:xfrm>
            <a:off x="2755642" y="2884301"/>
            <a:ext cx="15617926" cy="273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01"/>
              </a:spcBef>
              <a:spcAft>
                <a:spcPts val="0"/>
              </a:spcAft>
              <a:buSzPts val="2429"/>
              <a:buNone/>
              <a:defRPr sz="3036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642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6"/>
          <p:cNvSpPr/>
          <p:nvPr/>
        </p:nvSpPr>
        <p:spPr>
          <a:xfrm>
            <a:off x="0" y="9701349"/>
            <a:ext cx="2102499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國立中興大學</a:t>
            </a:r>
            <a:endParaRPr sz="14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National Chung Hsing University</a:t>
            </a:r>
            <a:endParaRPr sz="9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製造與公差工程研究室</a:t>
            </a:r>
            <a:endParaRPr sz="11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Fabrication &amp;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  Tolerancing Engineering Lab</a:t>
            </a:r>
            <a:endParaRPr sz="10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3" name="Google Shape;2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050694"/>
            <a:ext cx="2058955" cy="162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2420442" y="156630"/>
            <a:ext cx="16149533" cy="14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  <a:defRPr sz="5400">
                <a:solidFill>
                  <a:srgbClr val="0000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2420442" y="2257162"/>
            <a:ext cx="16149532" cy="748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701"/>
              </a:spcBef>
              <a:spcAft>
                <a:spcPts val="0"/>
              </a:spcAft>
              <a:buSzPts val="3200"/>
              <a:buChar char="⮚"/>
              <a:defRPr sz="4000"/>
            </a:lvl1pPr>
            <a:lvl2pPr marL="914400" lvl="1" indent="-457200" algn="l">
              <a:lnSpc>
                <a:spcPct val="100000"/>
              </a:lnSpc>
              <a:spcBef>
                <a:spcPts val="642"/>
              </a:spcBef>
              <a:spcAft>
                <a:spcPts val="0"/>
              </a:spcAft>
              <a:buSzPts val="3600"/>
              <a:buChar char="◦"/>
              <a:defRPr sz="3600"/>
            </a:lvl2pPr>
            <a:lvl3pPr marL="1371600" lvl="2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●"/>
              <a:defRPr sz="3200"/>
            </a:lvl3pPr>
            <a:lvl4pPr marL="1828800" lvl="3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7"/>
          <p:cNvSpPr/>
          <p:nvPr/>
        </p:nvSpPr>
        <p:spPr>
          <a:xfrm>
            <a:off x="0" y="9701349"/>
            <a:ext cx="2102499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國立中興大學</a:t>
            </a:r>
            <a:endParaRPr sz="14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National Chung Hsing University</a:t>
            </a:r>
            <a:endParaRPr sz="9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製造與公差工程研究室</a:t>
            </a:r>
            <a:endParaRPr sz="11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Fabrication &amp;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09A9D"/>
                </a:solidFill>
                <a:latin typeface="DFKai-SB"/>
                <a:ea typeface="DFKai-SB"/>
                <a:cs typeface="DFKai-SB"/>
                <a:sym typeface="DFKai-SB"/>
              </a:rPr>
              <a:t>  Tolerancing Engineering Lab</a:t>
            </a:r>
            <a:endParaRPr sz="1000" b="0" i="0" u="none" strike="noStrike" cap="none">
              <a:solidFill>
                <a:srgbClr val="609A9D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9" name="Google Shape;2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050694"/>
            <a:ext cx="2058955" cy="162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/>
          </a:blip>
          <a:tile tx="0" ty="0" sx="90000" sy="90000" flip="xy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1696020" y="-1272044"/>
            <a:ext cx="3406666" cy="2555070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941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2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350911" y="32901"/>
            <a:ext cx="3538252" cy="2653763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2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25"/>
          <p:cNvSpPr/>
          <p:nvPr/>
        </p:nvSpPr>
        <p:spPr>
          <a:xfrm rot="2315675">
            <a:off x="380146" y="1644894"/>
            <a:ext cx="2339967" cy="1719022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2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5"/>
          <p:cNvSpPr/>
          <p:nvPr/>
        </p:nvSpPr>
        <p:spPr>
          <a:xfrm>
            <a:off x="2105404" y="32901"/>
            <a:ext cx="16901734" cy="106918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2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2338874" y="320949"/>
            <a:ext cx="16231100" cy="149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2338874" y="2052858"/>
            <a:ext cx="16231100" cy="768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701"/>
              </a:spcBef>
              <a:spcAft>
                <a:spcPts val="0"/>
              </a:spcAft>
              <a:buClr>
                <a:schemeClr val="accent1"/>
              </a:buClr>
              <a:buSzPts val="3520"/>
              <a:buFont typeface="Noto Sans Symbols"/>
              <a:buChar char="⮚"/>
              <a:defRPr sz="4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100000"/>
              </a:lnSpc>
              <a:spcBef>
                <a:spcPts val="642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  <a:defRPr sz="4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Noto Sans Symbols"/>
              <a:buChar char="●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Noto Sans Symbols"/>
              <a:buChar char="●"/>
              <a:defRPr sz="2800" b="0" i="0" u="none" strike="noStrike" cap="none">
                <a:solidFill>
                  <a:srgbClr val="92212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●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76935" algn="l" rtl="0">
              <a:lnSpc>
                <a:spcPct val="100000"/>
              </a:lnSpc>
              <a:spcBef>
                <a:spcPts val="467"/>
              </a:spcBef>
              <a:spcAft>
                <a:spcPts val="0"/>
              </a:spcAft>
              <a:buClr>
                <a:schemeClr val="accent5"/>
              </a:buClr>
              <a:buSzPts val="2336"/>
              <a:buFont typeface="Noto Sans Symbols"/>
              <a:buChar char="●"/>
              <a:defRPr sz="2336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76935" algn="l" rtl="0">
              <a:lnSpc>
                <a:spcPct val="100000"/>
              </a:lnSpc>
              <a:spcBef>
                <a:spcPts val="467"/>
              </a:spcBef>
              <a:spcAft>
                <a:spcPts val="0"/>
              </a:spcAft>
              <a:buClr>
                <a:schemeClr val="accent6"/>
              </a:buClr>
              <a:buSzPts val="2336"/>
              <a:buFont typeface="Noto Sans Symbols"/>
              <a:buChar char="●"/>
              <a:defRPr sz="2336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76935" algn="l" rtl="0">
              <a:lnSpc>
                <a:spcPct val="100000"/>
              </a:lnSpc>
              <a:spcBef>
                <a:spcPts val="467"/>
              </a:spcBef>
              <a:spcAft>
                <a:spcPts val="0"/>
              </a:spcAft>
              <a:buClr>
                <a:schemeClr val="accent6"/>
              </a:buClr>
              <a:buSzPts val="2336"/>
              <a:buFont typeface="Noto Sans Symbols"/>
              <a:buChar char="●"/>
              <a:defRPr sz="2336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76935" algn="l" rtl="0">
              <a:lnSpc>
                <a:spcPct val="100000"/>
              </a:lnSpc>
              <a:spcBef>
                <a:spcPts val="467"/>
              </a:spcBef>
              <a:spcAft>
                <a:spcPts val="0"/>
              </a:spcAft>
              <a:buClr>
                <a:schemeClr val="accent6"/>
              </a:buClr>
              <a:buSzPts val="2336"/>
              <a:buFont typeface="Noto Sans Symbols"/>
              <a:buChar char="●"/>
              <a:defRPr sz="2336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25"/>
          <p:cNvSpPr/>
          <p:nvPr/>
        </p:nvSpPr>
        <p:spPr>
          <a:xfrm>
            <a:off x="2109792" y="-84"/>
            <a:ext cx="152057" cy="1069189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2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buNone/>
              <a:defRPr sz="140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>
            <a:spLocks noGrp="1"/>
          </p:cNvSpPr>
          <p:nvPr>
            <p:ph type="ctrTitle"/>
          </p:nvPr>
        </p:nvSpPr>
        <p:spPr>
          <a:xfrm>
            <a:off x="2212041" y="2841110"/>
            <a:ext cx="16596045" cy="409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16449"/>
              </a:buClr>
              <a:buSzPts val="4800"/>
              <a:buFont typeface="Arial"/>
              <a:buNone/>
            </a:pPr>
            <a:r>
              <a:rPr lang="en-US" sz="4800" dirty="0" err="1">
                <a:solidFill>
                  <a:srgbClr val="C16449"/>
                </a:solidFill>
              </a:rPr>
              <a:t>以人工智慧生成零件公差、節能切削路徑與補償監控</a:t>
            </a:r>
            <a:br>
              <a:rPr lang="en-US" sz="6236" dirty="0">
                <a:solidFill>
                  <a:srgbClr val="C16449"/>
                </a:solidFill>
              </a:rPr>
            </a:br>
            <a:br>
              <a:rPr lang="en-US" sz="6860" dirty="0">
                <a:solidFill>
                  <a:srgbClr val="C16449"/>
                </a:solidFill>
              </a:rPr>
            </a:br>
            <a:r>
              <a:rPr lang="en-US" sz="6000" dirty="0" err="1">
                <a:solidFill>
                  <a:srgbClr val="0000FF"/>
                </a:solidFill>
              </a:rPr>
              <a:t>AI輔助設計公差配置與製程公差調配</a:t>
            </a:r>
            <a:endParaRPr sz="7483" dirty="0">
              <a:solidFill>
                <a:srgbClr val="0000FF"/>
              </a:solidFill>
            </a:endParaRPr>
          </a:p>
        </p:txBody>
      </p:sp>
      <p:sp>
        <p:nvSpPr>
          <p:cNvPr id="35" name="Google Shape;35;p1"/>
          <p:cNvSpPr txBox="1">
            <a:spLocks noGrp="1"/>
          </p:cNvSpPr>
          <p:nvPr>
            <p:ph type="subTitle" idx="1"/>
          </p:nvPr>
        </p:nvSpPr>
        <p:spPr>
          <a:xfrm>
            <a:off x="5548240" y="8319752"/>
            <a:ext cx="10144477" cy="220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320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93"/>
              <a:buNone/>
            </a:pPr>
            <a:r>
              <a:rPr lang="en-US" sz="3741" dirty="0"/>
              <a:t>溫梓翔</a:t>
            </a:r>
            <a:endParaRPr sz="3741" dirty="0"/>
          </a:p>
          <a:p>
            <a:pPr marL="32035" lvl="0" indent="0" algn="ctr" rtl="0">
              <a:lnSpc>
                <a:spcPct val="100000"/>
              </a:lnSpc>
              <a:spcBef>
                <a:spcPts val="701"/>
              </a:spcBef>
              <a:spcAft>
                <a:spcPts val="0"/>
              </a:spcAft>
              <a:buSzPts val="2993"/>
              <a:buNone/>
            </a:pPr>
            <a:r>
              <a:rPr lang="en-US" sz="3741" dirty="0" err="1"/>
              <a:t>國立中興大學機械工程學系</a:t>
            </a:r>
            <a:endParaRPr sz="3741" dirty="0"/>
          </a:p>
          <a:p>
            <a:pPr marL="32035" lvl="0" indent="0" algn="ctr" rtl="0">
              <a:lnSpc>
                <a:spcPct val="100000"/>
              </a:lnSpc>
              <a:spcBef>
                <a:spcPts val="701"/>
              </a:spcBef>
              <a:spcAft>
                <a:spcPts val="0"/>
              </a:spcAft>
              <a:buSzPts val="2993"/>
              <a:buNone/>
            </a:pPr>
            <a:r>
              <a:rPr lang="en-US" sz="3741"/>
              <a:t>2026/02/23</a:t>
            </a:r>
            <a:endParaRPr dirty="0"/>
          </a:p>
        </p:txBody>
      </p:sp>
      <p:sp>
        <p:nvSpPr>
          <p:cNvPr id="36" name="Google Shape;36;p1"/>
          <p:cNvSpPr txBox="1"/>
          <p:nvPr/>
        </p:nvSpPr>
        <p:spPr>
          <a:xfrm>
            <a:off x="2145992" y="545197"/>
            <a:ext cx="1672814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國科會工程技術研究發展處</a:t>
            </a:r>
            <a:endParaRPr sz="4000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114年度「 AI驅動之智慧製造專案計畫 」</a:t>
            </a:r>
            <a:endParaRPr sz="4989" b="0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2420442" y="156630"/>
            <a:ext cx="16149533" cy="149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5400"/>
              <a:buFont typeface="Arial"/>
              <a:buNone/>
            </a:pPr>
            <a:r>
              <a:rPr lang="en-US"/>
              <a:t>系統架構</a:t>
            </a:r>
            <a:endParaRPr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829B531-2A55-452A-B599-2ED8BAC31ED4}"/>
              </a:ext>
            </a:extLst>
          </p:cNvPr>
          <p:cNvGrpSpPr/>
          <p:nvPr/>
        </p:nvGrpSpPr>
        <p:grpSpPr>
          <a:xfrm>
            <a:off x="2861729" y="2190067"/>
            <a:ext cx="14501582" cy="7880466"/>
            <a:chOff x="2187388" y="2654716"/>
            <a:chExt cx="14501582" cy="7880466"/>
          </a:xfrm>
        </p:grpSpPr>
        <p:grpSp>
          <p:nvGrpSpPr>
            <p:cNvPr id="110" name="Google Shape;110;p5"/>
            <p:cNvGrpSpPr/>
            <p:nvPr/>
          </p:nvGrpSpPr>
          <p:grpSpPr>
            <a:xfrm>
              <a:off x="2187388" y="2654716"/>
              <a:ext cx="14501582" cy="7880466"/>
              <a:chOff x="2227409" y="1711237"/>
              <a:chExt cx="14628075" cy="8205820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2227409" y="1711237"/>
                <a:ext cx="14628075" cy="820582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rgbClr val="7030A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0000FF"/>
                  </a:solidFill>
                  <a:latin typeface="DFKai-SB"/>
                  <a:ea typeface="DFKai-SB"/>
                  <a:cs typeface="DFKai-SB"/>
                  <a:sym typeface="DFKai-SB"/>
                </a:endParaRPr>
              </a:p>
            </p:txBody>
          </p:sp>
          <p:sp>
            <p:nvSpPr>
              <p:cNvPr id="46" name="Google Shape;128;p5">
                <a:extLst>
                  <a:ext uri="{FF2B5EF4-FFF2-40B4-BE49-F238E27FC236}">
                    <a16:creationId xmlns:a16="http://schemas.microsoft.com/office/drawing/2014/main" id="{95BD4261-9A25-4778-9624-4A3111C5A01B}"/>
                  </a:ext>
                </a:extLst>
              </p:cNvPr>
              <p:cNvSpPr/>
              <p:nvPr/>
            </p:nvSpPr>
            <p:spPr>
              <a:xfrm>
                <a:off x="7277721" y="5828735"/>
                <a:ext cx="1760132" cy="1951783"/>
              </a:xfrm>
              <a:prstGeom prst="can">
                <a:avLst>
                  <a:gd name="adj" fmla="val 25000"/>
                </a:avLst>
              </a:prstGeom>
              <a:solidFill>
                <a:srgbClr val="00B0F0"/>
              </a:solidFill>
              <a:ln w="38100" cap="flat" cmpd="sng">
                <a:solidFill>
                  <a:srgbClr val="9221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dk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 </a:t>
                </a:r>
                <a:r>
                  <a:rPr lang="en-US" sz="2400" b="1" dirty="0" err="1">
                    <a:solidFill>
                      <a:schemeClr val="dk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ISO公差配合知識庫</a:t>
                </a:r>
                <a:endParaRPr sz="2400" b="1" dirty="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endParaRPr>
              </a:p>
            </p:txBody>
          </p:sp>
          <p:sp>
            <p:nvSpPr>
              <p:cNvPr id="48" name="Google Shape;133;p5">
                <a:extLst>
                  <a:ext uri="{FF2B5EF4-FFF2-40B4-BE49-F238E27FC236}">
                    <a16:creationId xmlns:a16="http://schemas.microsoft.com/office/drawing/2014/main" id="{112731D9-0C2F-4623-8741-0B5396164EAB}"/>
                  </a:ext>
                </a:extLst>
              </p:cNvPr>
              <p:cNvSpPr/>
              <p:nvPr/>
            </p:nvSpPr>
            <p:spPr>
              <a:xfrm>
                <a:off x="3872500" y="5826863"/>
                <a:ext cx="1760131" cy="1976399"/>
              </a:xfrm>
              <a:prstGeom prst="can">
                <a:avLst>
                  <a:gd name="adj" fmla="val 23161"/>
                </a:avLst>
              </a:prstGeom>
              <a:solidFill>
                <a:srgbClr val="00B0F0"/>
              </a:solidFill>
              <a:ln w="38100" cap="flat" cmpd="sng">
                <a:solidFill>
                  <a:srgbClr val="9221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dk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 </a:t>
                </a:r>
                <a:r>
                  <a:rPr lang="en-US" sz="2400" b="1" dirty="0" err="1">
                    <a:solidFill>
                      <a:schemeClr val="dk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製造手冊之製程能力知識庫</a:t>
                </a:r>
                <a:endParaRPr sz="2400" b="1" dirty="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endParaRPr>
              </a:p>
            </p:txBody>
          </p:sp>
          <p:sp>
            <p:nvSpPr>
              <p:cNvPr id="18" name="Google Shape;112;p5">
                <a:extLst>
                  <a:ext uri="{FF2B5EF4-FFF2-40B4-BE49-F238E27FC236}">
                    <a16:creationId xmlns:a16="http://schemas.microsoft.com/office/drawing/2014/main" id="{8159D04E-6C0B-4547-A627-47809A990858}"/>
                  </a:ext>
                </a:extLst>
              </p:cNvPr>
              <p:cNvSpPr/>
              <p:nvPr/>
            </p:nvSpPr>
            <p:spPr>
              <a:xfrm>
                <a:off x="3013666" y="2250030"/>
                <a:ext cx="3491852" cy="790808"/>
              </a:xfrm>
              <a:prstGeom prst="roundRect">
                <a:avLst>
                  <a:gd name="adj" fmla="val 16667"/>
                </a:avLst>
              </a:prstGeom>
              <a:solidFill>
                <a:srgbClr val="7030A0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63500" dist="25400" dir="5400000" rotWithShape="0">
                  <a:srgbClr val="000000">
                    <a:alpha val="4274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 </a:t>
                </a:r>
                <a:r>
                  <a:rPr lang="en-US" sz="2400" b="1" dirty="0" err="1">
                    <a:solidFill>
                      <a:schemeClr val="lt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輸入功能</a:t>
                </a:r>
                <a:endParaRPr dirty="0"/>
              </a:p>
            </p:txBody>
          </p:sp>
          <p:sp>
            <p:nvSpPr>
              <p:cNvPr id="19" name="Google Shape;117;p5">
                <a:extLst>
                  <a:ext uri="{FF2B5EF4-FFF2-40B4-BE49-F238E27FC236}">
                    <a16:creationId xmlns:a16="http://schemas.microsoft.com/office/drawing/2014/main" id="{52C63137-4F1B-4559-9C43-5B4AD74B6E92}"/>
                  </a:ext>
                </a:extLst>
              </p:cNvPr>
              <p:cNvSpPr/>
              <p:nvPr/>
            </p:nvSpPr>
            <p:spPr>
              <a:xfrm>
                <a:off x="3306777" y="3843160"/>
                <a:ext cx="2985017" cy="1122073"/>
              </a:xfrm>
              <a:prstGeom prst="roundRect">
                <a:avLst>
                  <a:gd name="adj" fmla="val 16667"/>
                </a:avLst>
              </a:prstGeom>
              <a:solidFill>
                <a:srgbClr val="00B050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 err="1">
                    <a:solidFill>
                      <a:schemeClr val="dk1"/>
                    </a:solidFill>
                    <a:latin typeface="DFKai-SB"/>
                    <a:ea typeface="DFKai-SB"/>
                    <a:cs typeface="DFKai-SB"/>
                    <a:sym typeface="DFKai-SB"/>
                  </a:rPr>
                  <a:t>搜尋知識庫並選擇適合之公差配合</a:t>
                </a:r>
                <a:endParaRPr sz="2400" b="1" dirty="0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endParaRPr>
              </a:p>
            </p:txBody>
          </p:sp>
          <p:cxnSp>
            <p:nvCxnSpPr>
              <p:cNvPr id="20" name="Google Shape;137;p5">
                <a:extLst>
                  <a:ext uri="{FF2B5EF4-FFF2-40B4-BE49-F238E27FC236}">
                    <a16:creationId xmlns:a16="http://schemas.microsoft.com/office/drawing/2014/main" id="{B5895993-0AFF-4002-B30F-F6BEEA27CEB9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 flipH="1">
                <a:off x="4752394" y="3040838"/>
                <a:ext cx="7199" cy="572551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50" name="Google Shape;134;p5">
              <a:extLst>
                <a:ext uri="{FF2B5EF4-FFF2-40B4-BE49-F238E27FC236}">
                  <a16:creationId xmlns:a16="http://schemas.microsoft.com/office/drawing/2014/main" id="{1D195A5F-2538-46FF-A843-3540E1426AAC}"/>
                </a:ext>
              </a:extLst>
            </p:cNvPr>
            <p:cNvSpPr/>
            <p:nvPr/>
          </p:nvSpPr>
          <p:spPr>
            <a:xfrm>
              <a:off x="10595066" y="6607161"/>
              <a:ext cx="1772717" cy="1898037"/>
            </a:xfrm>
            <a:prstGeom prst="can">
              <a:avLst>
                <a:gd name="adj" fmla="val 25000"/>
              </a:avLst>
            </a:prstGeom>
            <a:solidFill>
              <a:srgbClr val="00B0F0"/>
            </a:solidFill>
            <a:ln w="38100" cap="flat" cmpd="sng">
              <a:solidFill>
                <a:srgbClr val="9221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err="1">
                  <a:solidFill>
                    <a:schemeClr val="dk1"/>
                  </a:solidFill>
                  <a:latin typeface="DFKai-SB"/>
                  <a:ea typeface="DFKai-SB"/>
                  <a:cs typeface="DFKai-SB"/>
                  <a:sym typeface="DFKai-SB"/>
                </a:rPr>
                <a:t>企業之製程能力知識庫</a:t>
              </a:r>
              <a:endParaRPr sz="2400" b="1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endParaRPr>
            </a:p>
          </p:txBody>
        </p:sp>
      </p:grpSp>
      <p:cxnSp>
        <p:nvCxnSpPr>
          <p:cNvPr id="21" name="Google Shape;137;p5">
            <a:extLst>
              <a:ext uri="{FF2B5EF4-FFF2-40B4-BE49-F238E27FC236}">
                <a16:creationId xmlns:a16="http://schemas.microsoft.com/office/drawing/2014/main" id="{4F327A9D-E9FE-4E27-9BFE-7F275E24762C}"/>
              </a:ext>
            </a:extLst>
          </p:cNvPr>
          <p:cNvCxnSpPr>
            <a:cxnSpLocks/>
          </p:cNvCxnSpPr>
          <p:nvPr/>
        </p:nvCxnSpPr>
        <p:spPr>
          <a:xfrm flipH="1">
            <a:off x="8730191" y="5488348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" name="Google Shape;137;p5">
            <a:extLst>
              <a:ext uri="{FF2B5EF4-FFF2-40B4-BE49-F238E27FC236}">
                <a16:creationId xmlns:a16="http://schemas.microsoft.com/office/drawing/2014/main" id="{EF8D0ADB-A4B2-45DF-B69E-62A469832313}"/>
              </a:ext>
            </a:extLst>
          </p:cNvPr>
          <p:cNvCxnSpPr>
            <a:cxnSpLocks/>
          </p:cNvCxnSpPr>
          <p:nvPr/>
        </p:nvCxnSpPr>
        <p:spPr>
          <a:xfrm>
            <a:off x="6938614" y="4776253"/>
            <a:ext cx="662814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" name="Google Shape;137;p5">
            <a:extLst>
              <a:ext uri="{FF2B5EF4-FFF2-40B4-BE49-F238E27FC236}">
                <a16:creationId xmlns:a16="http://schemas.microsoft.com/office/drawing/2014/main" id="{D9266F58-1D1B-4685-83A3-97AEB81FE045}"/>
              </a:ext>
            </a:extLst>
          </p:cNvPr>
          <p:cNvCxnSpPr>
            <a:cxnSpLocks/>
          </p:cNvCxnSpPr>
          <p:nvPr/>
        </p:nvCxnSpPr>
        <p:spPr>
          <a:xfrm flipH="1">
            <a:off x="5344328" y="5488348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" name="Google Shape;137;p5">
            <a:extLst>
              <a:ext uri="{FF2B5EF4-FFF2-40B4-BE49-F238E27FC236}">
                <a16:creationId xmlns:a16="http://schemas.microsoft.com/office/drawing/2014/main" id="{9C34B115-9E18-4615-A58E-1493C41E62C4}"/>
              </a:ext>
            </a:extLst>
          </p:cNvPr>
          <p:cNvCxnSpPr>
            <a:cxnSpLocks/>
          </p:cNvCxnSpPr>
          <p:nvPr/>
        </p:nvCxnSpPr>
        <p:spPr>
          <a:xfrm>
            <a:off x="9829319" y="4788640"/>
            <a:ext cx="662814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" name="Google Shape;117;p5">
            <a:extLst>
              <a:ext uri="{FF2B5EF4-FFF2-40B4-BE49-F238E27FC236}">
                <a16:creationId xmlns:a16="http://schemas.microsoft.com/office/drawing/2014/main" id="{C635C436-2039-44E6-B519-947C46E1C180}"/>
              </a:ext>
            </a:extLst>
          </p:cNvPr>
          <p:cNvSpPr/>
          <p:nvPr/>
        </p:nvSpPr>
        <p:spPr>
          <a:xfrm>
            <a:off x="10583687" y="4246246"/>
            <a:ext cx="3144158" cy="1173689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對應加工能力符合機台</a:t>
            </a:r>
            <a:endParaRPr sz="2400" b="1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3" name="Google Shape;117;p5">
            <a:extLst>
              <a:ext uri="{FF2B5EF4-FFF2-40B4-BE49-F238E27FC236}">
                <a16:creationId xmlns:a16="http://schemas.microsoft.com/office/drawing/2014/main" id="{0E34EA1C-C15C-4585-9EAB-2FEBFC01929B}"/>
              </a:ext>
            </a:extLst>
          </p:cNvPr>
          <p:cNvSpPr/>
          <p:nvPr/>
        </p:nvSpPr>
        <p:spPr>
          <a:xfrm>
            <a:off x="7645336" y="4283946"/>
            <a:ext cx="2183983" cy="109829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公差配合</a:t>
            </a:r>
            <a:r>
              <a:rPr lang="zh-TW" altLang="en-US" sz="2400" b="1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詳細數值</a:t>
            </a:r>
            <a:endParaRPr sz="2400" b="1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cxnSp>
        <p:nvCxnSpPr>
          <p:cNvPr id="34" name="Google Shape;137;p5">
            <a:extLst>
              <a:ext uri="{FF2B5EF4-FFF2-40B4-BE49-F238E27FC236}">
                <a16:creationId xmlns:a16="http://schemas.microsoft.com/office/drawing/2014/main" id="{2CB4F0A2-2BF1-43D3-B607-FB5E9C31ED6E}"/>
              </a:ext>
            </a:extLst>
          </p:cNvPr>
          <p:cNvCxnSpPr>
            <a:cxnSpLocks/>
          </p:cNvCxnSpPr>
          <p:nvPr/>
        </p:nvCxnSpPr>
        <p:spPr>
          <a:xfrm>
            <a:off x="13727845" y="4788640"/>
            <a:ext cx="662814" cy="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" name="Google Shape;137;p5">
            <a:extLst>
              <a:ext uri="{FF2B5EF4-FFF2-40B4-BE49-F238E27FC236}">
                <a16:creationId xmlns:a16="http://schemas.microsoft.com/office/drawing/2014/main" id="{37240D0D-997F-4FA7-9A50-DEC9646DEB96}"/>
              </a:ext>
            </a:extLst>
          </p:cNvPr>
          <p:cNvCxnSpPr>
            <a:cxnSpLocks/>
          </p:cNvCxnSpPr>
          <p:nvPr/>
        </p:nvCxnSpPr>
        <p:spPr>
          <a:xfrm flipH="1">
            <a:off x="12108917" y="5544115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" name="Google Shape;117;p5">
            <a:extLst>
              <a:ext uri="{FF2B5EF4-FFF2-40B4-BE49-F238E27FC236}">
                <a16:creationId xmlns:a16="http://schemas.microsoft.com/office/drawing/2014/main" id="{A630901C-33D3-4199-9E21-FCC1B30CE04D}"/>
              </a:ext>
            </a:extLst>
          </p:cNvPr>
          <p:cNvSpPr/>
          <p:nvPr/>
        </p:nvSpPr>
        <p:spPr>
          <a:xfrm>
            <a:off x="14482213" y="4215385"/>
            <a:ext cx="2392252" cy="120455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適合應用場景</a:t>
            </a:r>
            <a:endParaRPr sz="2400" b="1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" name="Google Shape;134;p5">
            <a:extLst>
              <a:ext uri="{FF2B5EF4-FFF2-40B4-BE49-F238E27FC236}">
                <a16:creationId xmlns:a16="http://schemas.microsoft.com/office/drawing/2014/main" id="{5486669D-12CE-484A-B9A7-44273F4CEC5E}"/>
              </a:ext>
            </a:extLst>
          </p:cNvPr>
          <p:cNvSpPr/>
          <p:nvPr/>
        </p:nvSpPr>
        <p:spPr>
          <a:xfrm>
            <a:off x="14791980" y="6142512"/>
            <a:ext cx="1772717" cy="1898037"/>
          </a:xfrm>
          <a:prstGeom prst="can">
            <a:avLst>
              <a:gd name="adj" fmla="val 25000"/>
            </a:avLst>
          </a:prstGeom>
          <a:solidFill>
            <a:srgbClr val="00B0F0"/>
          </a:solidFill>
          <a:ln w="38100" cap="flat" cmpd="sng">
            <a:solidFill>
              <a:srgbClr val="9221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企業之製程能力知識庫</a:t>
            </a:r>
            <a:endParaRPr sz="2400" b="1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cxnSp>
        <p:nvCxnSpPr>
          <p:cNvPr id="40" name="Google Shape;137;p5">
            <a:extLst>
              <a:ext uri="{FF2B5EF4-FFF2-40B4-BE49-F238E27FC236}">
                <a16:creationId xmlns:a16="http://schemas.microsoft.com/office/drawing/2014/main" id="{67BF55C8-1338-451D-9452-B24633F87CDC}"/>
              </a:ext>
            </a:extLst>
          </p:cNvPr>
          <p:cNvCxnSpPr>
            <a:cxnSpLocks/>
          </p:cNvCxnSpPr>
          <p:nvPr/>
        </p:nvCxnSpPr>
        <p:spPr>
          <a:xfrm flipH="1">
            <a:off x="15632332" y="5488348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" name="Google Shape;112;p5">
            <a:extLst>
              <a:ext uri="{FF2B5EF4-FFF2-40B4-BE49-F238E27FC236}">
                <a16:creationId xmlns:a16="http://schemas.microsoft.com/office/drawing/2014/main" id="{5D823050-1D53-4825-BA5A-B4498FE29B57}"/>
              </a:ext>
            </a:extLst>
          </p:cNvPr>
          <p:cNvSpPr/>
          <p:nvPr/>
        </p:nvSpPr>
        <p:spPr>
          <a:xfrm>
            <a:off x="8694108" y="2672778"/>
            <a:ext cx="3461657" cy="759453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dirty="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加工直徑</a:t>
            </a:r>
            <a:endParaRPr dirty="0"/>
          </a:p>
        </p:txBody>
      </p:sp>
      <p:cxnSp>
        <p:nvCxnSpPr>
          <p:cNvPr id="42" name="Google Shape;137;p5">
            <a:extLst>
              <a:ext uri="{FF2B5EF4-FFF2-40B4-BE49-F238E27FC236}">
                <a16:creationId xmlns:a16="http://schemas.microsoft.com/office/drawing/2014/main" id="{65E8760F-5ADB-4454-ABFF-210C2338F017}"/>
              </a:ext>
            </a:extLst>
          </p:cNvPr>
          <p:cNvCxnSpPr>
            <a:cxnSpLocks/>
          </p:cNvCxnSpPr>
          <p:nvPr/>
        </p:nvCxnSpPr>
        <p:spPr>
          <a:xfrm flipH="1">
            <a:off x="11386170" y="3530242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" name="Google Shape;137;p5">
            <a:extLst>
              <a:ext uri="{FF2B5EF4-FFF2-40B4-BE49-F238E27FC236}">
                <a16:creationId xmlns:a16="http://schemas.microsoft.com/office/drawing/2014/main" id="{66ED6D33-F279-4F76-B666-AABB0B60FB31}"/>
              </a:ext>
            </a:extLst>
          </p:cNvPr>
          <p:cNvCxnSpPr>
            <a:cxnSpLocks/>
          </p:cNvCxnSpPr>
          <p:nvPr/>
        </p:nvCxnSpPr>
        <p:spPr>
          <a:xfrm flipH="1">
            <a:off x="9324759" y="3555027"/>
            <a:ext cx="7137" cy="54985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夏至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42</Words>
  <Application>Microsoft Office PowerPoint</Application>
  <PresentationFormat>自訂</PresentationFormat>
  <Paragraphs>17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Noto Sans Symbols</vt:lpstr>
      <vt:lpstr>Verdana</vt:lpstr>
      <vt:lpstr>Times New Roman</vt:lpstr>
      <vt:lpstr>DFKai-SB</vt:lpstr>
      <vt:lpstr>Gill Sans</vt:lpstr>
      <vt:lpstr>Arial</vt:lpstr>
      <vt:lpstr>Calibri</vt:lpstr>
      <vt:lpstr>佈景主題1</vt:lpstr>
      <vt:lpstr>以人工智慧生成零件公差、節能切削路徑與補償監控  AI輔助設計公差配置與製程公差調配</vt:lpstr>
      <vt:lpstr>系統架構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以人工智慧生成零件公差、節能切削路徑與補償監控(1/2)  子計畫一：AI輔助設計公差配置與製程公差調配</dc:title>
  <dc:creator>博宇 蔡</dc:creator>
  <cp:lastModifiedBy>溫梓翔</cp:lastModifiedBy>
  <cp:revision>13</cp:revision>
  <dcterms:created xsi:type="dcterms:W3CDTF">2022-09-16T14:31:41Z</dcterms:created>
  <dcterms:modified xsi:type="dcterms:W3CDTF">2026-02-23T13:48:32Z</dcterms:modified>
</cp:coreProperties>
</file>