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5">
  <p:sldMasterIdLst>
    <p:sldMasterId id="2147483720" r:id="rId1"/>
  </p:sldMasterIdLst>
  <p:notesMasterIdLst>
    <p:notesMasterId r:id="rId14"/>
  </p:notesMasterIdLst>
  <p:handoutMasterIdLst>
    <p:handoutMasterId r:id="rId15"/>
  </p:handoutMasterIdLst>
  <p:sldIdLst>
    <p:sldId id="892" r:id="rId2"/>
    <p:sldId id="957" r:id="rId3"/>
    <p:sldId id="958" r:id="rId4"/>
    <p:sldId id="959" r:id="rId5"/>
    <p:sldId id="953" r:id="rId6"/>
    <p:sldId id="954" r:id="rId7"/>
    <p:sldId id="956" r:id="rId8"/>
    <p:sldId id="955" r:id="rId9"/>
    <p:sldId id="952" r:id="rId10"/>
    <p:sldId id="901" r:id="rId11"/>
    <p:sldId id="933" r:id="rId12"/>
    <p:sldId id="926" r:id="rId13"/>
  </p:sldIdLst>
  <p:sldSz cx="19007138" cy="10691813"/>
  <p:notesSz cx="9144000" cy="6858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4E4A62D-9E94-42E6-9A32-090017D9FC14}">
          <p14:sldIdLst>
            <p14:sldId id="892"/>
            <p14:sldId id="957"/>
            <p14:sldId id="958"/>
            <p14:sldId id="959"/>
            <p14:sldId id="953"/>
            <p14:sldId id="954"/>
            <p14:sldId id="956"/>
            <p14:sldId id="955"/>
            <p14:sldId id="952"/>
            <p14:sldId id="901"/>
            <p14:sldId id="933"/>
            <p14:sldId id="9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368" userDrawn="1">
          <p15:clr>
            <a:srgbClr val="A4A3A4"/>
          </p15:clr>
        </p15:guide>
        <p15:guide id="2" pos="59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博宇" initials="博宇" lastIdx="3" clrIdx="0">
    <p:extLst>
      <p:ext uri="{19B8F6BF-5375-455C-9EA6-DF929625EA0E}">
        <p15:presenceInfo xmlns:p15="http://schemas.microsoft.com/office/powerpoint/2012/main" userId="de6e9673a045b6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B0F0"/>
    <a:srgbClr val="FFFF00"/>
    <a:srgbClr val="0000FF"/>
    <a:srgbClr val="FFEFE7"/>
    <a:srgbClr val="FFC000"/>
    <a:srgbClr val="FFFF99"/>
    <a:srgbClr val="FFD699"/>
    <a:srgbClr val="C2D69B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81" autoAdjust="0"/>
    <p:restoredTop sz="92539" autoAdjust="0"/>
  </p:normalViewPr>
  <p:slideViewPr>
    <p:cSldViewPr snapToGrid="0">
      <p:cViewPr varScale="1">
        <p:scale>
          <a:sx n="44" d="100"/>
          <a:sy n="44" d="100"/>
        </p:scale>
        <p:origin x="1008" y="264"/>
      </p:cViewPr>
      <p:guideLst>
        <p:guide orient="horz" pos="3368"/>
        <p:guide pos="59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4ACEE2A4-F8C9-4C3C-AC69-2CD0826309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2C16A-0E6D-47D8-81BD-1413EE5A9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0739D1E-293A-42AA-B6AF-3BD10F3164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3DD8A5F-15C8-490A-B94E-E4286331F8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9BF477-B8BF-4DF6-92BB-4A39CC499F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210625"/>
      </p:ext>
    </p:extLst>
  </p:cSld>
  <p:clrMap bg1="lt1" tx1="dk1" bg2="lt2" tx2="dk2" accent1="accent1" accent2="accent2" accent3="accent3" accent4="accent4" accent5="accent5" accent6="accent6" hlink="hlink" folHlink="folHlink"/>
  <p:hf sldNum="0"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57250"/>
            <a:ext cx="41116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17AFB-CFE8-42DD-BFE6-AABD153A99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759684"/>
      </p:ext>
    </p:extLst>
  </p:cSld>
  <p:clrMap bg1="lt1" tx1="dk1" bg2="lt2" tx2="dk2" accent1="accent1" accent2="accent2" accent3="accent3" accent4="accent4" accent5="accent5" accent6="accent6" hlink="hlink" folHlink="folHlink"/>
  <p:hf sldNum="0" hdr="0"/>
  <p:notesStyle>
    <a:lvl1pPr marL="0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1pPr>
    <a:lvl2pPr marL="712272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2pPr>
    <a:lvl3pPr marL="1424544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3pPr>
    <a:lvl4pPr marL="2136816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4pPr>
    <a:lvl5pPr marL="2849088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5pPr>
    <a:lvl6pPr marL="3561359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6pPr>
    <a:lvl7pPr marL="4273631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7pPr>
    <a:lvl8pPr marL="4985903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8pPr>
    <a:lvl9pPr marL="5698175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適用情境： 完整的軟體開發、功能實作、重構、測試、文件生成</a:t>
            </a:r>
            <a:endParaRPr lang="en-US" altLang="zh-TW" dirty="0"/>
          </a:p>
          <a:p>
            <a:r>
              <a:rPr lang="zh-TW" altLang="en-US" dirty="0"/>
              <a:t>告訴 </a:t>
            </a:r>
            <a:r>
              <a:rPr lang="en-US" altLang="zh-TW" dirty="0"/>
              <a:t>Kiro </a:t>
            </a:r>
            <a:r>
              <a:rPr lang="zh-TW" altLang="en-US" dirty="0"/>
              <a:t>您的軟體應該「如何運作」。</a:t>
            </a:r>
            <a:r>
              <a:rPr lang="en-US" altLang="zh-TW" dirty="0"/>
              <a:t>Kiro </a:t>
            </a:r>
            <a:r>
              <a:rPr lang="zh-TW" altLang="en-US" dirty="0"/>
              <a:t>會自主理解您的專案、生成程式碼、創建測試、甚至修正錯誤。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2385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2.</a:t>
            </a:r>
            <a:r>
              <a:rPr lang="zh-TW" altLang="en-US" dirty="0"/>
              <a:t>例如：在程式碼提交 </a:t>
            </a:r>
            <a:r>
              <a:rPr lang="en-US" altLang="zh-TW" dirty="0"/>
              <a:t>(Code Commit) </a:t>
            </a:r>
            <a:r>
              <a:rPr lang="zh-TW" altLang="en-US" dirty="0"/>
              <a:t>時，自動執行單元測試、程式碼清理 。</a:t>
            </a:r>
          </a:p>
          <a:p>
            <a:r>
              <a:rPr lang="zh-TW" altLang="en-US" dirty="0"/>
              <a:t>例如：在程式碼合併時，自動生成文件或更新 </a:t>
            </a:r>
            <a:r>
              <a:rPr lang="en-US" altLang="zh-TW" dirty="0"/>
              <a:t>Changelog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撰寫一份需求文件，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自動生成程式碼骨架與模組，確保程式碼與開發需求有一致性。專案的指令與上下文（</a:t>
            </a:r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）轉化為可供 </a:t>
            </a:r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參照的引導文件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915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rgbClr val="E8D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/>
          <p:cNvSpPr>
            <a:spLocks noGrp="1"/>
          </p:cNvSpPr>
          <p:nvPr>
            <p:ph type="ctrTitle"/>
          </p:nvPr>
        </p:nvSpPr>
        <p:spPr>
          <a:xfrm>
            <a:off x="2977786" y="561091"/>
            <a:ext cx="15395781" cy="2295176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22" name="副標題 21"/>
          <p:cNvSpPr>
            <a:spLocks noGrp="1"/>
          </p:cNvSpPr>
          <p:nvPr>
            <p:ph type="subTitle" idx="1"/>
          </p:nvPr>
        </p:nvSpPr>
        <p:spPr>
          <a:xfrm>
            <a:off x="2977786" y="2884301"/>
            <a:ext cx="15395781" cy="2732352"/>
          </a:xfrm>
        </p:spPr>
        <p:txBody>
          <a:bodyPr tIns="0"/>
          <a:lstStyle>
            <a:lvl1pPr marL="32035" indent="0" algn="l">
              <a:buNone/>
              <a:defRPr sz="3036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533918" indent="0" algn="ctr">
              <a:buNone/>
            </a:lvl2pPr>
            <a:lvl3pPr marL="1067836" indent="0" algn="ctr">
              <a:buNone/>
            </a:lvl3pPr>
            <a:lvl4pPr marL="1601754" indent="0" algn="ctr">
              <a:buNone/>
            </a:lvl4pPr>
            <a:lvl5pPr marL="2135673" indent="0" algn="ctr">
              <a:buNone/>
            </a:lvl5pPr>
            <a:lvl6pPr marL="2669591" indent="0" algn="ctr">
              <a:buNone/>
            </a:lvl6pPr>
            <a:lvl7pPr marL="3203509" indent="0" algn="ctr">
              <a:buNone/>
            </a:lvl7pPr>
            <a:lvl8pPr marL="3737427" indent="0" algn="ctr">
              <a:buNone/>
            </a:lvl8pPr>
            <a:lvl9pPr marL="4271345" indent="0" algn="ctr">
              <a:buNone/>
            </a:lvl9pPr>
            <a:extLst/>
          </a:lstStyle>
          <a:p>
            <a:r>
              <a:rPr kumimoji="0" lang="zh-TW" altLang="en-US"/>
              <a:t>按一下以編輯母片子標題樣式</a:t>
            </a:r>
            <a:endParaRPr kumimoji="0" 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2724-D85B-4B80-A53F-5116D356FC5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-3713265" y="9864684"/>
            <a:ext cx="9503569" cy="5595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TW" altLang="en-US" sz="1168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製造與公差工程研究室</a:t>
            </a:r>
            <a:endParaRPr lang="en-US" altLang="zh-TW" sz="1168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934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Fabrication &amp;</a:t>
            </a:r>
            <a:r>
              <a:rPr lang="en-US" altLang="zh-TW" sz="934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pPr algn="ctr"/>
            <a:r>
              <a:rPr lang="zh-TW" altLang="en-US" sz="934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934" dirty="0" err="1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Tolerancing</a:t>
            </a:r>
            <a:r>
              <a:rPr lang="en-US" altLang="zh-TW" sz="934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Engineering Lab</a:t>
            </a:r>
            <a:endParaRPr lang="en-US" altLang="zh-TW" sz="934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4263" y="8553740"/>
            <a:ext cx="2996148" cy="226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-3713265" y="9400289"/>
            <a:ext cx="9503569" cy="41575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TW" altLang="en-US" sz="1401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國立中興大學</a:t>
            </a:r>
            <a:endParaRPr lang="en-US" altLang="zh-TW" sz="1401" baseline="0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701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National Chung </a:t>
            </a:r>
            <a:r>
              <a:rPr lang="en-US" altLang="zh-TW" sz="701" baseline="0" dirty="0" err="1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Hsing</a:t>
            </a:r>
            <a:r>
              <a:rPr lang="en-US" altLang="zh-TW" sz="701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University</a:t>
            </a:r>
            <a:endParaRPr lang="en-US" altLang="zh-TW" sz="701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794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20442" y="156630"/>
            <a:ext cx="16149533" cy="1781969"/>
          </a:xfrm>
        </p:spPr>
        <p:txBody>
          <a:bodyPr>
            <a:normAutofit/>
          </a:bodyPr>
          <a:lstStyle>
            <a:lvl1pPr>
              <a:defRPr sz="4671">
                <a:solidFill>
                  <a:srgbClr val="0070C0"/>
                </a:solidFill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2724-D85B-4B80-A53F-5116D356FC5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-487513" y="9864682"/>
            <a:ext cx="3143262" cy="559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168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製造與公差工程研究室</a:t>
            </a:r>
            <a:endParaRPr lang="en-US" altLang="zh-TW" sz="1168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934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Fabrication &amp;</a:t>
            </a:r>
            <a:r>
              <a:rPr lang="en-US" altLang="zh-TW" sz="934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pPr algn="ctr"/>
            <a:r>
              <a:rPr lang="zh-TW" altLang="en-US" sz="934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934" dirty="0" err="1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Tolerancing</a:t>
            </a:r>
            <a:r>
              <a:rPr lang="en-US" altLang="zh-TW" sz="934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Engineering Lab</a:t>
            </a:r>
            <a:endParaRPr lang="en-US" altLang="zh-TW" sz="934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1" name="圖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553739"/>
            <a:ext cx="2206712" cy="17907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1" y="9400289"/>
            <a:ext cx="2206712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401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國立中興大學</a:t>
            </a:r>
            <a:endParaRPr lang="en-US" altLang="zh-TW" sz="1401" baseline="0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701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National Chung </a:t>
            </a:r>
            <a:r>
              <a:rPr lang="en-US" altLang="zh-TW" sz="701" baseline="0" dirty="0" err="1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Hsing</a:t>
            </a:r>
            <a:r>
              <a:rPr lang="en-US" altLang="zh-TW" sz="701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University</a:t>
            </a:r>
            <a:endParaRPr lang="en-US" altLang="zh-TW" sz="701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387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形圖 6"/>
          <p:cNvSpPr/>
          <p:nvPr/>
        </p:nvSpPr>
        <p:spPr>
          <a:xfrm>
            <a:off x="-1696020" y="-1272044"/>
            <a:ext cx="3406666" cy="255507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/>
          </a:p>
        </p:txBody>
      </p:sp>
      <p:sp>
        <p:nvSpPr>
          <p:cNvPr id="8" name="橢圓 7"/>
          <p:cNvSpPr/>
          <p:nvPr/>
        </p:nvSpPr>
        <p:spPr>
          <a:xfrm>
            <a:off x="350911" y="32901"/>
            <a:ext cx="3538252" cy="265376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/>
          </a:p>
        </p:txBody>
      </p:sp>
      <p:sp>
        <p:nvSpPr>
          <p:cNvPr id="11" name="甜甜圈 10"/>
          <p:cNvSpPr/>
          <p:nvPr/>
        </p:nvSpPr>
        <p:spPr>
          <a:xfrm rot="2315675">
            <a:off x="380146" y="1644894"/>
            <a:ext cx="2339967" cy="1719022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/>
          </a:p>
        </p:txBody>
      </p:sp>
      <p:sp>
        <p:nvSpPr>
          <p:cNvPr id="12" name="矩形 11"/>
          <p:cNvSpPr/>
          <p:nvPr/>
        </p:nvSpPr>
        <p:spPr>
          <a:xfrm>
            <a:off x="2105408" y="32901"/>
            <a:ext cx="16901734" cy="10691897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2984120" y="428169"/>
            <a:ext cx="15585853" cy="1781969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  <p:sp>
        <p:nvSpPr>
          <p:cNvPr id="9" name="文字版面配置區 8"/>
          <p:cNvSpPr>
            <a:spLocks noGrp="1"/>
          </p:cNvSpPr>
          <p:nvPr>
            <p:ph type="body" idx="1"/>
          </p:nvPr>
        </p:nvSpPr>
        <p:spPr>
          <a:xfrm>
            <a:off x="2984120" y="2257162"/>
            <a:ext cx="15585853" cy="7484269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 dirty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/>
              <a:t>第二層</a:t>
            </a:r>
          </a:p>
          <a:p>
            <a:pPr lvl="2" eaLnBrk="1" latinLnBrk="0" hangingPunct="1"/>
            <a:r>
              <a:rPr kumimoji="0" lang="zh-TW" altLang="en-US" dirty="0"/>
              <a:t>第三層</a:t>
            </a:r>
          </a:p>
          <a:p>
            <a:pPr lvl="3" eaLnBrk="1" latinLnBrk="0" hangingPunct="1"/>
            <a:r>
              <a:rPr kumimoji="0" lang="zh-TW" altLang="en-US" dirty="0"/>
              <a:t>第四層</a:t>
            </a:r>
          </a:p>
          <a:p>
            <a:pPr lvl="4" eaLnBrk="1" latinLnBrk="0" hangingPunct="1"/>
            <a:r>
              <a:rPr kumimoji="0" lang="zh-TW" altLang="en-US" dirty="0"/>
              <a:t>第五層</a:t>
            </a:r>
            <a:endParaRPr kumimoji="0" lang="en-US" dirty="0"/>
          </a:p>
        </p:txBody>
      </p:sp>
      <p:sp>
        <p:nvSpPr>
          <p:cNvPr id="15" name="矩形 14"/>
          <p:cNvSpPr/>
          <p:nvPr/>
        </p:nvSpPr>
        <p:spPr bwMode="invGray">
          <a:xfrm>
            <a:off x="2109792" y="-84"/>
            <a:ext cx="152057" cy="10691897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4"/>
          </p:nvPr>
        </p:nvSpPr>
        <p:spPr>
          <a:xfrm>
            <a:off x="17904724" y="9830529"/>
            <a:ext cx="950356" cy="742487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401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7092724-D85B-4B80-A53F-5116D356F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552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671" b="1" kern="1200">
          <a:solidFill>
            <a:srgbClr val="0070C0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extLst/>
    </p:titleStyle>
    <p:bodyStyle>
      <a:lvl1pPr marL="427135" indent="-331029" algn="l" rtl="0" eaLnBrk="1" latinLnBrk="0" hangingPunct="1">
        <a:lnSpc>
          <a:spcPct val="100000"/>
        </a:lnSpc>
        <a:spcBef>
          <a:spcPts val="701"/>
        </a:spcBef>
        <a:buClr>
          <a:schemeClr val="accent1"/>
        </a:buClr>
        <a:buSzPct val="80000"/>
        <a:buFont typeface="Wingdings" panose="05000000000000000000" pitchFamily="2" charset="2"/>
        <a:buChar char="Ø"/>
        <a:defRPr kumimoji="0" sz="3737" kern="1200">
          <a:solidFill>
            <a:srgbClr val="FF0000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747485" indent="-277637" algn="l" rtl="0" eaLnBrk="1" latinLnBrk="0" hangingPunct="1">
        <a:lnSpc>
          <a:spcPct val="100000"/>
        </a:lnSpc>
        <a:spcBef>
          <a:spcPts val="642"/>
        </a:spcBef>
        <a:buClr>
          <a:schemeClr val="accent1"/>
        </a:buClr>
        <a:buFont typeface="Verdana"/>
        <a:buChar char="◦"/>
        <a:defRPr kumimoji="0" sz="3270" kern="1200">
          <a:solidFill>
            <a:srgbClr val="0000FF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035801" indent="-266959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803" kern="1200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281404" indent="-202889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336" kern="1200">
          <a:solidFill>
            <a:schemeClr val="accent3">
              <a:lumMod val="7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516328" indent="-213567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336" kern="1200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1761930" indent="-213567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2007532" indent="-213567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2242456" indent="-213567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2488059" indent="-213567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336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339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6783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1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356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66959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03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73742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2713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file:///C:\Temp\NxPartBodyFace_cleanId.csv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FFF2D8-DB24-144F-FA36-87D435C4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8710" y="1920278"/>
            <a:ext cx="14164891" cy="3566121"/>
          </a:xfrm>
        </p:spPr>
        <p:txBody>
          <a:bodyPr>
            <a:normAutofit/>
          </a:bodyPr>
          <a:lstStyle/>
          <a:p>
            <a:pPr marL="96106" indent="0" algn="ctr">
              <a:lnSpc>
                <a:spcPct val="200000"/>
              </a:lnSpc>
              <a:buNone/>
            </a:pPr>
            <a:r>
              <a:rPr lang="zh-TW" altLang="en-US" sz="5400" dirty="0">
                <a:solidFill>
                  <a:srgbClr val="0070C0"/>
                </a:solidFill>
              </a:rPr>
              <a:t>智慧製造專案計畫</a:t>
            </a:r>
            <a:endParaRPr lang="en-US" altLang="zh-TW" sz="5400" dirty="0">
              <a:solidFill>
                <a:srgbClr val="0070C0"/>
              </a:solidFill>
            </a:endParaRPr>
          </a:p>
          <a:p>
            <a:pPr marL="96106" indent="0" algn="ctr">
              <a:lnSpc>
                <a:spcPct val="200000"/>
              </a:lnSpc>
              <a:buNone/>
            </a:pPr>
            <a:r>
              <a:rPr lang="zh-TW" altLang="en-US" sz="5400" dirty="0">
                <a:solidFill>
                  <a:srgbClr val="0070C0"/>
                </a:solidFill>
              </a:rPr>
              <a:t>進度報告</a:t>
            </a:r>
          </a:p>
        </p:txBody>
      </p:sp>
      <p:sp>
        <p:nvSpPr>
          <p:cNvPr id="6" name="Google Shape;60;p13">
            <a:extLst>
              <a:ext uri="{FF2B5EF4-FFF2-40B4-BE49-F238E27FC236}">
                <a16:creationId xmlns:a16="http://schemas.microsoft.com/office/drawing/2014/main" id="{55E028BD-0512-D85A-72DD-CBC72BA4971D}"/>
              </a:ext>
            </a:extLst>
          </p:cNvPr>
          <p:cNvSpPr txBox="1"/>
          <p:nvPr/>
        </p:nvSpPr>
        <p:spPr>
          <a:xfrm>
            <a:off x="7744461" y="5835541"/>
            <a:ext cx="5333305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200000"/>
              </a:lnSpc>
              <a:buClr>
                <a:srgbClr val="FFFF99"/>
              </a:buClr>
              <a:buSzPts val="3500"/>
            </a:pP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指導教授 </a:t>
            </a:r>
            <a:r>
              <a:rPr 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:</a:t>
            </a: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 蔡志成 </a:t>
            </a:r>
            <a:r>
              <a:rPr lang="zh-TW" altLang="en-US" sz="30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教授</a:t>
            </a:r>
            <a:endParaRPr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0" algn="just">
              <a:lnSpc>
                <a:spcPct val="200000"/>
              </a:lnSpc>
              <a:buClr>
                <a:srgbClr val="FFFF99"/>
              </a:buClr>
              <a:buSzPts val="3500"/>
            </a:pP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報</a:t>
            </a:r>
            <a:r>
              <a:rPr lang="en-US" altLang="zh-TW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 </a:t>
            </a: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告</a:t>
            </a:r>
            <a:r>
              <a:rPr lang="en-US" altLang="zh-TW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 </a:t>
            </a: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者 </a:t>
            </a:r>
            <a:r>
              <a:rPr lang="en-US" altLang="zh-TW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:</a:t>
            </a: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 陳泓文</a:t>
            </a:r>
            <a:endParaRPr lang="en-US" altLang="zh-TW" sz="3500" b="1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lvl="0" algn="just">
              <a:lnSpc>
                <a:spcPct val="200000"/>
              </a:lnSpc>
              <a:buClr>
                <a:srgbClr val="FFFF99"/>
              </a:buClr>
              <a:buSzPts val="3500"/>
            </a:pP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報告日期 </a:t>
            </a:r>
            <a:r>
              <a:rPr lang="en-US" altLang="zh-TW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: </a:t>
            </a:r>
            <a:r>
              <a:rPr lang="en-US" altLang="zh-TW" sz="35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BiauKai"/>
              </a:rPr>
              <a:t>2025/12/03</a:t>
            </a:r>
          </a:p>
        </p:txBody>
      </p:sp>
    </p:spTree>
    <p:extLst>
      <p:ext uri="{BB962C8B-B14F-4D97-AF65-F5344CB8AC3E}">
        <p14:creationId xmlns:p14="http://schemas.microsoft.com/office/powerpoint/2010/main" val="1468997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CAADFE-37B4-FD43-F08E-A9F1584A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Protégé →Neo4j</a:t>
            </a:r>
            <a:br>
              <a:rPr lang="en-US" altLang="zh-TW" sz="48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Lato Regular"/>
              </a:rPr>
            </a:br>
            <a:endParaRPr lang="zh-TW" altLang="en-US" dirty="0"/>
          </a:p>
        </p:txBody>
      </p:sp>
      <p:pic>
        <p:nvPicPr>
          <p:cNvPr id="5" name="內容版面配置區 4" descr="一張含有 文字, 軟體, 電腦圖示, 多媒體軟體 的圖片&#10;&#10;AI 產生的內容可能不正確。">
            <a:extLst>
              <a:ext uri="{FF2B5EF4-FFF2-40B4-BE49-F238E27FC236}">
                <a16:creationId xmlns:a16="http://schemas.microsoft.com/office/drawing/2014/main" id="{87615526-E09C-7970-2AA9-1E01F56F49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170" y="1938599"/>
            <a:ext cx="15586075" cy="7064602"/>
          </a:xfrm>
        </p:spPr>
      </p:pic>
      <p:pic>
        <p:nvPicPr>
          <p:cNvPr id="6" name="圖片 5" descr="一張含有 黑暗, 光線 的圖片&#10;&#10;AI 產生的內容可能不正確。">
            <a:extLst>
              <a:ext uri="{FF2B5EF4-FFF2-40B4-BE49-F238E27FC236}">
                <a16:creationId xmlns:a16="http://schemas.microsoft.com/office/drawing/2014/main" id="{1F46E1F7-91EF-320A-3B3C-A69A1FDA6E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107" y="753110"/>
            <a:ext cx="9068199" cy="918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6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6D1129-FEEC-A755-991A-90A897C23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1042" y="385230"/>
            <a:ext cx="16149533" cy="1781969"/>
          </a:xfrm>
        </p:spPr>
        <p:txBody>
          <a:bodyPr/>
          <a:lstStyle/>
          <a:p>
            <a:r>
              <a:rPr lang="en-US" altLang="zh-TW" dirty="0"/>
              <a:t>NX_</a:t>
            </a:r>
            <a:r>
              <a:rPr lang="zh-TW" altLang="en-US" dirty="0"/>
              <a:t>特徵面判斷</a:t>
            </a:r>
            <a:br>
              <a:rPr lang="zh-TW" altLang="en-US" dirty="0"/>
            </a:br>
            <a:endParaRPr lang="zh-TW" altLang="en-US" dirty="0"/>
          </a:p>
        </p:txBody>
      </p:sp>
      <p:pic>
        <p:nvPicPr>
          <p:cNvPr id="5" name="內容版面配置區 4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FFC13A23-FF81-C973-EAE2-B4166655B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00" y="2405187"/>
            <a:ext cx="15586075" cy="7187950"/>
          </a:xfrm>
        </p:spPr>
      </p:pic>
    </p:spTree>
    <p:extLst>
      <p:ext uri="{BB962C8B-B14F-4D97-AF65-F5344CB8AC3E}">
        <p14:creationId xmlns:p14="http://schemas.microsoft.com/office/powerpoint/2010/main" val="743180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E545131F-9854-8878-5F5B-D75A86F971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844188"/>
              </p:ext>
            </p:extLst>
          </p:nvPr>
        </p:nvGraphicFramePr>
        <p:xfrm>
          <a:off x="2721950" y="1905463"/>
          <a:ext cx="15848625" cy="8208000"/>
        </p:xfrm>
        <a:graphic>
          <a:graphicData uri="http://schemas.openxmlformats.org/drawingml/2006/table">
            <a:tbl>
              <a:tblPr/>
              <a:tblGrid>
                <a:gridCol w="1703646">
                  <a:extLst>
                    <a:ext uri="{9D8B030D-6E8A-4147-A177-3AD203B41FA5}">
                      <a16:colId xmlns:a16="http://schemas.microsoft.com/office/drawing/2014/main" val="274082554"/>
                    </a:ext>
                  </a:extLst>
                </a:gridCol>
                <a:gridCol w="4793055">
                  <a:extLst>
                    <a:ext uri="{9D8B030D-6E8A-4147-A177-3AD203B41FA5}">
                      <a16:colId xmlns:a16="http://schemas.microsoft.com/office/drawing/2014/main" val="2927396592"/>
                    </a:ext>
                  </a:extLst>
                </a:gridCol>
                <a:gridCol w="5389768">
                  <a:extLst>
                    <a:ext uri="{9D8B030D-6E8A-4147-A177-3AD203B41FA5}">
                      <a16:colId xmlns:a16="http://schemas.microsoft.com/office/drawing/2014/main" val="1067939746"/>
                    </a:ext>
                  </a:extLst>
                </a:gridCol>
                <a:gridCol w="3962156">
                  <a:extLst>
                    <a:ext uri="{9D8B030D-6E8A-4147-A177-3AD203B41FA5}">
                      <a16:colId xmlns:a16="http://schemas.microsoft.com/office/drawing/2014/main" val="3254680689"/>
                    </a:ext>
                  </a:extLst>
                </a:gridCol>
              </a:tblGrid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代號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NX enum </a:t>
                      </a:r>
                      <a:r>
                        <a:rPr lang="zh-TW" altLang="en-US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意思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常見情境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865178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FaceTypeRubber</a:t>
                      </a:r>
                      <a:endParaRPr lang="en-US" sz="2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橡膠面、沒有附加幾何的光滑面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幾乎不會用到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28298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8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FaceTypePlanar</a:t>
                      </a:r>
                      <a:endParaRPr lang="en-US" sz="28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平面（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Plane）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基準面、加工平面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627525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800" baseline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FaceTypeCylindrical</a:t>
                      </a:r>
                      <a:endParaRPr lang="en-US" sz="28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圓柱面（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Cylinder）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孔、軸外圓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031735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800" baseline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FaceTypeConical</a:t>
                      </a:r>
                      <a:endParaRPr lang="en-US" sz="28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圓錐面（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Cone）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錐孔、倒角錐面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897808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FaceTypeSpherical</a:t>
                      </a:r>
                      <a:endParaRPr lang="en-US" sz="2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球面（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Sphere）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球面軸承等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627576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FaceTypeSurfaceOfRevolution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旋轉生成面（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Revolved surface）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任意曲線繞軸旋轉的面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201738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FaceTypeParametric</a:t>
                      </a:r>
                      <a:endParaRPr lang="en-US" sz="2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參數化自由曲面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一般自由曲面造型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429412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FaceTypeBlending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Blending </a:t>
                      </a: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圓角</a:t>
                      </a:r>
                      <a:r>
                        <a:rPr lang="en-US" altLang="zh-TW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倒圓角過渡面</a:t>
                      </a:r>
                      <a:endParaRPr lang="en-US" sz="2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675317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FaceTypeOffset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偏置面（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Offset surface）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曲面偏移、厚殼等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73025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FaceTypeSwept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掃掠面（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Swept surface）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沿軌跡掃掠的曲面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64423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FaceTypeUndefined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未定義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無法歸類的特殊情況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554679"/>
                  </a:ext>
                </a:extLst>
              </a:tr>
            </a:tbl>
          </a:graphicData>
        </a:graphic>
      </p:graphicFrame>
      <p:sp>
        <p:nvSpPr>
          <p:cNvPr id="5" name="標題 1">
            <a:extLst>
              <a:ext uri="{FF2B5EF4-FFF2-40B4-BE49-F238E27FC236}">
                <a16:creationId xmlns:a16="http://schemas.microsoft.com/office/drawing/2014/main" id="{6D55F28A-BC3C-19A6-DD8C-3BD461147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1042" y="385230"/>
            <a:ext cx="16149533" cy="1781969"/>
          </a:xfrm>
        </p:spPr>
        <p:txBody>
          <a:bodyPr/>
          <a:lstStyle/>
          <a:p>
            <a:r>
              <a:rPr lang="en-US" altLang="zh-TW" dirty="0"/>
              <a:t>NX_</a:t>
            </a:r>
            <a:r>
              <a:rPr lang="zh-TW" altLang="en-US" dirty="0"/>
              <a:t>特徵面判斷</a:t>
            </a:r>
            <a:br>
              <a:rPr lang="zh-TW" altLang="en-US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104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文字, 螢幕擷取畫面, 數字, 功能表 的圖片&#10;&#10;AI 產生的內容可能不正確。">
            <a:hlinkClick r:id="rId2" action="ppaction://hlinkfile"/>
            <a:extLst>
              <a:ext uri="{FF2B5EF4-FFF2-40B4-BE49-F238E27FC236}">
                <a16:creationId xmlns:a16="http://schemas.microsoft.com/office/drawing/2014/main" id="{16A004D3-143A-0893-5BA8-BE15279771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569" y="1698482"/>
            <a:ext cx="11696699" cy="841760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94F39FE-2740-C93E-137F-E1490C55975D}"/>
              </a:ext>
            </a:extLst>
          </p:cNvPr>
          <p:cNvSpPr txBox="1"/>
          <p:nvPr/>
        </p:nvSpPr>
        <p:spPr>
          <a:xfrm>
            <a:off x="2419350" y="323850"/>
            <a:ext cx="7353300" cy="811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671" b="1" dirty="0">
                <a:solidFill>
                  <a:srgbClr val="0070C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NX_</a:t>
            </a:r>
            <a:r>
              <a:rPr lang="zh-TW" altLang="en-US" sz="4671" b="1" dirty="0">
                <a:solidFill>
                  <a:srgbClr val="0070C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特徵面判斷</a:t>
            </a:r>
          </a:p>
        </p:txBody>
      </p:sp>
    </p:spTree>
    <p:extLst>
      <p:ext uri="{BB962C8B-B14F-4D97-AF65-F5344CB8AC3E}">
        <p14:creationId xmlns:p14="http://schemas.microsoft.com/office/powerpoint/2010/main" val="1551682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C3A400-8E08-5762-D3CF-25F26669C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929" y="-35169"/>
            <a:ext cx="16149533" cy="1781969"/>
          </a:xfrm>
        </p:spPr>
        <p:txBody>
          <a:bodyPr/>
          <a:lstStyle/>
          <a:p>
            <a:r>
              <a:rPr lang="en-US" altLang="zh-TW" dirty="0"/>
              <a:t>Kiro_</a:t>
            </a:r>
            <a:r>
              <a:rPr lang="zh-TW" altLang="en-US" dirty="0"/>
              <a:t>介紹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0998E3-E1CE-88F2-5CF2-D0AC2548F6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70954" y="1187508"/>
            <a:ext cx="15848508" cy="10218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TW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Amazon/AWS </a:t>
            </a:r>
            <a:r>
              <a:rPr kumimoji="0" lang="zh-TW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打造的 </a:t>
            </a:r>
            <a:r>
              <a:rPr kumimoji="0" lang="en-US" altLang="zh-TW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</a:t>
            </a:r>
            <a:r>
              <a:rPr kumimoji="0" lang="zh-TW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整合開發環境工具（</a:t>
            </a:r>
            <a:r>
              <a:rPr kumimoji="0" lang="en-US" altLang="zh-TW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</a:t>
            </a:r>
            <a:r>
              <a:rPr kumimoji="0" lang="zh-TW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 </a:t>
            </a:r>
            <a:endParaRPr kumimoji="0" lang="en-US" altLang="zh-TW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核心：</a:t>
            </a:r>
            <a:r>
              <a:rPr kumimoji="0" lang="en-US" altLang="zh-TW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</a:t>
            </a:r>
            <a:r>
              <a:rPr lang="en-US" altLang="zh-TW" sz="3200" dirty="0">
                <a:solidFill>
                  <a:schemeClr val="tx1"/>
                </a:solidFill>
              </a:rPr>
              <a:t>(</a:t>
            </a:r>
            <a:r>
              <a:rPr kumimoji="0" lang="zh-TW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代理式</a:t>
            </a:r>
            <a:r>
              <a:rPr kumimoji="0" lang="en-US" altLang="zh-TW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zh-TW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的能力</a:t>
            </a:r>
            <a:r>
              <a:rPr kumimoji="0" lang="zh-TW" altLang="zh-TW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目標：</a:t>
            </a:r>
            <a:r>
              <a:rPr kumimoji="0" lang="zh-TW" altLang="zh-TW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透過 AI大幅提升開發效率，讓工程師專注於更高層次的設計與創新。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Kiro 與傳統 AI 工具的差異</a:t>
            </a:r>
            <a:r>
              <a:rPr kumimoji="0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lang="en-US" altLang="zh-TW" sz="3200" b="1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TW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TW" sz="3200" b="1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TW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TW" sz="3200" b="1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8E926F3-907F-8313-88B8-9F2E64A5C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935579"/>
              </p:ext>
            </p:extLst>
          </p:nvPr>
        </p:nvGraphicFramePr>
        <p:xfrm>
          <a:off x="3378872" y="6791585"/>
          <a:ext cx="12671424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9681">
                  <a:extLst>
                    <a:ext uri="{9D8B030D-6E8A-4147-A177-3AD203B41FA5}">
                      <a16:colId xmlns:a16="http://schemas.microsoft.com/office/drawing/2014/main" val="3591799620"/>
                    </a:ext>
                  </a:extLst>
                </a:gridCol>
                <a:gridCol w="4396153">
                  <a:extLst>
                    <a:ext uri="{9D8B030D-6E8A-4147-A177-3AD203B41FA5}">
                      <a16:colId xmlns:a16="http://schemas.microsoft.com/office/drawing/2014/main" val="1473865952"/>
                    </a:ext>
                  </a:extLst>
                </a:gridCol>
                <a:gridCol w="5965590">
                  <a:extLst>
                    <a:ext uri="{9D8B030D-6E8A-4147-A177-3AD203B41FA5}">
                      <a16:colId xmlns:a16="http://schemas.microsoft.com/office/drawing/2014/main" val="19851006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TW" altLang="en-US" sz="3200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ChatGPT / Gemini</a:t>
                      </a:r>
                      <a:endParaRPr lang="zh-TW" altLang="en-US" sz="3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Kiro</a:t>
                      </a:r>
                      <a:endParaRPr lang="zh-TW" altLang="en-US" sz="3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296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32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角色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32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回應型助理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zh-TW" altLang="zh-TW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自主性軟體工程師</a:t>
                      </a:r>
                      <a:endParaRPr lang="zh-TW" altLang="en-US" sz="32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985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zh-TW" altLang="zh-TW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工作模式</a:t>
                      </a:r>
                      <a:endParaRPr lang="zh-TW" altLang="en-US" sz="32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zh-TW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你</a:t>
                      </a:r>
                      <a:r>
                        <a:rPr kumimoji="0" lang="zh-TW" altLang="zh-TW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給指令，它給回答</a:t>
                      </a:r>
                      <a:r>
                        <a:rPr kumimoji="0" lang="zh-TW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。</a:t>
                      </a:r>
                      <a:endParaRPr lang="zh-TW" altLang="en-US" sz="32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你</a:t>
                      </a:r>
                      <a:r>
                        <a:rPr kumimoji="0" lang="zh-TW" altLang="zh-TW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給</a:t>
                      </a:r>
                      <a:r>
                        <a:rPr kumimoji="0" lang="zh-TW" altLang="zh-TW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目標</a:t>
                      </a:r>
                      <a:r>
                        <a:rPr kumimoji="0" lang="zh-TW" altLang="zh-TW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，它</a:t>
                      </a:r>
                      <a:r>
                        <a:rPr kumimoji="0" lang="zh-TW" altLang="zh-TW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自主規劃、執行、除錯，直到完成任務</a:t>
                      </a:r>
                      <a:r>
                        <a:rPr kumimoji="0" lang="zh-TW" altLang="zh-TW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。</a:t>
                      </a:r>
                    </a:p>
                    <a:p>
                      <a:endParaRPr lang="zh-TW" altLang="en-US" sz="32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171547"/>
                  </a:ext>
                </a:extLst>
              </a:tr>
            </a:tbl>
          </a:graphicData>
        </a:graphic>
      </p:graphicFrame>
      <p:pic>
        <p:nvPicPr>
          <p:cNvPr id="6" name="圖片 5" descr="一張含有 紫色, 紫蘿蘭, 卡通, 圖形 的圖片&#10;&#10;AI 產生的內容可能不正確。">
            <a:extLst>
              <a:ext uri="{FF2B5EF4-FFF2-40B4-BE49-F238E27FC236}">
                <a16:creationId xmlns:a16="http://schemas.microsoft.com/office/drawing/2014/main" id="{4D24EB00-1AB7-D9F4-9D28-5A208BA38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2903" y="206296"/>
            <a:ext cx="3467584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46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0FF197-A679-857A-CD8D-988AF0163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Kiro_</a:t>
            </a:r>
            <a:r>
              <a:rPr lang="zh-TW" altLang="en-US" dirty="0"/>
              <a:t>特色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81876F-909D-10FA-CDEC-5AFCE9C7D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1429" y="1938599"/>
            <a:ext cx="15867558" cy="8242852"/>
          </a:xfrm>
        </p:spPr>
        <p:txBody>
          <a:bodyPr>
            <a:normAutofit fontScale="92500"/>
          </a:bodyPr>
          <a:lstStyle/>
          <a:p>
            <a:pPr marL="839056" indent="-742950">
              <a:lnSpc>
                <a:spcPct val="2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altLang="zh-TW" b="1" dirty="0">
                <a:solidFill>
                  <a:schemeClr val="tx1"/>
                </a:solidFill>
              </a:rPr>
              <a:t>Vibe-Coding</a:t>
            </a:r>
            <a:r>
              <a:rPr lang="en-US" altLang="zh-TW" dirty="0">
                <a:solidFill>
                  <a:schemeClr val="tx1"/>
                </a:solidFill>
              </a:rPr>
              <a:t>:</a:t>
            </a:r>
            <a:r>
              <a:rPr lang="zh-TW" altLang="en-US" dirty="0">
                <a:solidFill>
                  <a:schemeClr val="tx1"/>
                </a:solidFill>
              </a:rPr>
              <a:t>開發過程像對話一樣，開發者與 </a:t>
            </a:r>
            <a:r>
              <a:rPr lang="en-US" altLang="zh-TW" dirty="0">
                <a:solidFill>
                  <a:schemeClr val="tx1"/>
                </a:solidFill>
              </a:rPr>
              <a:t>AI</a:t>
            </a:r>
            <a:r>
              <a:rPr lang="zh-TW" altLang="en-US" dirty="0">
                <a:solidFill>
                  <a:schemeClr val="tx1"/>
                </a:solidFill>
              </a:rPr>
              <a:t>持續互動，即時生成與修正程式碼。</a:t>
            </a:r>
            <a:endParaRPr lang="en-US" altLang="zh-TW" dirty="0">
              <a:solidFill>
                <a:schemeClr val="tx1"/>
              </a:solidFill>
            </a:endParaRPr>
          </a:p>
          <a:p>
            <a:pPr marL="839056" indent="-742950">
              <a:lnSpc>
                <a:spcPct val="2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altLang="zh-TW" b="1" dirty="0">
                <a:solidFill>
                  <a:schemeClr val="tx1"/>
                </a:solidFill>
              </a:rPr>
              <a:t>Agent Hooks:</a:t>
            </a:r>
            <a:r>
              <a:rPr lang="zh-TW" altLang="en-US" dirty="0">
                <a:solidFill>
                  <a:schemeClr val="tx1"/>
                </a:solidFill>
              </a:rPr>
              <a:t>特定事件發生時，觸發 </a:t>
            </a:r>
            <a:r>
              <a:rPr lang="en-US" altLang="zh-TW" dirty="0">
                <a:solidFill>
                  <a:schemeClr val="tx1"/>
                </a:solidFill>
              </a:rPr>
              <a:t>AI </a:t>
            </a:r>
            <a:r>
              <a:rPr lang="zh-TW" altLang="en-US" dirty="0">
                <a:solidFill>
                  <a:schemeClr val="tx1"/>
                </a:solidFill>
              </a:rPr>
              <a:t>去執行預先定義好的操作。</a:t>
            </a:r>
            <a:endParaRPr lang="en-US" altLang="zh-TW" dirty="0">
              <a:solidFill>
                <a:schemeClr val="tx1"/>
              </a:solidFill>
            </a:endParaRPr>
          </a:p>
          <a:p>
            <a:pPr marL="839056" indent="-742950">
              <a:lnSpc>
                <a:spcPct val="2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altLang="zh-TW" b="1" dirty="0">
                <a:solidFill>
                  <a:schemeClr val="tx1"/>
                </a:solidFill>
              </a:rPr>
              <a:t>Steering Document</a:t>
            </a:r>
            <a:r>
              <a:rPr lang="en-US" altLang="zh-TW" dirty="0">
                <a:solidFill>
                  <a:schemeClr val="tx1"/>
                </a:solidFill>
              </a:rPr>
              <a:t>:</a:t>
            </a:r>
            <a:r>
              <a:rPr lang="zh-TW" altLang="en-US" dirty="0">
                <a:solidFill>
                  <a:schemeClr val="tx1"/>
                </a:solidFill>
              </a:rPr>
              <a:t>確保程式碼撰寫與開發需求有一致性。</a:t>
            </a:r>
            <a:endParaRPr lang="en-US" altLang="zh-TW" dirty="0">
              <a:solidFill>
                <a:schemeClr val="tx1"/>
              </a:solidFill>
            </a:endParaRPr>
          </a:p>
          <a:p>
            <a:pPr marL="839056" indent="-742950">
              <a:lnSpc>
                <a:spcPct val="2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altLang="zh-TW" b="1" dirty="0">
                <a:solidFill>
                  <a:schemeClr val="tx1"/>
                </a:solidFill>
              </a:rPr>
              <a:t>Model Context Protocol (MCP):</a:t>
            </a:r>
            <a:r>
              <a:rPr lang="zh-TW" altLang="en-US" dirty="0">
                <a:solidFill>
                  <a:schemeClr val="tx1"/>
                </a:solidFill>
              </a:rPr>
              <a:t>使不同任務的 </a:t>
            </a:r>
            <a:r>
              <a:rPr lang="en-US" altLang="zh-TW" dirty="0">
                <a:solidFill>
                  <a:schemeClr val="tx1"/>
                </a:solidFill>
              </a:rPr>
              <a:t>AI </a:t>
            </a:r>
            <a:r>
              <a:rPr lang="zh-TW" altLang="en-US" dirty="0">
                <a:solidFill>
                  <a:schemeClr val="tx1"/>
                </a:solidFill>
              </a:rPr>
              <a:t>模型能夠在同一個專案中協作。</a:t>
            </a:r>
          </a:p>
        </p:txBody>
      </p:sp>
      <p:pic>
        <p:nvPicPr>
          <p:cNvPr id="4" name="圖片 3" descr="一張含有 紫色, 紫蘿蘭, 卡通, 圖形 的圖片&#10;&#10;AI 產生的內容可能不正確。">
            <a:extLst>
              <a:ext uri="{FF2B5EF4-FFF2-40B4-BE49-F238E27FC236}">
                <a16:creationId xmlns:a16="http://schemas.microsoft.com/office/drawing/2014/main" id="{7FEA3DB7-35E4-A00C-5E97-59B35C399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1897" y="156630"/>
            <a:ext cx="3467584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7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11A7CC-362F-B475-4509-BE955A4BE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Kiro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33FDADC-612A-A636-7D4B-C68B9AB789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9581" y="1938599"/>
            <a:ext cx="14780217" cy="7947269"/>
          </a:xfrm>
        </p:spPr>
      </p:pic>
    </p:spTree>
    <p:extLst>
      <p:ext uri="{BB962C8B-B14F-4D97-AF65-F5344CB8AC3E}">
        <p14:creationId xmlns:p14="http://schemas.microsoft.com/office/powerpoint/2010/main" val="1920294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40091-A0D3-D768-BB38-2D3B9154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8" y="97098"/>
            <a:ext cx="16149533" cy="1781969"/>
          </a:xfrm>
        </p:spPr>
        <p:txBody>
          <a:bodyPr/>
          <a:lstStyle/>
          <a:p>
            <a:r>
              <a:rPr lang="zh-TW" altLang="en-US" dirty="0"/>
              <a:t>未來規劃</a:t>
            </a:r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1AADFC31-AAE6-DD7F-7B3A-8AE764B4586E}"/>
              </a:ext>
            </a:extLst>
          </p:cNvPr>
          <p:cNvGrpSpPr/>
          <p:nvPr/>
        </p:nvGrpSpPr>
        <p:grpSpPr>
          <a:xfrm>
            <a:off x="2219748" y="1835782"/>
            <a:ext cx="16559778" cy="8715810"/>
            <a:chOff x="1017813" y="4111398"/>
            <a:chExt cx="20200238" cy="9800843"/>
          </a:xfrm>
        </p:grpSpPr>
        <p:graphicFrame>
          <p:nvGraphicFramePr>
            <p:cNvPr id="40" name="Content Placeholder 20">
              <a:extLst>
                <a:ext uri="{FF2B5EF4-FFF2-40B4-BE49-F238E27FC236}">
                  <a16:creationId xmlns:a16="http://schemas.microsoft.com/office/drawing/2014/main" id="{357EF0ED-6103-5AD6-354D-7A36B7F6806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71140420"/>
                </p:ext>
              </p:extLst>
            </p:nvPr>
          </p:nvGraphicFramePr>
          <p:xfrm>
            <a:off x="1017813" y="4111398"/>
            <a:ext cx="20200238" cy="9800843"/>
          </p:xfrm>
          <a:graphic>
            <a:graphicData uri="http://schemas.openxmlformats.org/drawingml/2006/table">
              <a:tbl>
                <a:tblPr/>
                <a:tblGrid>
                  <a:gridCol w="353197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3801447871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1261578234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1820344115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4019376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202919214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487477683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1368410080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1754211082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509450787"/>
                      </a:ext>
                    </a:extLst>
                  </a:gridCol>
                </a:tblGrid>
                <a:tr h="730377">
                  <a:tc rowSpan="2"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 gridSpan="4"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11</a:t>
                        </a:r>
                        <a:r>
                          <a:rPr lang="zh-TW" altLang="en-US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月</a:t>
                        </a:r>
                        <a:endParaRPr lang="en-US" sz="3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8BC248">
                          <a:lumMod val="40000"/>
                          <a:lumOff val="60000"/>
                        </a:srgb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gridSpan="4"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12</a:t>
                        </a:r>
                        <a:r>
                          <a:rPr lang="zh-TW" altLang="en-US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月</a:t>
                        </a:r>
                        <a:endParaRPr lang="en-US" sz="3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8BC248">
                          <a:lumMod val="40000"/>
                          <a:lumOff val="60000"/>
                        </a:srgb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gridSpan="4"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1</a:t>
                        </a:r>
                        <a:r>
                          <a:rPr lang="zh-TW" altLang="en-US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月</a:t>
                        </a:r>
                        <a:endParaRPr lang="en-US" sz="3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8BC248">
                          <a:lumMod val="40000"/>
                          <a:lumOff val="60000"/>
                        </a:srgb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894706">
                  <a:tc vMerge="1"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week1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week2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week3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week4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week1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week2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week3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week4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week1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week2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week3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week4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771980896"/>
                    </a:ext>
                  </a:extLst>
                </a:tr>
                <a:tr h="1345676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Protégé(</a:t>
                        </a:r>
                        <a:r>
                          <a:rPr lang="zh-TW" altLang="en-US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</a:rPr>
                          <a:t>公差知識</a:t>
                        </a: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</a:rPr>
                          <a:t>)</a:t>
                        </a:r>
                        <a:endParaRPr lang="zh-TW" altLang="en-US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345676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Protégé(</a:t>
                        </a:r>
                        <a:r>
                          <a:rPr lang="zh-TW" altLang="en-US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製程知識</a:t>
                        </a: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)</a:t>
                        </a:r>
                        <a:endParaRPr lang="en-US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345676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marR="0" lvl="0" indent="0" algn="l" defTabSz="1828434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Protégé →Neo4j</a:t>
                        </a:r>
                      </a:p>
                      <a:p>
                        <a:endParaRPr lang="en-US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1704212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marR="0" lvl="0" indent="0" algn="l" defTabSz="1828434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NX(CAD→</a:t>
                        </a:r>
                        <a:r>
                          <a:rPr lang="zh-TW" altLang="en-US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接觸面</a:t>
                        </a: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)</a:t>
                        </a:r>
                      </a:p>
                      <a:p>
                        <a:pPr marL="0" marR="0" lvl="0" indent="0" algn="l" defTabSz="1828434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en-US" altLang="zh-TW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1345676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marR="0" lvl="0" indent="0" algn="l" defTabSz="1828434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MySQL</a:t>
                        </a:r>
                        <a:r>
                          <a:rPr lang="zh-TW" altLang="en-US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標準查詢</a:t>
                        </a:r>
                        <a:endParaRPr lang="en-US" altLang="zh-TW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  <a:p>
                        <a:endParaRPr lang="zh-TW" altLang="en-US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sp>
          <p:nvSpPr>
            <p:cNvPr id="41" name="Rounded Rectangle 4">
              <a:extLst>
                <a:ext uri="{FF2B5EF4-FFF2-40B4-BE49-F238E27FC236}">
                  <a16:creationId xmlns:a16="http://schemas.microsoft.com/office/drawing/2014/main" id="{0F21BD24-2AC2-522B-EA96-BD4031D3F7AF}"/>
                </a:ext>
              </a:extLst>
            </p:cNvPr>
            <p:cNvSpPr/>
            <p:nvPr/>
          </p:nvSpPr>
          <p:spPr>
            <a:xfrm>
              <a:off x="5592224" y="6429319"/>
              <a:ext cx="8376628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solidFill>
                <a:srgbClr val="EF9527"/>
              </a:solidFill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  <p:sp>
          <p:nvSpPr>
            <p:cNvPr id="42" name="Rounded Rectangle 6">
              <a:extLst>
                <a:ext uri="{FF2B5EF4-FFF2-40B4-BE49-F238E27FC236}">
                  <a16:creationId xmlns:a16="http://schemas.microsoft.com/office/drawing/2014/main" id="{E89D2DA6-0CB6-A7E9-C6C3-2E07C1A6AAB3}"/>
                </a:ext>
              </a:extLst>
            </p:cNvPr>
            <p:cNvSpPr/>
            <p:nvPr/>
          </p:nvSpPr>
          <p:spPr>
            <a:xfrm>
              <a:off x="5592226" y="8058498"/>
              <a:ext cx="10155868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  <p:sp>
          <p:nvSpPr>
            <p:cNvPr id="43" name="Rounded Rectangle 7">
              <a:extLst>
                <a:ext uri="{FF2B5EF4-FFF2-40B4-BE49-F238E27FC236}">
                  <a16:creationId xmlns:a16="http://schemas.microsoft.com/office/drawing/2014/main" id="{5A651710-6DB6-9E8F-E05B-5D2017AA20A4}"/>
                </a:ext>
              </a:extLst>
            </p:cNvPr>
            <p:cNvSpPr/>
            <p:nvPr/>
          </p:nvSpPr>
          <p:spPr>
            <a:xfrm>
              <a:off x="8260447" y="9518942"/>
              <a:ext cx="9848329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  <p:sp>
          <p:nvSpPr>
            <p:cNvPr id="44" name="Rounded Rectangle 9">
              <a:extLst>
                <a:ext uri="{FF2B5EF4-FFF2-40B4-BE49-F238E27FC236}">
                  <a16:creationId xmlns:a16="http://schemas.microsoft.com/office/drawing/2014/main" id="{7D56C01C-7A89-1FCB-6F91-9471F3F712BB}"/>
                </a:ext>
              </a:extLst>
            </p:cNvPr>
            <p:cNvSpPr/>
            <p:nvPr/>
          </p:nvSpPr>
          <p:spPr>
            <a:xfrm>
              <a:off x="9542669" y="12908208"/>
              <a:ext cx="6205424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  <p:sp>
          <p:nvSpPr>
            <p:cNvPr id="45" name="Rounded Rectangle 10">
              <a:extLst>
                <a:ext uri="{FF2B5EF4-FFF2-40B4-BE49-F238E27FC236}">
                  <a16:creationId xmlns:a16="http://schemas.microsoft.com/office/drawing/2014/main" id="{00104F05-6343-6A1F-8A57-610DA15BD83B}"/>
                </a:ext>
              </a:extLst>
            </p:cNvPr>
            <p:cNvSpPr/>
            <p:nvPr/>
          </p:nvSpPr>
          <p:spPr>
            <a:xfrm>
              <a:off x="6933131" y="10934970"/>
              <a:ext cx="13987431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1282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5C56DA-07F9-5F5B-49E4-B0A154CF2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52" y="4076192"/>
            <a:ext cx="10683754" cy="2539427"/>
          </a:xfrm>
        </p:spPr>
        <p:txBody>
          <a:bodyPr/>
          <a:lstStyle/>
          <a:p>
            <a:pPr marL="96106" indent="0" algn="ctr">
              <a:buNone/>
            </a:pPr>
            <a:r>
              <a:rPr lang="zh-TW" altLang="en-US" sz="7200" b="1" kern="0" dirty="0">
                <a:solidFill>
                  <a:schemeClr val="tx1"/>
                </a:solidFill>
                <a:latin typeface="標楷體" panose="03000509000000000000" pitchFamily="65" charset="-120"/>
              </a:rPr>
              <a:t>報告結束</a:t>
            </a:r>
            <a:br>
              <a:rPr lang="en-US" altLang="zh-TW" sz="7200" b="1" kern="0" dirty="0">
                <a:solidFill>
                  <a:schemeClr val="tx1"/>
                </a:solidFill>
                <a:latin typeface="標楷體" panose="03000509000000000000" pitchFamily="65" charset="-120"/>
              </a:rPr>
            </a:br>
            <a:r>
              <a:rPr lang="zh-TW" altLang="en-US" sz="7200" b="1" kern="0" dirty="0">
                <a:solidFill>
                  <a:schemeClr val="tx1"/>
                </a:solidFill>
                <a:latin typeface="標楷體" panose="03000509000000000000" pitchFamily="65" charset="-120"/>
              </a:rPr>
              <a:t>感謝聆聽</a:t>
            </a:r>
          </a:p>
          <a:p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63103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879DE6E-4B84-9551-3CB4-A5B8A9A6C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" t="-1020" r="-25"/>
          <a:stretch>
            <a:fillRect/>
          </a:stretch>
        </p:blipFill>
        <p:spPr>
          <a:xfrm>
            <a:off x="289781" y="1773936"/>
            <a:ext cx="18704923" cy="8010144"/>
          </a:xfr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80D67914-7809-4DD6-0476-E589D9B4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938" y="157163"/>
            <a:ext cx="16149637" cy="1781175"/>
          </a:xfrm>
        </p:spPr>
        <p:txBody>
          <a:bodyPr/>
          <a:lstStyle/>
          <a:p>
            <a:r>
              <a:rPr lang="en-US" altLang="zh-TW" dirty="0" err="1"/>
              <a:t>OntoGraf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243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165156-2743-5762-756A-D01BCFE0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884" y="-407250"/>
            <a:ext cx="16149533" cy="1781969"/>
          </a:xfrm>
        </p:spPr>
        <p:txBody>
          <a:bodyPr/>
          <a:lstStyle/>
          <a:p>
            <a:r>
              <a:rPr lang="zh-TW" altLang="en-US" dirty="0"/>
              <a:t>與公差配合相關的 </a:t>
            </a:r>
            <a:r>
              <a:rPr lang="en-US" altLang="zh-TW" dirty="0"/>
              <a:t>CNS</a:t>
            </a:r>
            <a:r>
              <a:rPr lang="zh-TW" altLang="en-US" dirty="0"/>
              <a:t>標準</a:t>
            </a:r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F432C520-034E-F541-4EBD-482F9C013E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668559"/>
              </p:ext>
            </p:extLst>
          </p:nvPr>
        </p:nvGraphicFramePr>
        <p:xfrm>
          <a:off x="3912477" y="834686"/>
          <a:ext cx="12909579" cy="975713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08230">
                  <a:extLst>
                    <a:ext uri="{9D8B030D-6E8A-4147-A177-3AD203B41FA5}">
                      <a16:colId xmlns:a16="http://schemas.microsoft.com/office/drawing/2014/main" val="1201967856"/>
                    </a:ext>
                  </a:extLst>
                </a:gridCol>
                <a:gridCol w="4858490">
                  <a:extLst>
                    <a:ext uri="{9D8B030D-6E8A-4147-A177-3AD203B41FA5}">
                      <a16:colId xmlns:a16="http://schemas.microsoft.com/office/drawing/2014/main" val="1457834076"/>
                    </a:ext>
                  </a:extLst>
                </a:gridCol>
                <a:gridCol w="5242859">
                  <a:extLst>
                    <a:ext uri="{9D8B030D-6E8A-4147-A177-3AD203B41FA5}">
                      <a16:colId xmlns:a16="http://schemas.microsoft.com/office/drawing/2014/main" val="1050740877"/>
                    </a:ext>
                  </a:extLst>
                </a:gridCol>
              </a:tblGrid>
              <a:tr h="502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800" b="1" dirty="0"/>
                        <a:t>CNS </a:t>
                      </a:r>
                      <a:r>
                        <a:rPr lang="zh-TW" altLang="en-US" sz="2800" b="1" dirty="0"/>
                        <a:t>標準號碼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800" dirty="0"/>
                        <a:t>主要內容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zh-TW" alt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價格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114874"/>
                  </a:ext>
                </a:extLst>
              </a:tr>
              <a:tr h="916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CNS 4-1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800" dirty="0"/>
                        <a:t>定義偏差、配合類型和尺寸範圍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81281917"/>
                  </a:ext>
                </a:extLst>
              </a:tr>
              <a:tr h="916617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kumimoji="0"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CNS 4-2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800" dirty="0"/>
                        <a:t>孔及軸之標準公差類別和對應的限界偏差表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7078967"/>
                  </a:ext>
                </a:extLst>
              </a:tr>
              <a:tr h="812873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kumimoji="0"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CNS 3</a:t>
                      </a:r>
                      <a:r>
                        <a:rPr kumimoji="0" lang="en-US" altLang="zh-TW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kumimoji="0"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800" dirty="0"/>
                        <a:t>工程製圖中的尺度標註方法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87054026"/>
                  </a:ext>
                </a:extLst>
              </a:tr>
              <a:tr h="812873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kumimoji="0" lang="en-US" altLang="zh-TW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CNS 3-3</a:t>
                      </a:r>
                      <a:endParaRPr kumimoji="0"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800" dirty="0"/>
                        <a:t>工程製圖</a:t>
                      </a:r>
                      <a:r>
                        <a:rPr lang="en-US" altLang="zh-TW" sz="2800" dirty="0"/>
                        <a:t>(</a:t>
                      </a:r>
                      <a:r>
                        <a:rPr lang="zh-TW" altLang="en-US" sz="2800" dirty="0"/>
                        <a:t>表面織構符號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4677403"/>
                  </a:ext>
                </a:extLst>
              </a:tr>
              <a:tr h="1146251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kumimoji="0"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CNS 3-</a:t>
                      </a:r>
                      <a:r>
                        <a:rPr kumimoji="0" lang="en-US" altLang="zh-TW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800" dirty="0"/>
                        <a:t>工程製圖中的幾何公差符號制定及標註方法和定義</a:t>
                      </a:r>
                      <a:endParaRPr lang="en-US" altLang="zh-TW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85359411"/>
                  </a:ext>
                </a:extLst>
              </a:tr>
              <a:tr h="9166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CNS 3-12</a:t>
                      </a:r>
                    </a:p>
                    <a:p>
                      <a:pPr marL="0" algn="l" rtl="0" eaLnBrk="1" latinLnBrk="0" hangingPunct="1">
                        <a:buNone/>
                      </a:pPr>
                      <a:endParaRPr kumimoji="0"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800" dirty="0"/>
                        <a:t>工程製圖</a:t>
                      </a:r>
                      <a:r>
                        <a:rPr lang="en-US" altLang="zh-TW" sz="2800" dirty="0"/>
                        <a:t>(</a:t>
                      </a:r>
                      <a:r>
                        <a:rPr lang="zh-TW" altLang="en-US" sz="2800" dirty="0"/>
                        <a:t>幾何公差的最大實體原理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05961437"/>
                  </a:ext>
                </a:extLst>
              </a:tr>
              <a:tr h="916617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kumimoji="0"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CNS 3-1</a:t>
                      </a:r>
                      <a:r>
                        <a:rPr kumimoji="0" lang="en-US" altLang="zh-TW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800" dirty="0"/>
                        <a:t>工程製圖</a:t>
                      </a:r>
                      <a:r>
                        <a:rPr lang="en-US" altLang="zh-TW" sz="2800" dirty="0"/>
                        <a:t>(</a:t>
                      </a:r>
                      <a:r>
                        <a:rPr lang="zh-TW" altLang="en-US" sz="2800" dirty="0"/>
                        <a:t>幾何公差</a:t>
                      </a:r>
                      <a:r>
                        <a:rPr lang="en-US" altLang="zh-TW" sz="2800" dirty="0"/>
                        <a:t>-</a:t>
                      </a:r>
                      <a:r>
                        <a:rPr kumimoji="0" lang="zh-TW" altLang="en-US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位置度公差之標註</a:t>
                      </a:r>
                      <a:r>
                        <a:rPr lang="en-US" altLang="zh-TW" sz="28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361624"/>
                  </a:ext>
                </a:extLst>
              </a:tr>
              <a:tr h="916617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kumimoji="0"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CNS 3-1</a:t>
                      </a:r>
                      <a:r>
                        <a:rPr kumimoji="0" lang="en-US" altLang="zh-TW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0" lang="zh-TW" alt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工程製圖</a:t>
                      </a:r>
                      <a:r>
                        <a:rPr kumimoji="0"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zh-TW" alt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幾何公差－基準及基準系統之標註</a:t>
                      </a:r>
                      <a:r>
                        <a:rPr kumimoji="0"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66682816"/>
                  </a:ext>
                </a:extLst>
              </a:tr>
              <a:tr h="916617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kumimoji="0"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CNS 3-1</a:t>
                      </a:r>
                      <a:r>
                        <a:rPr kumimoji="0" lang="en-US" altLang="zh-TW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0" lang="zh-TW" alt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工程製圖</a:t>
                      </a:r>
                      <a:r>
                        <a:rPr kumimoji="0"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zh-TW" alt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幾何公差－符號之比例及尺度</a:t>
                      </a:r>
                      <a:r>
                        <a:rPr kumimoji="0"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3150861"/>
                  </a:ext>
                </a:extLst>
              </a:tr>
              <a:tr h="797695">
                <a:tc gridSpan="2"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kumimoji="0" lang="zh-TW" alt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總價</a:t>
                      </a:r>
                      <a:endParaRPr kumimoji="0"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kumimoji="0"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altLang="zh-TW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1170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349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526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佈景主題1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1" id="{E61209DD-7C03-404D-B789-7B1DDF8EB829}" vid="{B8D7766B-4337-40CD-B4A4-BF345C77790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63326</TotalTime>
  <Words>662</Words>
  <Application>Microsoft Office PowerPoint</Application>
  <PresentationFormat>自訂</PresentationFormat>
  <Paragraphs>142</Paragraphs>
  <Slides>12</Slides>
  <Notes>2</Notes>
  <HiddenSlides>2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2" baseType="lpstr">
      <vt:lpstr>標楷體</vt:lpstr>
      <vt:lpstr>Arial</vt:lpstr>
      <vt:lpstr>Calibri</vt:lpstr>
      <vt:lpstr>Gill Sans MT</vt:lpstr>
      <vt:lpstr>Lato Regular</vt:lpstr>
      <vt:lpstr>Times New Roman</vt:lpstr>
      <vt:lpstr>Verdana</vt:lpstr>
      <vt:lpstr>Wingdings</vt:lpstr>
      <vt:lpstr>Wingdings 2</vt:lpstr>
      <vt:lpstr>佈景主題1</vt:lpstr>
      <vt:lpstr>PowerPoint 簡報</vt:lpstr>
      <vt:lpstr>Protégé →Neo4j </vt:lpstr>
      <vt:lpstr>NX_特徵面判斷 </vt:lpstr>
      <vt:lpstr>NX_特徵面判斷 </vt:lpstr>
      <vt:lpstr>PowerPoint 簡報</vt:lpstr>
      <vt:lpstr>Kiro_介紹</vt:lpstr>
      <vt:lpstr>Kiro_特色</vt:lpstr>
      <vt:lpstr>Kiro</vt:lpstr>
      <vt:lpstr>未來規劃</vt:lpstr>
      <vt:lpstr>PowerPoint 簡報</vt:lpstr>
      <vt:lpstr>OntoGraf</vt:lpstr>
      <vt:lpstr>與公差配合相關的 CNS標準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meeting</dc:title>
  <dc:creator>博宇 蔡</dc:creator>
  <cp:lastModifiedBy>泓文 陳</cp:lastModifiedBy>
  <cp:revision>1278</cp:revision>
  <dcterms:created xsi:type="dcterms:W3CDTF">2022-09-16T14:31:41Z</dcterms:created>
  <dcterms:modified xsi:type="dcterms:W3CDTF">2025-12-03T02:16:46Z</dcterms:modified>
</cp:coreProperties>
</file>