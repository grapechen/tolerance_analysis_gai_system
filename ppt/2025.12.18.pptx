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5">
  <p:sldMasterIdLst>
    <p:sldMasterId id="2147483720" r:id="rId1"/>
  </p:sldMasterIdLst>
  <p:notesMasterIdLst>
    <p:notesMasterId r:id="rId20"/>
  </p:notesMasterIdLst>
  <p:handoutMasterIdLst>
    <p:handoutMasterId r:id="rId21"/>
  </p:handoutMasterIdLst>
  <p:sldIdLst>
    <p:sldId id="892" r:id="rId2"/>
    <p:sldId id="955" r:id="rId3"/>
    <p:sldId id="971" r:id="rId4"/>
    <p:sldId id="972" r:id="rId5"/>
    <p:sldId id="973" r:id="rId6"/>
    <p:sldId id="974" r:id="rId7"/>
    <p:sldId id="975" r:id="rId8"/>
    <p:sldId id="976" r:id="rId9"/>
    <p:sldId id="977" r:id="rId10"/>
    <p:sldId id="978" r:id="rId11"/>
    <p:sldId id="984" r:id="rId12"/>
    <p:sldId id="979" r:id="rId13"/>
    <p:sldId id="981" r:id="rId14"/>
    <p:sldId id="982" r:id="rId15"/>
    <p:sldId id="983" r:id="rId16"/>
    <p:sldId id="980" r:id="rId17"/>
    <p:sldId id="952" r:id="rId18"/>
    <p:sldId id="901" r:id="rId19"/>
  </p:sldIdLst>
  <p:sldSz cx="19007138" cy="10691813"/>
  <p:notesSz cx="9144000" cy="6858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4E4A62D-9E94-42E6-9A32-090017D9FC14}">
          <p14:sldIdLst>
            <p14:sldId id="892"/>
            <p14:sldId id="955"/>
            <p14:sldId id="971"/>
            <p14:sldId id="972"/>
            <p14:sldId id="973"/>
            <p14:sldId id="974"/>
            <p14:sldId id="975"/>
            <p14:sldId id="976"/>
            <p14:sldId id="977"/>
            <p14:sldId id="978"/>
            <p14:sldId id="984"/>
            <p14:sldId id="979"/>
            <p14:sldId id="981"/>
            <p14:sldId id="982"/>
            <p14:sldId id="983"/>
            <p14:sldId id="980"/>
            <p14:sldId id="952"/>
            <p14:sldId id="9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368" userDrawn="1">
          <p15:clr>
            <a:srgbClr val="A4A3A4"/>
          </p15:clr>
        </p15:guide>
        <p15:guide id="2" pos="59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博宇" initials="博宇" lastIdx="3" clrIdx="0">
    <p:extLst>
      <p:ext uri="{19B8F6BF-5375-455C-9EA6-DF929625EA0E}">
        <p15:presenceInfo xmlns:p15="http://schemas.microsoft.com/office/powerpoint/2012/main" userId="de6e9673a045b6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B0F0"/>
    <a:srgbClr val="FFFF00"/>
    <a:srgbClr val="0000FF"/>
    <a:srgbClr val="FFEFE7"/>
    <a:srgbClr val="FFC000"/>
    <a:srgbClr val="FFFF99"/>
    <a:srgbClr val="FFD699"/>
    <a:srgbClr val="C2D69B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1" autoAdjust="0"/>
    <p:restoredTop sz="73691" autoAdjust="0"/>
  </p:normalViewPr>
  <p:slideViewPr>
    <p:cSldViewPr snapToGrid="0">
      <p:cViewPr varScale="1">
        <p:scale>
          <a:sx n="34" d="100"/>
          <a:sy n="34" d="100"/>
        </p:scale>
        <p:origin x="1603" y="259"/>
      </p:cViewPr>
      <p:guideLst>
        <p:guide orient="horz" pos="3368"/>
        <p:guide pos="59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4ACEE2A4-F8C9-4C3C-AC69-2CD0826309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C2C16A-0E6D-47D8-81BD-1413EE5A9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0739D1E-293A-42AA-B6AF-3BD10F3164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3DD8A5F-15C8-490A-B94E-E4286331F8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9BF477-B8BF-4DF6-92BB-4A39CC499F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8210625"/>
      </p:ext>
    </p:extLst>
  </p:cSld>
  <p:clrMap bg1="lt1" tx1="dk1" bg2="lt2" tx2="dk2" accent1="accent1" accent2="accent2" accent3="accent3" accent4="accent4" accent5="accent5" accent6="accent6" hlink="hlink" folHlink="folHlink"/>
  <p:hf sldNum="0"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57250"/>
            <a:ext cx="41116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B17AFB-CFE8-42DD-BFE6-AABD153A99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759684"/>
      </p:ext>
    </p:extLst>
  </p:cSld>
  <p:clrMap bg1="lt1" tx1="dk1" bg2="lt2" tx2="dk2" accent1="accent1" accent2="accent2" accent3="accent3" accent4="accent4" accent5="accent5" accent6="accent6" hlink="hlink" folHlink="folHlink"/>
  <p:hf sldNum="0" hdr="0"/>
  <p:notesStyle>
    <a:lvl1pPr marL="0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1pPr>
    <a:lvl2pPr marL="712272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2pPr>
    <a:lvl3pPr marL="1424544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3pPr>
    <a:lvl4pPr marL="2136816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4pPr>
    <a:lvl5pPr marL="2849088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5pPr>
    <a:lvl6pPr marL="3561359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6pPr>
    <a:lvl7pPr marL="4273631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7pPr>
    <a:lvl8pPr marL="4985903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8pPr>
    <a:lvl9pPr marL="5698175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0779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7976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69" b="1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適合工程查詢</a:t>
            </a:r>
            <a:r>
              <a:rPr lang="en-US" altLang="zh-TW" sz="1869" b="1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DeepSeek-V3.1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推理能力強，適合複雜工程問題</a:t>
            </a:r>
          </a:p>
          <a:p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Qwen3-Coder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技術文檔專精，適合 </a:t>
            </a:r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GD&amp;T 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標準解釋</a:t>
            </a:r>
            <a:endParaRPr lang="en-US" altLang="zh-TW" sz="1869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sz="1869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869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適合圖表分析：</a:t>
            </a:r>
          </a:p>
          <a:p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Qwen3-VL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唯一支援圖像的模型，可分析工程圖</a:t>
            </a:r>
            <a:endParaRPr lang="en-US" altLang="zh-TW" sz="1869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sz="1869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869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最快響應：</a:t>
            </a:r>
          </a:p>
          <a:p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GPT-OSS:20b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開源社群項目，參數較少，響應速度快</a:t>
            </a:r>
          </a:p>
          <a:p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MiniMax-M2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對話優化，響應流暢</a:t>
            </a:r>
            <a:endParaRPr lang="en-US" altLang="zh-TW" sz="1869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TW" altLang="en-US" sz="1869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869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最佳中文支援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GLM-4.6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智譜 </a:t>
            </a:r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（清華大學技術轉移），中文優化</a:t>
            </a:r>
          </a:p>
          <a:p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Qwen 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系列 </a:t>
            </a:r>
            <a:r>
              <a:rPr lang="en-US" altLang="zh-TW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TW" altLang="en-US" sz="1869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阿里巴巴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0353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棒材送料能力</a:t>
            </a:r>
            <a:r>
              <a:rPr lang="en-US" altLang="zh-TW" dirty="0"/>
              <a:t>:</a:t>
            </a:r>
            <a:r>
              <a:rPr lang="zh-TW" altLang="en-US" dirty="0"/>
              <a:t>設備可自動送入主軸加工的「棒材尺寸與條件上限」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最大棒材直徑、可送料的「棒材長度」、棒材形狀與材料送料方式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9746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rgbClr val="E8D7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/>
          <p:cNvSpPr>
            <a:spLocks noGrp="1"/>
          </p:cNvSpPr>
          <p:nvPr>
            <p:ph type="ctrTitle"/>
          </p:nvPr>
        </p:nvSpPr>
        <p:spPr>
          <a:xfrm>
            <a:off x="2977786" y="561091"/>
            <a:ext cx="15395781" cy="2295176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22" name="副標題 21"/>
          <p:cNvSpPr>
            <a:spLocks noGrp="1"/>
          </p:cNvSpPr>
          <p:nvPr>
            <p:ph type="subTitle" idx="1"/>
          </p:nvPr>
        </p:nvSpPr>
        <p:spPr>
          <a:xfrm>
            <a:off x="2977786" y="2884301"/>
            <a:ext cx="15395781" cy="2732352"/>
          </a:xfrm>
        </p:spPr>
        <p:txBody>
          <a:bodyPr tIns="0"/>
          <a:lstStyle>
            <a:lvl1pPr marL="32035" indent="0" algn="l">
              <a:buNone/>
              <a:defRPr sz="3036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533918" indent="0" algn="ctr">
              <a:buNone/>
            </a:lvl2pPr>
            <a:lvl3pPr marL="1067836" indent="0" algn="ctr">
              <a:buNone/>
            </a:lvl3pPr>
            <a:lvl4pPr marL="1601754" indent="0" algn="ctr">
              <a:buNone/>
            </a:lvl4pPr>
            <a:lvl5pPr marL="2135673" indent="0" algn="ctr">
              <a:buNone/>
            </a:lvl5pPr>
            <a:lvl6pPr marL="2669591" indent="0" algn="ctr">
              <a:buNone/>
            </a:lvl6pPr>
            <a:lvl7pPr marL="3203509" indent="0" algn="ctr">
              <a:buNone/>
            </a:lvl7pPr>
            <a:lvl8pPr marL="3737427" indent="0" algn="ctr">
              <a:buNone/>
            </a:lvl8pPr>
            <a:lvl9pPr marL="4271345" indent="0" algn="ctr">
              <a:buNone/>
            </a:lvl9pPr>
            <a:extLst/>
          </a:lstStyle>
          <a:p>
            <a:r>
              <a:rPr kumimoji="0" lang="zh-TW" altLang="en-US"/>
              <a:t>按一下以編輯母片子標題樣式</a:t>
            </a:r>
            <a:endParaRPr kumimoji="0" 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2724-D85B-4B80-A53F-5116D356FC5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-3713265" y="9864684"/>
            <a:ext cx="9503569" cy="5595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TW" altLang="en-US" sz="1168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製造與公差工程研究室</a:t>
            </a:r>
            <a:endParaRPr lang="en-US" altLang="zh-TW" sz="1168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934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Fabrication &amp;</a:t>
            </a:r>
            <a:r>
              <a:rPr lang="en-US" altLang="zh-TW" sz="934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  <a:p>
            <a:pPr algn="ctr"/>
            <a:r>
              <a:rPr lang="zh-TW" altLang="en-US" sz="934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934" dirty="0" err="1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Tolerancing</a:t>
            </a:r>
            <a:r>
              <a:rPr lang="en-US" altLang="zh-TW" sz="934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Engineering Lab</a:t>
            </a:r>
            <a:endParaRPr lang="en-US" altLang="zh-TW" sz="934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4263" y="8553740"/>
            <a:ext cx="2996148" cy="226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-3713265" y="9400289"/>
            <a:ext cx="9503569" cy="41575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TW" altLang="en-US" sz="1401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國立中興大學</a:t>
            </a:r>
            <a:endParaRPr lang="en-US" altLang="zh-TW" sz="1401" baseline="0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701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National Chung </a:t>
            </a:r>
            <a:r>
              <a:rPr lang="en-US" altLang="zh-TW" sz="701" baseline="0" dirty="0" err="1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Hsing</a:t>
            </a:r>
            <a:r>
              <a:rPr lang="en-US" altLang="zh-TW" sz="701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University</a:t>
            </a:r>
            <a:endParaRPr lang="en-US" altLang="zh-TW" sz="701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794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20442" y="156630"/>
            <a:ext cx="16149533" cy="1781969"/>
          </a:xfrm>
        </p:spPr>
        <p:txBody>
          <a:bodyPr>
            <a:normAutofit/>
          </a:bodyPr>
          <a:lstStyle>
            <a:lvl1pPr>
              <a:defRPr sz="4671">
                <a:solidFill>
                  <a:srgbClr val="0070C0"/>
                </a:solidFill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2724-D85B-4B80-A53F-5116D356FC5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-487513" y="9864682"/>
            <a:ext cx="3143262" cy="559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168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製造與公差工程研究室</a:t>
            </a:r>
            <a:endParaRPr lang="en-US" altLang="zh-TW" sz="1168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934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Fabrication &amp;</a:t>
            </a:r>
            <a:r>
              <a:rPr lang="en-US" altLang="zh-TW" sz="934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  <a:p>
            <a:pPr algn="ctr"/>
            <a:r>
              <a:rPr lang="zh-TW" altLang="en-US" sz="934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934" dirty="0" err="1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Tolerancing</a:t>
            </a:r>
            <a:r>
              <a:rPr lang="en-US" altLang="zh-TW" sz="934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Engineering Lab</a:t>
            </a:r>
            <a:endParaRPr lang="en-US" altLang="zh-TW" sz="934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1" name="圖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553739"/>
            <a:ext cx="2206712" cy="17907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1" y="9400289"/>
            <a:ext cx="2206712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401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國立中興大學</a:t>
            </a:r>
            <a:endParaRPr lang="en-US" altLang="zh-TW" sz="1401" baseline="0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701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National Chung </a:t>
            </a:r>
            <a:r>
              <a:rPr lang="en-US" altLang="zh-TW" sz="701" baseline="0" dirty="0" err="1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Hsing</a:t>
            </a:r>
            <a:r>
              <a:rPr lang="en-US" altLang="zh-TW" sz="701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University</a:t>
            </a:r>
            <a:endParaRPr lang="en-US" altLang="zh-TW" sz="701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387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形圖 6"/>
          <p:cNvSpPr/>
          <p:nvPr/>
        </p:nvSpPr>
        <p:spPr>
          <a:xfrm>
            <a:off x="-1696020" y="-1272044"/>
            <a:ext cx="3406666" cy="255507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/>
          </a:p>
        </p:txBody>
      </p:sp>
      <p:sp>
        <p:nvSpPr>
          <p:cNvPr id="8" name="橢圓 7"/>
          <p:cNvSpPr/>
          <p:nvPr/>
        </p:nvSpPr>
        <p:spPr>
          <a:xfrm>
            <a:off x="350911" y="32901"/>
            <a:ext cx="3538252" cy="265376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/>
          </a:p>
        </p:txBody>
      </p:sp>
      <p:sp>
        <p:nvSpPr>
          <p:cNvPr id="11" name="甜甜圈 10"/>
          <p:cNvSpPr/>
          <p:nvPr/>
        </p:nvSpPr>
        <p:spPr>
          <a:xfrm rot="2315675">
            <a:off x="380146" y="1644894"/>
            <a:ext cx="2339967" cy="1719022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/>
          </a:p>
        </p:txBody>
      </p:sp>
      <p:sp>
        <p:nvSpPr>
          <p:cNvPr id="12" name="矩形 11"/>
          <p:cNvSpPr/>
          <p:nvPr/>
        </p:nvSpPr>
        <p:spPr>
          <a:xfrm>
            <a:off x="2105408" y="32901"/>
            <a:ext cx="16901734" cy="10691897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2984120" y="428169"/>
            <a:ext cx="15585853" cy="1781969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  <p:sp>
        <p:nvSpPr>
          <p:cNvPr id="9" name="文字版面配置區 8"/>
          <p:cNvSpPr>
            <a:spLocks noGrp="1"/>
          </p:cNvSpPr>
          <p:nvPr>
            <p:ph type="body" idx="1"/>
          </p:nvPr>
        </p:nvSpPr>
        <p:spPr>
          <a:xfrm>
            <a:off x="2984120" y="2257162"/>
            <a:ext cx="15585853" cy="7484269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 dirty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/>
              <a:t>第二層</a:t>
            </a:r>
          </a:p>
          <a:p>
            <a:pPr lvl="2" eaLnBrk="1" latinLnBrk="0" hangingPunct="1"/>
            <a:r>
              <a:rPr kumimoji="0" lang="zh-TW" altLang="en-US" dirty="0"/>
              <a:t>第三層</a:t>
            </a:r>
          </a:p>
          <a:p>
            <a:pPr lvl="3" eaLnBrk="1" latinLnBrk="0" hangingPunct="1"/>
            <a:r>
              <a:rPr kumimoji="0" lang="zh-TW" altLang="en-US" dirty="0"/>
              <a:t>第四層</a:t>
            </a:r>
          </a:p>
          <a:p>
            <a:pPr lvl="4" eaLnBrk="1" latinLnBrk="0" hangingPunct="1"/>
            <a:r>
              <a:rPr kumimoji="0" lang="zh-TW" altLang="en-US" dirty="0"/>
              <a:t>第五層</a:t>
            </a:r>
            <a:endParaRPr kumimoji="0" lang="en-US" dirty="0"/>
          </a:p>
        </p:txBody>
      </p:sp>
      <p:sp>
        <p:nvSpPr>
          <p:cNvPr id="15" name="矩形 14"/>
          <p:cNvSpPr/>
          <p:nvPr/>
        </p:nvSpPr>
        <p:spPr bwMode="invGray">
          <a:xfrm>
            <a:off x="2109792" y="-84"/>
            <a:ext cx="152057" cy="10691897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4"/>
          </p:nvPr>
        </p:nvSpPr>
        <p:spPr>
          <a:xfrm>
            <a:off x="17904724" y="9830529"/>
            <a:ext cx="950356" cy="742487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401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7092724-D85B-4B80-A53F-5116D356F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552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671" b="1" kern="1200">
          <a:solidFill>
            <a:srgbClr val="0070C0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extLst/>
    </p:titleStyle>
    <p:bodyStyle>
      <a:lvl1pPr marL="427135" indent="-331029" algn="l" rtl="0" eaLnBrk="1" latinLnBrk="0" hangingPunct="1">
        <a:lnSpc>
          <a:spcPct val="100000"/>
        </a:lnSpc>
        <a:spcBef>
          <a:spcPts val="701"/>
        </a:spcBef>
        <a:buClr>
          <a:schemeClr val="accent1"/>
        </a:buClr>
        <a:buSzPct val="80000"/>
        <a:buFont typeface="Wingdings" panose="05000000000000000000" pitchFamily="2" charset="2"/>
        <a:buChar char="Ø"/>
        <a:defRPr kumimoji="0" sz="3737" kern="1200">
          <a:solidFill>
            <a:srgbClr val="FF0000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747485" indent="-277637" algn="l" rtl="0" eaLnBrk="1" latinLnBrk="0" hangingPunct="1">
        <a:lnSpc>
          <a:spcPct val="100000"/>
        </a:lnSpc>
        <a:spcBef>
          <a:spcPts val="642"/>
        </a:spcBef>
        <a:buClr>
          <a:schemeClr val="accent1"/>
        </a:buClr>
        <a:buFont typeface="Verdana"/>
        <a:buChar char="◦"/>
        <a:defRPr kumimoji="0" sz="3270" kern="1200">
          <a:solidFill>
            <a:srgbClr val="0000FF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035801" indent="-266959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803" kern="1200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281404" indent="-202889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336" kern="1200">
          <a:solidFill>
            <a:schemeClr val="accent3">
              <a:lumMod val="7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516328" indent="-213567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336" kern="1200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1761930" indent="-213567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2007532" indent="-213567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2242456" indent="-213567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2488059" indent="-213567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336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339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6783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1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3567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66959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03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73742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2713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FFF2D8-DB24-144F-FA36-87D435C4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8710" y="1920278"/>
            <a:ext cx="14164891" cy="3566121"/>
          </a:xfrm>
        </p:spPr>
        <p:txBody>
          <a:bodyPr>
            <a:normAutofit/>
          </a:bodyPr>
          <a:lstStyle/>
          <a:p>
            <a:pPr marL="96106" indent="0" algn="ctr">
              <a:lnSpc>
                <a:spcPct val="200000"/>
              </a:lnSpc>
              <a:buNone/>
            </a:pPr>
            <a:r>
              <a:rPr lang="zh-TW" altLang="en-US" sz="5400" dirty="0">
                <a:solidFill>
                  <a:srgbClr val="0070C0"/>
                </a:solidFill>
              </a:rPr>
              <a:t>智慧製造專案計畫</a:t>
            </a:r>
            <a:endParaRPr lang="en-US" altLang="zh-TW" sz="5400" dirty="0">
              <a:solidFill>
                <a:srgbClr val="0070C0"/>
              </a:solidFill>
            </a:endParaRPr>
          </a:p>
          <a:p>
            <a:pPr marL="96106" indent="0" algn="ctr">
              <a:lnSpc>
                <a:spcPct val="200000"/>
              </a:lnSpc>
              <a:buNone/>
            </a:pPr>
            <a:r>
              <a:rPr lang="zh-TW" altLang="en-US" sz="5400" dirty="0">
                <a:solidFill>
                  <a:srgbClr val="0070C0"/>
                </a:solidFill>
              </a:rPr>
              <a:t>進度報告</a:t>
            </a:r>
          </a:p>
        </p:txBody>
      </p:sp>
      <p:sp>
        <p:nvSpPr>
          <p:cNvPr id="6" name="Google Shape;60;p13">
            <a:extLst>
              <a:ext uri="{FF2B5EF4-FFF2-40B4-BE49-F238E27FC236}">
                <a16:creationId xmlns:a16="http://schemas.microsoft.com/office/drawing/2014/main" id="{55E028BD-0512-D85A-72DD-CBC72BA4971D}"/>
              </a:ext>
            </a:extLst>
          </p:cNvPr>
          <p:cNvSpPr txBox="1"/>
          <p:nvPr/>
        </p:nvSpPr>
        <p:spPr>
          <a:xfrm>
            <a:off x="7744461" y="5835541"/>
            <a:ext cx="5333305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200000"/>
              </a:lnSpc>
              <a:buClr>
                <a:srgbClr val="FFFF99"/>
              </a:buClr>
              <a:buSzPts val="3500"/>
            </a:pP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指導教授 </a:t>
            </a:r>
            <a:r>
              <a:rPr 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:</a:t>
            </a: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 蔡志成 </a:t>
            </a:r>
            <a:r>
              <a:rPr lang="zh-TW" altLang="en-US" sz="30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教授</a:t>
            </a:r>
            <a:endParaRPr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0" algn="just">
              <a:lnSpc>
                <a:spcPct val="200000"/>
              </a:lnSpc>
              <a:buClr>
                <a:srgbClr val="FFFF99"/>
              </a:buClr>
              <a:buSzPts val="3500"/>
            </a:pP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報</a:t>
            </a:r>
            <a:r>
              <a:rPr lang="en-US" altLang="zh-TW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 </a:t>
            </a: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告</a:t>
            </a:r>
            <a:r>
              <a:rPr lang="en-US" altLang="zh-TW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 </a:t>
            </a: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者 </a:t>
            </a:r>
            <a:r>
              <a:rPr lang="en-US" altLang="zh-TW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:</a:t>
            </a: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 陳泓文</a:t>
            </a:r>
            <a:endParaRPr lang="en-US" altLang="zh-TW" sz="3500" b="1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lvl="0" algn="just">
              <a:lnSpc>
                <a:spcPct val="200000"/>
              </a:lnSpc>
              <a:buClr>
                <a:srgbClr val="FFFF99"/>
              </a:buClr>
              <a:buSzPts val="3500"/>
            </a:pP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報告日期 </a:t>
            </a:r>
            <a:r>
              <a:rPr lang="en-US" altLang="zh-TW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: </a:t>
            </a:r>
            <a:r>
              <a:rPr lang="en-US" altLang="zh-TW" sz="35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BiauKai"/>
              </a:rPr>
              <a:t>2025/12/18</a:t>
            </a:r>
          </a:p>
        </p:txBody>
      </p:sp>
    </p:spTree>
    <p:extLst>
      <p:ext uri="{BB962C8B-B14F-4D97-AF65-F5344CB8AC3E}">
        <p14:creationId xmlns:p14="http://schemas.microsoft.com/office/powerpoint/2010/main" val="1468997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45EFC473-C474-E354-5D31-B9BAC9D33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051317"/>
              </p:ext>
            </p:extLst>
          </p:nvPr>
        </p:nvGraphicFramePr>
        <p:xfrm>
          <a:off x="7639708" y="150613"/>
          <a:ext cx="11093798" cy="1008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3798">
                  <a:extLst>
                    <a:ext uri="{9D8B030D-6E8A-4147-A177-3AD203B41FA5}">
                      <a16:colId xmlns:a16="http://schemas.microsoft.com/office/drawing/2014/main" val="680101583"/>
                    </a:ext>
                  </a:extLst>
                </a:gridCol>
              </a:tblGrid>
              <a:tr h="72360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723601"/>
                  </a:ext>
                </a:extLst>
              </a:tr>
              <a:tr h="431998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30534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374035"/>
                  </a:ext>
                </a:extLst>
              </a:tr>
              <a:tr h="431998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869171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id="{6311A7CC-362F-B475-4509-BE955A4BE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787" y="-88185"/>
            <a:ext cx="16149533" cy="1781969"/>
          </a:xfrm>
        </p:spPr>
        <p:txBody>
          <a:bodyPr/>
          <a:lstStyle/>
          <a:p>
            <a:pPr lvl="0" defTabSz="1828434">
              <a:defRPr/>
            </a:pPr>
            <a:r>
              <a:rPr lang="en-US" altLang="zh-TW" dirty="0"/>
              <a:t>MySQL</a:t>
            </a:r>
            <a:r>
              <a:rPr lang="zh-TW" altLang="en-US" dirty="0"/>
              <a:t>數據修正</a:t>
            </a:r>
            <a:endParaRPr lang="en-US" altLang="zh-TW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EF8719B2-185C-AB76-A0C6-ADE93A05C12A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7" r="12828" b="3097"/>
          <a:stretch>
            <a:fillRect/>
          </a:stretch>
        </p:blipFill>
        <p:spPr>
          <a:xfrm>
            <a:off x="7639707" y="5920453"/>
            <a:ext cx="11093798" cy="4413600"/>
          </a:xfrm>
        </p:spPr>
      </p:pic>
      <p:pic>
        <p:nvPicPr>
          <p:cNvPr id="9" name="圖片 8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EA254CD6-4C54-9BD2-8173-5C7904B13A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32" r="21719" b="1"/>
          <a:stretch>
            <a:fillRect/>
          </a:stretch>
        </p:blipFill>
        <p:spPr>
          <a:xfrm>
            <a:off x="160124" y="2249849"/>
            <a:ext cx="7002834" cy="6192114"/>
          </a:xfrm>
          <a:prstGeom prst="rect">
            <a:avLst/>
          </a:prstGeom>
        </p:spPr>
      </p:pic>
      <p:pic>
        <p:nvPicPr>
          <p:cNvPr id="11" name="圖片 10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68083FA3-CCF4-CF95-7676-805C44BA63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69"/>
          <a:stretch>
            <a:fillRect/>
          </a:stretch>
        </p:blipFill>
        <p:spPr>
          <a:xfrm>
            <a:off x="7639707" y="901090"/>
            <a:ext cx="11093798" cy="4412592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953FCCAD-E14A-1B02-0316-7929663B613D}"/>
              </a:ext>
            </a:extLst>
          </p:cNvPr>
          <p:cNvSpPr txBox="1"/>
          <p:nvPr/>
        </p:nvSpPr>
        <p:spPr>
          <a:xfrm>
            <a:off x="2956034" y="1495225"/>
            <a:ext cx="278261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IT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等級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:404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筆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209CF58-8772-B80E-33F3-83E61D4C98DE}"/>
              </a:ext>
            </a:extLst>
          </p:cNvPr>
          <p:cNvSpPr txBox="1"/>
          <p:nvPr/>
        </p:nvSpPr>
        <p:spPr>
          <a:xfrm>
            <a:off x="11349755" y="196916"/>
            <a:ext cx="331742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軸偏差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:20300</a:t>
            </a:r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筆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36EA5F8-4B6B-DF97-DA59-DFC440217A05}"/>
              </a:ext>
            </a:extLst>
          </p:cNvPr>
          <p:cNvSpPr txBox="1"/>
          <p:nvPr/>
        </p:nvSpPr>
        <p:spPr>
          <a:xfrm>
            <a:off x="11349755" y="5257052"/>
            <a:ext cx="310143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孔偏差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:20034</a:t>
            </a:r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筆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832B488-C013-B148-68FC-27D2F44FAD34}"/>
              </a:ext>
            </a:extLst>
          </p:cNvPr>
          <p:cNvSpPr txBox="1"/>
          <p:nvPr/>
        </p:nvSpPr>
        <p:spPr>
          <a:xfrm>
            <a:off x="7523552" y="222486"/>
            <a:ext cx="331742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軸偏差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:22365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筆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3F202B9-AF38-482F-0930-05285C0C3649}"/>
              </a:ext>
            </a:extLst>
          </p:cNvPr>
          <p:cNvSpPr txBox="1"/>
          <p:nvPr/>
        </p:nvSpPr>
        <p:spPr>
          <a:xfrm>
            <a:off x="7523552" y="5269720"/>
            <a:ext cx="310143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孔偏差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:22453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筆</a:t>
            </a:r>
          </a:p>
        </p:txBody>
      </p:sp>
      <p:sp>
        <p:nvSpPr>
          <p:cNvPr id="5" name="箭號: 向右 4">
            <a:extLst>
              <a:ext uri="{FF2B5EF4-FFF2-40B4-BE49-F238E27FC236}">
                <a16:creationId xmlns:a16="http://schemas.microsoft.com/office/drawing/2014/main" id="{7062A41C-4D1E-4C7A-DCCF-63F3222FEAAF}"/>
              </a:ext>
            </a:extLst>
          </p:cNvPr>
          <p:cNvSpPr/>
          <p:nvPr/>
        </p:nvSpPr>
        <p:spPr>
          <a:xfrm>
            <a:off x="10516993" y="321271"/>
            <a:ext cx="832762" cy="4348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218BF607-33B4-F252-FB7C-729B414C554A}"/>
              </a:ext>
            </a:extLst>
          </p:cNvPr>
          <p:cNvSpPr/>
          <p:nvPr/>
        </p:nvSpPr>
        <p:spPr>
          <a:xfrm>
            <a:off x="10516993" y="5344682"/>
            <a:ext cx="832762" cy="4348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0294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6BC6DDC2-10FE-BE46-D9DF-40E37507B65C}"/>
              </a:ext>
            </a:extLst>
          </p:cNvPr>
          <p:cNvSpPr txBox="1"/>
          <p:nvPr/>
        </p:nvSpPr>
        <p:spPr>
          <a:xfrm>
            <a:off x="2486038" y="1667179"/>
            <a:ext cx="15459603" cy="8248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 數據的修正與刪除：為了完全符合 </a:t>
            </a:r>
            <a:r>
              <a:rPr lang="en-US" altLang="zh-TW" sz="3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ISO 286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標準中的「特殊限制」與「建議事項」。</a:t>
            </a:r>
          </a:p>
          <a:p>
            <a:pPr marL="457200" indent="-4572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原因可以歸納為兩大類：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超出定義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：標準中明確規定某些公差等級或基礎偏差在特定尺寸範圍內「不適用」或「未定義」。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zh-TW" altLang="en-US" sz="32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標準建議替代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：標準建議在某些特定情況下，應改用另一個公差類別的數值（通常是因為數值相同，為了簡化或參照）。</a:t>
            </a:r>
          </a:p>
          <a:p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520D040-F7AF-D010-1F02-AA90F0211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MySQL</a:t>
            </a:r>
            <a:r>
              <a:rPr lang="zh-TW" altLang="en-US" dirty="0"/>
              <a:t>數據修正</a:t>
            </a:r>
          </a:p>
        </p:txBody>
      </p:sp>
      <p:pic>
        <p:nvPicPr>
          <p:cNvPr id="5" name="內容版面配置區 4" descr="一張含有 文字, 螢幕擷取畫面, 行, 字型 的圖片&#10;&#10;AI 產生的內容可能不正確。">
            <a:extLst>
              <a:ext uri="{FF2B5EF4-FFF2-40B4-BE49-F238E27FC236}">
                <a16:creationId xmlns:a16="http://schemas.microsoft.com/office/drawing/2014/main" id="{326799C9-9C94-2B4E-7C13-FC9211487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542" y="5727970"/>
            <a:ext cx="13851283" cy="2029108"/>
          </a:xfrm>
        </p:spPr>
      </p:pic>
      <p:pic>
        <p:nvPicPr>
          <p:cNvPr id="7" name="圖片 6" descr="一張含有 文字, 字型, 行, 螢幕擷取畫面 的圖片&#10;&#10;AI 產生的內容可能不正確。">
            <a:extLst>
              <a:ext uri="{FF2B5EF4-FFF2-40B4-BE49-F238E27FC236}">
                <a16:creationId xmlns:a16="http://schemas.microsoft.com/office/drawing/2014/main" id="{CBF0E4B4-FEF4-6A40-C119-3CC71224D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118" y="8557915"/>
            <a:ext cx="8957707" cy="2133898"/>
          </a:xfrm>
          <a:prstGeom prst="rect">
            <a:avLst/>
          </a:prstGeom>
        </p:spPr>
      </p:pic>
      <p:pic>
        <p:nvPicPr>
          <p:cNvPr id="9" name="圖片 8" descr="一張含有 文字, 行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72B67DDC-4EFC-E574-3A22-4461192438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377" y="5760278"/>
            <a:ext cx="13822704" cy="2114845"/>
          </a:xfrm>
          <a:prstGeom prst="rect">
            <a:avLst/>
          </a:prstGeom>
        </p:spPr>
      </p:pic>
      <p:pic>
        <p:nvPicPr>
          <p:cNvPr id="11" name="圖片 10" descr="一張含有 螢幕擷取畫面, 文字, 行, 字型 的圖片&#10;&#10;AI 產生的內容可能不正確。">
            <a:extLst>
              <a:ext uri="{FF2B5EF4-FFF2-40B4-BE49-F238E27FC236}">
                <a16:creationId xmlns:a16="http://schemas.microsoft.com/office/drawing/2014/main" id="{5BA8D966-012C-2699-3CC4-95ACF0C233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25" y="5487743"/>
            <a:ext cx="13708388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7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9D4CA-C3C7-2E3B-5074-7079B17A7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MySQL</a:t>
            </a:r>
            <a:r>
              <a:rPr lang="zh-TW" altLang="en-US" dirty="0"/>
              <a:t>數據修正</a:t>
            </a:r>
          </a:p>
        </p:txBody>
      </p:sp>
      <p:graphicFrame>
        <p:nvGraphicFramePr>
          <p:cNvPr id="12" name="內容版面配置區 11">
            <a:extLst>
              <a:ext uri="{FF2B5EF4-FFF2-40B4-BE49-F238E27FC236}">
                <a16:creationId xmlns:a16="http://schemas.microsoft.com/office/drawing/2014/main" id="{395728B1-40B3-3C5F-C108-0F481F95E2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728118"/>
              </p:ext>
            </p:extLst>
          </p:nvPr>
        </p:nvGraphicFramePr>
        <p:xfrm>
          <a:off x="2283282" y="6125316"/>
          <a:ext cx="15540947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000">
                  <a:extLst>
                    <a:ext uri="{9D8B030D-6E8A-4147-A177-3AD203B41FA5}">
                      <a16:colId xmlns:a16="http://schemas.microsoft.com/office/drawing/2014/main" val="33784175"/>
                    </a:ext>
                  </a:extLst>
                </a:gridCol>
                <a:gridCol w="2326878">
                  <a:extLst>
                    <a:ext uri="{9D8B030D-6E8A-4147-A177-3AD203B41FA5}">
                      <a16:colId xmlns:a16="http://schemas.microsoft.com/office/drawing/2014/main" val="4053496755"/>
                    </a:ext>
                  </a:extLst>
                </a:gridCol>
                <a:gridCol w="1764262">
                  <a:extLst>
                    <a:ext uri="{9D8B030D-6E8A-4147-A177-3AD203B41FA5}">
                      <a16:colId xmlns:a16="http://schemas.microsoft.com/office/drawing/2014/main" val="3511160528"/>
                    </a:ext>
                  </a:extLst>
                </a:gridCol>
                <a:gridCol w="10207807">
                  <a:extLst>
                    <a:ext uri="{9D8B030D-6E8A-4147-A177-3AD203B41FA5}">
                      <a16:colId xmlns:a16="http://schemas.microsoft.com/office/drawing/2014/main" val="3239642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b="1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規則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b="1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對象 </a:t>
                      </a:r>
                      <a:r>
                        <a:rPr lang="en-US" altLang="zh-TW" b="1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b="1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條件</a:t>
                      </a:r>
                      <a:r>
                        <a:rPr lang="en-US" altLang="zh-TW" b="1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b="1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處理方式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b="1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原因 </a:t>
                      </a:r>
                      <a:r>
                        <a:rPr lang="en-US" altLang="zh-TW" b="1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en-US" b="1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ISO 286 </a:t>
                      </a:r>
                      <a:r>
                        <a:rPr lang="zh-TW" altLang="en-US" b="1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規範</a:t>
                      </a:r>
                      <a:r>
                        <a:rPr lang="en-US" altLang="zh-TW" b="1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23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規則 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endParaRPr lang="zh-TW" altLang="en-US" b="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 B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(≤ 1mm)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刪除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未定義：基礎偏差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 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及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 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不適用於 ≤ 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mm 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的尺寸。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39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規則 </a:t>
                      </a:r>
                      <a:r>
                        <a:rPr lang="en-US" altLang="zh-TW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2</a:t>
                      </a:r>
                      <a:endParaRPr lang="zh-TW" altLang="en-US" b="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H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(IT14-18, ≤ 1mm)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刪除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未定義：</a:t>
                      </a:r>
                      <a:r>
                        <a:rPr lang="en-US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H </a:t>
                      </a:r>
                      <a:r>
                        <a:rPr lang="zh-TW" altLang="en-US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在 </a:t>
                      </a:r>
                      <a:r>
                        <a:rPr lang="en-US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IT14-18 </a:t>
                      </a:r>
                      <a:r>
                        <a:rPr lang="zh-TW" altLang="en-US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時，不適用於 ≤ </a:t>
                      </a:r>
                      <a:r>
                        <a:rPr lang="en-US" altLang="zh-TW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en-US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mm </a:t>
                      </a:r>
                      <a:r>
                        <a:rPr lang="zh-TW" altLang="en-US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的尺寸。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752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規則 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3</a:t>
                      </a:r>
                      <a:endParaRPr lang="zh-TW" altLang="en-US" b="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JS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(IT14-16, ≤ 1mm)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刪除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未定義：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JS 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在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IT14-16 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時，不適用於 ≤ 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mm 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的尺寸。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162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規則 </a:t>
                      </a:r>
                      <a:r>
                        <a:rPr lang="en-US" altLang="zh-TW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endParaRPr lang="zh-TW" altLang="en-US" b="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K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(&gt; IT8, &gt; 3mm)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刪除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未定義：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K 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在 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&gt; IT8 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時，對於 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&gt; 3mm 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的尺寸沒有定義。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4978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規則 </a:t>
                      </a:r>
                      <a:r>
                        <a:rPr lang="en-US" altLang="zh-TW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5</a:t>
                      </a:r>
                      <a:endParaRPr lang="zh-TW" altLang="en-US" b="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N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(IT9-11, ≤ 1mm)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刪除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未定義：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N 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在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IT9-11 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時，不適用於 ≤ 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mm 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的尺寸。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348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規則 </a:t>
                      </a:r>
                      <a:r>
                        <a:rPr lang="en-US" altLang="zh-TW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6</a:t>
                      </a:r>
                      <a:endParaRPr lang="zh-TW" altLang="en-US" b="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T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(IT5-8, ≤ 24mm)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修正 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用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標準建議：此範圍 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T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的數值建議以 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U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的數值取代。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5300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規則 </a:t>
                      </a:r>
                      <a:r>
                        <a:rPr lang="en-US" altLang="zh-TW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7</a:t>
                      </a:r>
                      <a:endParaRPr lang="zh-TW" altLang="en-US" b="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V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 X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(&gt; 500mm)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刪除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未定義：基礎偏差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V, X, Y 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不適用於 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&gt; 500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mm 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的尺寸。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460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規則 </a:t>
                      </a:r>
                      <a:r>
                        <a:rPr lang="en-US" altLang="zh-TW" b="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8</a:t>
                      </a:r>
                      <a:endParaRPr lang="zh-TW" altLang="en-US" b="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V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(IT5-8, ≤ 14mm)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修正 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用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標準建議：此範圍 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V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的數值建議以 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X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的數值取代。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335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規則 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9</a:t>
                      </a:r>
                      <a:endParaRPr lang="zh-TW" altLang="en-US" b="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(IT6-10, ≤ 18mm)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修正 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用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Z)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標準建議：此範圍 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Y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的數值建議以 </a:t>
                      </a:r>
                      <a:r>
                        <a:rPr lang="en-US" altLang="zh-TW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Z</a:t>
                      </a:r>
                      <a:r>
                        <a:rPr lang="zh-TW" altLang="en-US" b="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的數值取代。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56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規則 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10</a:t>
                      </a:r>
                      <a:endParaRPr kumimoji="0" lang="zh-TW" altLang="en-US" b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Z~ZC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(&gt; 500mm)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刪除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未定義：基礎偏差 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Z, ZA, ZB, ZC 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不適用於 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&gt; 500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mm 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的尺寸。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6449240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BA7C8850-5C5A-33A7-ACD0-87A8714030DC}"/>
              </a:ext>
            </a:extLst>
          </p:cNvPr>
          <p:cNvSpPr txBox="1"/>
          <p:nvPr/>
        </p:nvSpPr>
        <p:spPr>
          <a:xfrm>
            <a:off x="2115642" y="5345906"/>
            <a:ext cx="5913120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孔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(Hole)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數據修正原因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DD263B81-0915-8C1D-689A-6FF3C1D7C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420466"/>
              </p:ext>
            </p:extLst>
          </p:nvPr>
        </p:nvGraphicFramePr>
        <p:xfrm>
          <a:off x="2283282" y="2185202"/>
          <a:ext cx="15540948" cy="33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400">
                  <a:extLst>
                    <a:ext uri="{9D8B030D-6E8A-4147-A177-3AD203B41FA5}">
                      <a16:colId xmlns:a16="http://schemas.microsoft.com/office/drawing/2014/main" val="318051351"/>
                    </a:ext>
                  </a:extLst>
                </a:gridCol>
                <a:gridCol w="2591748">
                  <a:extLst>
                    <a:ext uri="{9D8B030D-6E8A-4147-A177-3AD203B41FA5}">
                      <a16:colId xmlns:a16="http://schemas.microsoft.com/office/drawing/2014/main" val="3464310116"/>
                    </a:ext>
                  </a:extLst>
                </a:gridCol>
                <a:gridCol w="1868400">
                  <a:extLst>
                    <a:ext uri="{9D8B030D-6E8A-4147-A177-3AD203B41FA5}">
                      <a16:colId xmlns:a16="http://schemas.microsoft.com/office/drawing/2014/main" val="3198178322"/>
                    </a:ext>
                  </a:extLst>
                </a:gridCol>
                <a:gridCol w="9878400">
                  <a:extLst>
                    <a:ext uri="{9D8B030D-6E8A-4147-A177-3AD203B41FA5}">
                      <a16:colId xmlns:a16="http://schemas.microsoft.com/office/drawing/2014/main" val="341613415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kumimoji="0" lang="zh-TW" altLang="en-US" b="1" kern="1200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規則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kumimoji="0" lang="zh-TW" altLang="en-US" b="1" kern="1200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對象 </a:t>
                      </a:r>
                      <a:r>
                        <a:rPr kumimoji="0" lang="en-US" altLang="zh-TW" b="1" kern="1200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</a:t>
                      </a:r>
                      <a:r>
                        <a:rPr kumimoji="0" lang="zh-TW" altLang="en-US" b="1" kern="1200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條件</a:t>
                      </a:r>
                      <a:r>
                        <a:rPr kumimoji="0" lang="en-US" altLang="zh-TW" b="1" kern="1200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)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kumimoji="0" lang="zh-TW" altLang="en-US" b="1" kern="1200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處理方式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kumimoji="0" lang="zh-TW" altLang="en-US" b="1" kern="1200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原因 </a:t>
                      </a:r>
                      <a:r>
                        <a:rPr kumimoji="0" lang="en-US" altLang="zh-TW" b="1" kern="1200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</a:t>
                      </a:r>
                      <a:r>
                        <a:rPr kumimoji="0" lang="en-US" b="1" kern="1200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ISO 286 </a:t>
                      </a:r>
                      <a:r>
                        <a:rPr kumimoji="0" lang="zh-TW" altLang="en-US" b="1" kern="1200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規範</a:t>
                      </a:r>
                      <a:r>
                        <a:rPr kumimoji="0" lang="en-US" altLang="zh-TW" b="1" kern="1200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)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011358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規則 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</a:t>
                      </a:r>
                      <a:endParaRPr kumimoji="0" lang="zh-TW" altLang="en-US" b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a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、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b (≤ 1mm)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刪除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未定義：基礎偏差 </a:t>
                      </a:r>
                      <a:r>
                        <a:rPr kumimoji="0" 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a </a:t>
                      </a: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及 </a:t>
                      </a:r>
                      <a:r>
                        <a:rPr kumimoji="0" 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b </a:t>
                      </a: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不適用於 ≤ </a:t>
                      </a:r>
                      <a:r>
                        <a:rPr kumimoji="0" lang="en-US" altLang="zh-TW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</a:t>
                      </a:r>
                      <a:r>
                        <a:rPr kumimoji="0" 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mm </a:t>
                      </a: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的尺寸。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09153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規則 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2</a:t>
                      </a:r>
                      <a:endParaRPr kumimoji="0" lang="zh-TW" altLang="en-US" b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h (IT14-16, ≤ 1mm)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刪除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未定義：</a:t>
                      </a:r>
                      <a:r>
                        <a:rPr kumimoji="0" 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h </a:t>
                      </a: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在 </a:t>
                      </a:r>
                      <a:r>
                        <a:rPr kumimoji="0" 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IT14-16 </a:t>
                      </a: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時，不適用於 ≤ </a:t>
                      </a:r>
                      <a:r>
                        <a:rPr kumimoji="0" lang="en-US" altLang="zh-TW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</a:t>
                      </a:r>
                      <a:r>
                        <a:rPr kumimoji="0" 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mm </a:t>
                      </a: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的尺寸。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05191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規則 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3</a:t>
                      </a:r>
                      <a:endParaRPr kumimoji="0" lang="zh-TW" altLang="en-US" b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en-US" b="0" kern="1200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js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(IT14-16, ≤ 1mm)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刪除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未定義：</a:t>
                      </a:r>
                      <a:r>
                        <a:rPr kumimoji="0" 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js </a:t>
                      </a: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在 </a:t>
                      </a:r>
                      <a:r>
                        <a:rPr kumimoji="0" 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IT14-16 </a:t>
                      </a: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時，不適用於 ≤ </a:t>
                      </a:r>
                      <a:r>
                        <a:rPr kumimoji="0" lang="en-US" altLang="zh-TW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1</a:t>
                      </a:r>
                      <a:r>
                        <a:rPr kumimoji="0" 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mm </a:t>
                      </a: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的尺寸。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725948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規則 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4</a:t>
                      </a:r>
                      <a:endParaRPr kumimoji="0" lang="zh-TW" altLang="en-US" b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t (IT5-8, ≤ 24mm)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修正 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用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標準建議：此範圍 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t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的數值建議以 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u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的數值取代。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6442184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規則 </a:t>
                      </a:r>
                      <a:r>
                        <a:rPr kumimoji="0" lang="en-US" altLang="zh-TW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5</a:t>
                      </a:r>
                      <a:endParaRPr kumimoji="0" lang="zh-TW" altLang="en-US" b="0" kern="120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v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、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x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、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y(&gt; 500mm)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刪除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未定義：基礎偏差 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v, x, y 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不適用於 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&gt; 500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mm 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的尺寸。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711751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規則 </a:t>
                      </a:r>
                      <a:r>
                        <a:rPr kumimoji="0" lang="en-US" altLang="zh-TW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6</a:t>
                      </a:r>
                      <a:endParaRPr kumimoji="0" lang="zh-TW" altLang="en-US" b="0" kern="120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v(IT5-8, ≤ 14mm)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修正 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用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標準建議：此範圍 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v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的數值建議以 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x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的數值取代。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16041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規則 </a:t>
                      </a:r>
                      <a:r>
                        <a:rPr kumimoji="0" lang="en-US" altLang="zh-TW" b="0" kern="1200" baseline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7</a:t>
                      </a:r>
                      <a:endParaRPr kumimoji="0" lang="zh-TW" altLang="en-US" b="0" kern="1200" baseline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y(IT6-10, ≤ 18mm)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修正 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(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用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z)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標準建議：此範圍 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y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的數值並未列出，建議以 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z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的數值取代。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657215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規則 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8</a:t>
                      </a:r>
                      <a:endParaRPr kumimoji="0" lang="zh-TW" altLang="en-US" b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z ~ </a:t>
                      </a:r>
                      <a:r>
                        <a:rPr kumimoji="0" lang="en-US" b="0" kern="1200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zc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(&gt; 500mm)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刪除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fontAlgn="base" latinLnBrk="0" hangingPunct="1">
                        <a:buNone/>
                      </a:pP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未定義：基礎偏差 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z, za, </a:t>
                      </a:r>
                      <a:r>
                        <a:rPr kumimoji="0" lang="en-US" b="0" kern="1200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zb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, </a:t>
                      </a:r>
                      <a:r>
                        <a:rPr kumimoji="0" lang="en-US" b="0" kern="1200" baseline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zc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 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不適用於 </a:t>
                      </a:r>
                      <a:r>
                        <a:rPr kumimoji="0" lang="en-US" altLang="zh-TW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&gt; 500</a:t>
                      </a:r>
                      <a:r>
                        <a:rPr kumimoji="0" 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mm </a:t>
                      </a:r>
                      <a:r>
                        <a:rPr kumimoji="0" lang="zh-TW" altLang="en-US" b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的尺寸。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541554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6CF7D6CA-5973-BFB7-EA99-9726A4DABA74}"/>
              </a:ext>
            </a:extLst>
          </p:cNvPr>
          <p:cNvSpPr txBox="1"/>
          <p:nvPr/>
        </p:nvSpPr>
        <p:spPr>
          <a:xfrm>
            <a:off x="2115642" y="1342279"/>
            <a:ext cx="5913120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軸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(Shaft)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數據修正原因</a:t>
            </a:r>
          </a:p>
        </p:txBody>
      </p:sp>
    </p:spTree>
    <p:extLst>
      <p:ext uri="{BB962C8B-B14F-4D97-AF65-F5344CB8AC3E}">
        <p14:creationId xmlns:p14="http://schemas.microsoft.com/office/powerpoint/2010/main" val="408018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9D0324-5359-DA16-B736-32C07DA49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OLLAMA_Cloud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72CCF1-D096-64C2-720E-3EEC475A9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0442" y="1567022"/>
            <a:ext cx="15982093" cy="9018961"/>
          </a:xfrm>
        </p:spPr>
        <p:txBody>
          <a:bodyPr>
            <a:normAutofit fontScale="77500" lnSpcReduction="20000"/>
          </a:bodyPr>
          <a:lstStyle/>
          <a:p>
            <a:pPr marL="427135" lvl="1" indent="-331029">
              <a:lnSpc>
                <a:spcPct val="20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zh-TW" altLang="en-US" sz="4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大規模參數優勢：</a:t>
            </a:r>
          </a:p>
          <a:p>
            <a:pPr marL="873656" lvl="1" indent="-4572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本地模型：</a:t>
            </a:r>
            <a:r>
              <a:rPr lang="en-US" altLang="zh-TW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gemma3:4b (40</a:t>
            </a: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億參數</a:t>
            </a:r>
            <a:r>
              <a:rPr lang="en-US" altLang="zh-TW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)</a:t>
            </a: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。</a:t>
            </a:r>
            <a:endParaRPr lang="en-US" altLang="zh-TW" sz="31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marL="873656" lvl="1" indent="-4572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雲端模型：</a:t>
            </a:r>
            <a:r>
              <a:rPr lang="en-US" altLang="zh-TW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deepseek-v3.1 (6710</a:t>
            </a: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億參數</a:t>
            </a:r>
            <a:r>
              <a:rPr lang="en-US" altLang="zh-TW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)</a:t>
            </a: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。</a:t>
            </a:r>
            <a:endParaRPr lang="en-US" altLang="zh-TW" sz="31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marL="873656" lvl="1" indent="-4572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效能提升：</a:t>
            </a:r>
            <a:r>
              <a:rPr lang="en-US" altLang="zh-TW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167</a:t>
            </a: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倍參數差距，意味著有更強的推理能力。</a:t>
            </a:r>
            <a:endParaRPr lang="en-US" altLang="zh-TW" sz="31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marL="427135" lvl="1" indent="-331029">
              <a:lnSpc>
                <a:spcPct val="20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zh-TW" altLang="en-US" sz="4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減輕硬體負擔：</a:t>
            </a:r>
          </a:p>
          <a:p>
            <a:pPr marL="873656" lvl="1" indent="-4572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本地部署：需要 </a:t>
            </a:r>
            <a:r>
              <a:rPr lang="en-US" altLang="zh-TW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40GB+ </a:t>
            </a: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記憶體空間。</a:t>
            </a:r>
          </a:p>
          <a:p>
            <a:pPr marL="873656" lvl="1" indent="-4572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雲端模型：無硬體要求，可以立即使用。</a:t>
            </a:r>
            <a:endParaRPr lang="en-US" altLang="zh-TW" sz="31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marL="873656" lvl="1" indent="-4572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</a:rPr>
              <a:t>延長電池續航時間。</a:t>
            </a:r>
            <a:endParaRPr lang="en-US" altLang="zh-TW" sz="31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873656" lvl="1" indent="-4572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</a:rPr>
              <a:t>降低部署成本</a:t>
            </a:r>
            <a:r>
              <a:rPr lang="en-US" altLang="zh-TW" sz="3100" dirty="0">
                <a:solidFill>
                  <a:schemeClr val="tx1"/>
                </a:solidFill>
                <a:latin typeface="Times New Roman" panose="02020603050405020304" pitchFamily="18" charset="0"/>
              </a:rPr>
              <a:t>:</a:t>
            </a: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</a:rPr>
              <a:t>省下昂貴</a:t>
            </a:r>
            <a:r>
              <a:rPr lang="en-US" altLang="zh-TW" sz="3100" dirty="0">
                <a:solidFill>
                  <a:schemeClr val="tx1"/>
                </a:solidFill>
                <a:latin typeface="Times New Roman" panose="02020603050405020304" pitchFamily="18" charset="0"/>
              </a:rPr>
              <a:t>GPU</a:t>
            </a:r>
            <a:r>
              <a:rPr lang="zh-TW" altLang="en-US" sz="3100" dirty="0">
                <a:solidFill>
                  <a:schemeClr val="tx1"/>
                </a:solidFill>
                <a:latin typeface="Times New Roman" panose="02020603050405020304" pitchFamily="18" charset="0"/>
              </a:rPr>
              <a:t>成本。</a:t>
            </a:r>
            <a:endParaRPr lang="en-US" altLang="zh-TW" sz="31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marL="427135" lvl="1" indent="-331029">
              <a:lnSpc>
                <a:spcPct val="20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zh-TW" altLang="en-US" sz="4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不會保留數據，確保隱私和安全。</a:t>
            </a:r>
            <a:endParaRPr lang="en-US" altLang="zh-TW" sz="41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marL="427135" lvl="1" indent="-331029">
              <a:lnSpc>
                <a:spcPct val="20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zh-TW" altLang="en-US" sz="4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增強用戶體驗：無需等待模型載入，能即時回應，也有更多模型選擇。</a:t>
            </a:r>
          </a:p>
          <a:p>
            <a:pPr marL="427135" lvl="1" indent="-331029">
              <a:lnSpc>
                <a:spcPct val="20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endParaRPr lang="en-US" altLang="zh-TW" sz="32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</p:txBody>
      </p:sp>
      <p:pic>
        <p:nvPicPr>
          <p:cNvPr id="5" name="圖片 4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C01AD18F-8C47-E538-0F0F-5A291CA8A8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391" t="31747" r="12389" b="1"/>
          <a:stretch>
            <a:fillRect/>
          </a:stretch>
        </p:blipFill>
        <p:spPr>
          <a:xfrm>
            <a:off x="12181438" y="460525"/>
            <a:ext cx="6388535" cy="2464246"/>
          </a:xfrm>
          <a:prstGeom prst="rect">
            <a:avLst/>
          </a:prstGeom>
        </p:spPr>
      </p:pic>
      <p:pic>
        <p:nvPicPr>
          <p:cNvPr id="7" name="圖片 6" descr="一張含有 文字, 螢幕擷取畫面, 軟體, 多媒體 的圖片&#10;&#10;AI 產生的內容可能不正確。">
            <a:extLst>
              <a:ext uri="{FF2B5EF4-FFF2-40B4-BE49-F238E27FC236}">
                <a16:creationId xmlns:a16="http://schemas.microsoft.com/office/drawing/2014/main" id="{F89ABE10-2868-58C5-1273-989667554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6144" y="3877688"/>
            <a:ext cx="4798817" cy="439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51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F9E2EE-53E0-81DF-2FE5-9887DD7E9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結合</a:t>
            </a:r>
            <a:r>
              <a:rPr lang="en-US" altLang="zh-TW" dirty="0"/>
              <a:t>CNS</a:t>
            </a:r>
            <a:r>
              <a:rPr lang="zh-TW" altLang="en-US" dirty="0"/>
              <a:t>標準與大型語言模型的</a:t>
            </a:r>
            <a:r>
              <a:rPr lang="en-US" altLang="zh-TW" dirty="0"/>
              <a:t>RAG</a:t>
            </a:r>
            <a:r>
              <a:rPr lang="zh-TW" altLang="en-US" dirty="0"/>
              <a:t>實現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1DA0D7-D4A4-8E4A-3147-3477D75AE0DC}"/>
              </a:ext>
            </a:extLst>
          </p:cNvPr>
          <p:cNvSpPr txBox="1"/>
          <p:nvPr/>
        </p:nvSpPr>
        <p:spPr>
          <a:xfrm>
            <a:off x="1828800" y="1674830"/>
            <a:ext cx="17178337" cy="868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3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LLM 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的侷限：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1371600" lvl="2" indent="-457200">
              <a:lnSpc>
                <a:spcPct val="3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語言模型容易產生「幻覺」，在幾何公差定義上常混淆（例如：分不清「圓柱度」與「真圓度」的適用情境）。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1371600" lvl="2" indent="-457200">
              <a:lnSpc>
                <a:spcPct val="3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標準的複雜性：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CNS 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等工程規範包含大量邏輯規則（如：是否需要基準、箭頭指在輪廓或尺寸線的差異），純文字檢索難以精準判斷。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1371600" lvl="2" indent="-457200">
              <a:lnSpc>
                <a:spcPct val="3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解決方案：建構「公差領域本體論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(Tolerance Ontology)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」，將規則結構化。</a:t>
            </a:r>
          </a:p>
        </p:txBody>
      </p:sp>
    </p:spTree>
    <p:extLst>
      <p:ext uri="{BB962C8B-B14F-4D97-AF65-F5344CB8AC3E}">
        <p14:creationId xmlns:p14="http://schemas.microsoft.com/office/powerpoint/2010/main" val="2316132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D3BB177E-5067-4881-4603-B42918613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938" y="157163"/>
            <a:ext cx="16149637" cy="1781175"/>
          </a:xfrm>
        </p:spPr>
        <p:txBody>
          <a:bodyPr/>
          <a:lstStyle/>
          <a:p>
            <a:r>
              <a:rPr lang="zh-TW" altLang="en-US" dirty="0"/>
              <a:t>結合</a:t>
            </a:r>
            <a:r>
              <a:rPr lang="en-US" altLang="zh-TW" dirty="0"/>
              <a:t>CNS</a:t>
            </a:r>
            <a:r>
              <a:rPr lang="zh-TW" altLang="en-US" dirty="0"/>
              <a:t>標準與大型語言模型的</a:t>
            </a:r>
            <a:r>
              <a:rPr lang="en-US" altLang="zh-TW" dirty="0"/>
              <a:t>RAG</a:t>
            </a:r>
            <a:r>
              <a:rPr lang="zh-TW" altLang="en-US" dirty="0"/>
              <a:t>實現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1DC6A5C-F502-407C-C75B-C40F14947A1A}"/>
              </a:ext>
            </a:extLst>
          </p:cNvPr>
          <p:cNvSpPr/>
          <p:nvPr/>
        </p:nvSpPr>
        <p:spPr>
          <a:xfrm>
            <a:off x="3094202" y="3782094"/>
            <a:ext cx="2461846" cy="11957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知識庫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00A248F-28CD-1721-5DD7-F447122A2571}"/>
              </a:ext>
            </a:extLst>
          </p:cNvPr>
          <p:cNvSpPr/>
          <p:nvPr/>
        </p:nvSpPr>
        <p:spPr>
          <a:xfrm>
            <a:off x="8693567" y="3782094"/>
            <a:ext cx="2461846" cy="11957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檢索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A653CA2-6F11-8862-DC2D-A71C90238BDF}"/>
              </a:ext>
            </a:extLst>
          </p:cNvPr>
          <p:cNvSpPr/>
          <p:nvPr/>
        </p:nvSpPr>
        <p:spPr>
          <a:xfrm>
            <a:off x="14292933" y="3782094"/>
            <a:ext cx="2461846" cy="11957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生成</a:t>
            </a:r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C9C2640E-449C-36DF-4080-0FBD45CC39D1}"/>
              </a:ext>
            </a:extLst>
          </p:cNvPr>
          <p:cNvSpPr/>
          <p:nvPr/>
        </p:nvSpPr>
        <p:spPr>
          <a:xfrm>
            <a:off x="5942910" y="4031881"/>
            <a:ext cx="2338754" cy="69618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AE3BB56A-244B-B44D-B6DF-83C479E7052A}"/>
              </a:ext>
            </a:extLst>
          </p:cNvPr>
          <p:cNvSpPr/>
          <p:nvPr/>
        </p:nvSpPr>
        <p:spPr>
          <a:xfrm>
            <a:off x="11567316" y="4108997"/>
            <a:ext cx="2338754" cy="69618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CBC57AF-FB54-627F-8B6E-04D8EA6E106B}"/>
              </a:ext>
            </a:extLst>
          </p:cNvPr>
          <p:cNvSpPr txBox="1"/>
          <p:nvPr/>
        </p:nvSpPr>
        <p:spPr>
          <a:xfrm>
            <a:off x="2795263" y="5673648"/>
            <a:ext cx="3393832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在 </a:t>
            </a:r>
            <a:r>
              <a:rPr lang="en-US" altLang="zh-TW" sz="4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Neo4j </a:t>
            </a:r>
            <a:r>
              <a:rPr lang="zh-TW" altLang="en-US" sz="4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儲存結構化的公差概念與關聯。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D84A493-700B-2A9C-D3AC-AA08CC82B68B}"/>
              </a:ext>
            </a:extLst>
          </p:cNvPr>
          <p:cNvSpPr txBox="1"/>
          <p:nvPr/>
        </p:nvSpPr>
        <p:spPr>
          <a:xfrm>
            <a:off x="8016559" y="5641606"/>
            <a:ext cx="3815861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4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將使用者自然語言轉為</a:t>
            </a:r>
            <a:r>
              <a:rPr lang="en-US" altLang="zh-TW" sz="4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Cypher </a:t>
            </a:r>
            <a:r>
              <a:rPr lang="zh-TW" altLang="en-US" sz="4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查詢語法。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C09AE99-65E5-6479-300F-43F65164E1D5}"/>
              </a:ext>
            </a:extLst>
          </p:cNvPr>
          <p:cNvSpPr txBox="1"/>
          <p:nvPr/>
        </p:nvSpPr>
        <p:spPr>
          <a:xfrm>
            <a:off x="13604460" y="5718722"/>
            <a:ext cx="4008452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LLM </a:t>
            </a:r>
            <a:r>
              <a:rPr lang="zh-TW" altLang="en-US" sz="4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根據 </a:t>
            </a:r>
            <a:r>
              <a:rPr lang="en-US" altLang="zh-TW" sz="4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Neo4j </a:t>
            </a:r>
            <a:r>
              <a:rPr lang="zh-TW" altLang="en-US" sz="4000" b="1" dirty="0">
                <a:latin typeface="Times New Roman" panose="02020603050405020304" pitchFamily="18" charset="0"/>
                <a:ea typeface="標楷體" panose="03000509000000000000" pitchFamily="65" charset="-120"/>
              </a:rPr>
              <a:t>中回傳的精確定義生成回答。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94D065E-1FBE-6DB8-9B82-AA4F76A07CB0}"/>
              </a:ext>
            </a:extLst>
          </p:cNvPr>
          <p:cNvSpPr txBox="1"/>
          <p:nvPr/>
        </p:nvSpPr>
        <p:spPr>
          <a:xfrm>
            <a:off x="1898447" y="1284448"/>
            <a:ext cx="3657601" cy="1599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30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TW" altLang="en-US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流程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049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1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B91F5901-6B71-3653-9876-AFBEAE7D0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0938" y="2142413"/>
            <a:ext cx="15986318" cy="6230622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D6E63B80-0F3A-07DC-524F-3B579EE8D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938" y="157163"/>
            <a:ext cx="16149637" cy="1781175"/>
          </a:xfrm>
        </p:spPr>
        <p:txBody>
          <a:bodyPr/>
          <a:lstStyle/>
          <a:p>
            <a:r>
              <a:rPr lang="zh-TW" altLang="en-US" dirty="0"/>
              <a:t>結合</a:t>
            </a:r>
            <a:r>
              <a:rPr lang="en-US" altLang="zh-TW" dirty="0"/>
              <a:t>CNS</a:t>
            </a:r>
            <a:r>
              <a:rPr lang="zh-TW" altLang="en-US" dirty="0"/>
              <a:t>標準與大型語言模型的</a:t>
            </a:r>
            <a:r>
              <a:rPr lang="en-US" altLang="zh-TW" dirty="0"/>
              <a:t>RAG</a:t>
            </a:r>
            <a:r>
              <a:rPr lang="zh-TW" altLang="en-US" dirty="0"/>
              <a:t>實現</a:t>
            </a:r>
          </a:p>
        </p:txBody>
      </p:sp>
      <p:pic>
        <p:nvPicPr>
          <p:cNvPr id="19" name="圖片 18" descr="一張含有 文字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A5DA6C39-528D-674F-BDEE-BD97ED2F5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938" y="2155489"/>
            <a:ext cx="7867545" cy="2947496"/>
          </a:xfrm>
          <a:prstGeom prst="rect">
            <a:avLst/>
          </a:prstGeom>
        </p:spPr>
      </p:pic>
      <p:pic>
        <p:nvPicPr>
          <p:cNvPr id="7" name="圖片 6" descr="一張含有 文字, 字型, 螢幕擷取畫面, 圖形 的圖片&#10;&#10;AI 產生的內容可能不正確。">
            <a:extLst>
              <a:ext uri="{FF2B5EF4-FFF2-40B4-BE49-F238E27FC236}">
                <a16:creationId xmlns:a16="http://schemas.microsoft.com/office/drawing/2014/main" id="{F0E4C0A5-D15D-363F-CAF9-FD2C75FB4F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318" y="2749085"/>
            <a:ext cx="7370938" cy="1553380"/>
          </a:xfrm>
          <a:prstGeom prst="rect">
            <a:avLst/>
          </a:prstGeom>
        </p:spPr>
      </p:pic>
      <p:pic>
        <p:nvPicPr>
          <p:cNvPr id="21" name="圖片 20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9A511E24-A6FE-4D65-7074-F207EFD911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938" y="2142413"/>
            <a:ext cx="16078917" cy="816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10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F899DC-74E0-7A2A-112F-BE90F39B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術語標準化及查詢優化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A89079-D2D2-42B3-5841-AA6214B63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3534" y="1957606"/>
            <a:ext cx="15585853" cy="7484269"/>
          </a:xfrm>
        </p:spPr>
        <p:txBody>
          <a:bodyPr>
            <a:normAutofit/>
          </a:bodyPr>
          <a:lstStyle/>
          <a:p>
            <a:pPr indent="-457200">
              <a:lnSpc>
                <a:spcPct val="250000"/>
              </a:lnSpc>
              <a:buClr>
                <a:schemeClr val="tx1"/>
              </a:buClr>
            </a:pPr>
            <a:r>
              <a:rPr lang="zh-TW" altLang="en-US" sz="3600" dirty="0"/>
              <a:t> </a:t>
            </a: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一致性：避免翻譯錯誤。</a:t>
            </a:r>
          </a:p>
          <a:p>
            <a:pPr marL="427135" lvl="1" indent="-457200">
              <a:lnSpc>
                <a:spcPct val="25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 準確性：工程術語標準化。</a:t>
            </a:r>
          </a:p>
          <a:p>
            <a:pPr marL="427135" lvl="1" indent="-457200">
              <a:lnSpc>
                <a:spcPct val="25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 中文：符合使用者語言需求。</a:t>
            </a:r>
            <a:endParaRPr lang="en-US" altLang="zh-TW" sz="36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marL="427135" lvl="1" indent="-457200">
              <a:lnSpc>
                <a:spcPct val="25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marL="427135" lvl="1" indent="-457200">
              <a:lnSpc>
                <a:spcPct val="25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訂定查詢規則</a:t>
            </a:r>
            <a:r>
              <a:rPr lang="en-US" altLang="zh-TW" sz="36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:</a:t>
            </a:r>
            <a:endParaRPr lang="zh-TW" altLang="en-US" sz="36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4D58F89-2A7A-DC13-8045-54882311BA15}"/>
              </a:ext>
            </a:extLst>
          </p:cNvPr>
          <p:cNvSpPr txBox="1"/>
          <p:nvPr/>
        </p:nvSpPr>
        <p:spPr>
          <a:xfrm>
            <a:off x="11425125" y="531001"/>
            <a:ext cx="6950446" cy="7484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27135" indent="-457200">
              <a:lnSpc>
                <a:spcPct val="20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Shaft -&gt; “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軸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”( 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避免翻譯成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"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樑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"or "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桿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")</a:t>
            </a:r>
          </a:p>
          <a:p>
            <a:pPr marL="427135" indent="-457200">
              <a:lnSpc>
                <a:spcPct val="20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Hole -&gt; "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孔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"</a:t>
            </a:r>
          </a:p>
          <a:p>
            <a:pPr marL="427135" indent="-457200">
              <a:lnSpc>
                <a:spcPct val="20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Clearance Fit -&gt; "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餘隙配合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"</a:t>
            </a:r>
          </a:p>
          <a:p>
            <a:pPr marL="427135" indent="-457200">
              <a:lnSpc>
                <a:spcPct val="20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Interference Fit -&gt; "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過盈配合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"</a:t>
            </a:r>
          </a:p>
          <a:p>
            <a:pPr marL="427135" indent="-457200">
              <a:lnSpc>
                <a:spcPct val="20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Transition Fit -&gt; "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過渡配合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"</a:t>
            </a:r>
          </a:p>
          <a:p>
            <a:pPr marL="427135" indent="-457200">
              <a:lnSpc>
                <a:spcPct val="20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Upper/Lower Deviation -&gt; "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上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/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下偏差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"</a:t>
            </a:r>
          </a:p>
          <a:p>
            <a:pPr marL="427135" indent="-457200">
              <a:lnSpc>
                <a:spcPct val="20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Nominal Size -&gt; "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名目尺寸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"</a:t>
            </a:r>
          </a:p>
          <a:p>
            <a:pPr marL="427135" indent="-457200">
              <a:lnSpc>
                <a:spcPct val="200000"/>
              </a:lnSpc>
              <a:spcBef>
                <a:spcPts val="701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Interference (Value) -&gt; "</a:t>
            </a:r>
            <a:r>
              <a:rPr lang="zh-TW" altLang="en-US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干涉量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"</a:t>
            </a:r>
            <a:endParaRPr lang="zh-TW" altLang="en-US" sz="28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9B29442-E746-6573-2ED4-7E043AFDF9EE}"/>
              </a:ext>
            </a:extLst>
          </p:cNvPr>
          <p:cNvSpPr txBox="1"/>
          <p:nvPr/>
        </p:nvSpPr>
        <p:spPr>
          <a:xfrm>
            <a:off x="2297350" y="1603663"/>
            <a:ext cx="294286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術語標準化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54E1DD4-E919-F2A4-6323-B6B821F235C5}"/>
              </a:ext>
            </a:extLst>
          </p:cNvPr>
          <p:cNvSpPr txBox="1"/>
          <p:nvPr/>
        </p:nvSpPr>
        <p:spPr>
          <a:xfrm>
            <a:off x="2297350" y="6838017"/>
            <a:ext cx="2344988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查詢優化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A51B55E-2605-1059-B8E3-A9F757531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838" y="8817600"/>
            <a:ext cx="16871300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5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73A353-57CF-25AE-0E23-31858EBFC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製程知識庫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08EEC8-D2E4-826B-9B13-A477E59C6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0494" y="1603771"/>
            <a:ext cx="16826644" cy="8931412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  <a:buClr>
                <a:schemeClr val="tx1"/>
              </a:buClr>
            </a:pP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解決「設計規格」與「製造能力」之間的資訊斷層：</a:t>
            </a:r>
            <a:endParaRPr lang="en-US" altLang="zh-TW" sz="36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marL="1371600" lvl="2" indent="-4572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Times New Roman" panose="02020603050405020304" pitchFamily="18" charset="0"/>
                <a:cs typeface="+mn-cs"/>
              </a:rPr>
              <a:t>目標：給出建議該使用廠內哪台機器來達到製程目標。</a:t>
            </a:r>
          </a:p>
          <a:p>
            <a:pPr marL="1371600" lvl="2" indent="-4572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Times New Roman" panose="02020603050405020304" pitchFamily="18" charset="0"/>
                <a:cs typeface="+mn-cs"/>
              </a:rPr>
              <a:t>目前方案：建立一個互動式網頁 ，將機台規格數據化，未來輸出</a:t>
            </a:r>
            <a:r>
              <a:rPr lang="en-US" altLang="zh-TW" sz="3200" dirty="0">
                <a:latin typeface="Times New Roman" panose="02020603050405020304" pitchFamily="18" charset="0"/>
                <a:cs typeface="+mn-cs"/>
              </a:rPr>
              <a:t>JSON</a:t>
            </a:r>
            <a:r>
              <a:rPr lang="zh-TW" altLang="en-US" sz="3200" dirty="0">
                <a:latin typeface="Times New Roman" panose="02020603050405020304" pitchFamily="18" charset="0"/>
                <a:cs typeface="+mn-cs"/>
              </a:rPr>
              <a:t>文件到</a:t>
            </a:r>
            <a:r>
              <a:rPr lang="en-US" altLang="zh-TW" sz="3200" dirty="0">
                <a:latin typeface="Times New Roman" panose="02020603050405020304" pitchFamily="18" charset="0"/>
                <a:cs typeface="+mn-cs"/>
              </a:rPr>
              <a:t>GAI inference</a:t>
            </a:r>
            <a:r>
              <a:rPr lang="zh-TW" altLang="en-US" sz="3200" dirty="0">
                <a:latin typeface="Times New Roman" panose="02020603050405020304" pitchFamily="18" charset="0"/>
                <a:cs typeface="+mn-cs"/>
              </a:rPr>
              <a:t>進行推論。</a:t>
            </a:r>
          </a:p>
          <a:p>
            <a:pPr marL="1371600" lvl="2" indent="-457200">
              <a:lnSpc>
                <a:spcPct val="2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Times New Roman" panose="02020603050405020304" pitchFamily="18" charset="0"/>
                <a:cs typeface="+mn-cs"/>
              </a:rPr>
              <a:t>核心價值：</a:t>
            </a:r>
          </a:p>
          <a:p>
            <a:pPr marL="1460967" lvl="3" indent="-457200">
              <a:lnSpc>
                <a:spcPct val="2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降低風險：避免指派精度不足的機台。</a:t>
            </a:r>
          </a:p>
          <a:p>
            <a:pPr marL="1460967" lvl="3" indent="-457200">
              <a:lnSpc>
                <a:spcPct val="2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提升效率：快速篩選，取代人工翻閱數十本型錄。</a:t>
            </a:r>
            <a:endParaRPr lang="en-US" altLang="zh-TW" sz="36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>
              <a:lnSpc>
                <a:spcPct val="200000"/>
              </a:lnSpc>
              <a:buClr>
                <a:schemeClr val="tx1"/>
              </a:buClr>
            </a:pPr>
            <a:r>
              <a:rPr lang="zh-TW" altLang="en-US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以合作廠商的公開機台型錄當作演示範例。</a:t>
            </a:r>
          </a:p>
          <a:p>
            <a:pPr marL="96106" indent="0">
              <a:lnSpc>
                <a:spcPct val="200000"/>
              </a:lnSpc>
              <a:buClr>
                <a:schemeClr val="tx1"/>
              </a:buClr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+mn-cs"/>
              </a:rPr>
              <a:t>(</a:t>
            </a:r>
            <a:r>
              <a:rPr lang="zh-TW" altLang="en-US" sz="3600" dirty="0">
                <a:latin typeface="Times New Roman" panose="02020603050405020304" pitchFamily="18" charset="0"/>
                <a:cs typeface="+mn-cs"/>
              </a:rPr>
              <a:t>東台精機、雷應科技、巧新科技、永進機械、亞崴機電、鑽全實業</a:t>
            </a:r>
            <a:r>
              <a:rPr lang="en-US" altLang="zh-TW" sz="3600" dirty="0">
                <a:latin typeface="Times New Roman" panose="02020603050405020304" pitchFamily="18" charset="0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20547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6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8BBB506C-B96E-CB80-B239-43696FCD2E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100" y="2778710"/>
            <a:ext cx="3486637" cy="2567196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6E30F044-84D3-1BAB-8707-4D006889FDBF}"/>
              </a:ext>
            </a:extLst>
          </p:cNvPr>
          <p:cNvSpPr txBox="1"/>
          <p:nvPr/>
        </p:nvSpPr>
        <p:spPr>
          <a:xfrm>
            <a:off x="2015447" y="1761138"/>
            <a:ext cx="4091940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b="1" dirty="0"/>
              <a:t> </a:t>
            </a:r>
            <a:r>
              <a:rPr lang="en-US" altLang="zh-TW" sz="3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Tongtai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</a:rPr>
              <a:t> TG-2500[1.6M]</a:t>
            </a:r>
            <a:endParaRPr lang="zh-TW" alt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6000DD37-23A4-59B9-B86F-11E5DDA74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938" y="157163"/>
            <a:ext cx="16149637" cy="1781175"/>
          </a:xfrm>
        </p:spPr>
        <p:txBody>
          <a:bodyPr/>
          <a:lstStyle/>
          <a:p>
            <a:r>
              <a:rPr lang="zh-TW" altLang="en-US" dirty="0"/>
              <a:t>製程知識庫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5C26ECF-C728-C5FA-E11C-DD704CDB0FFF}"/>
              </a:ext>
            </a:extLst>
          </p:cNvPr>
          <p:cNvSpPr txBox="1"/>
          <p:nvPr/>
        </p:nvSpPr>
        <p:spPr>
          <a:xfrm>
            <a:off x="7024183" y="1803531"/>
            <a:ext cx="2433498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b="1" dirty="0"/>
              <a:t> </a:t>
            </a:r>
            <a:r>
              <a:rPr lang="en-US" altLang="zh-TW" sz="3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Tongtai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</a:rPr>
              <a:t> VP-8</a:t>
            </a:r>
            <a:endParaRPr lang="zh-TW" alt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2" name="圖片 11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58515658-D7E7-4113-C119-0146CFD4E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444" y="2869211"/>
            <a:ext cx="3200847" cy="2567196"/>
          </a:xfrm>
          <a:prstGeom prst="rect">
            <a:avLst/>
          </a:prstGeom>
        </p:spPr>
      </p:pic>
      <p:pic>
        <p:nvPicPr>
          <p:cNvPr id="14" name="圖片 1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73E3A5A-AD15-D1BC-30D3-17DB303FA6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6206" y="2869211"/>
            <a:ext cx="3419952" cy="2567196"/>
          </a:xfrm>
          <a:prstGeom prst="rect">
            <a:avLst/>
          </a:prstGeom>
        </p:spPr>
      </p:pic>
      <p:pic>
        <p:nvPicPr>
          <p:cNvPr id="16" name="圖片 1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AE4393CF-B359-03D5-5E3E-E321BEC62F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865" y="2927403"/>
            <a:ext cx="3324689" cy="2470898"/>
          </a:xfrm>
          <a:prstGeom prst="rect">
            <a:avLst/>
          </a:prstGeom>
        </p:spPr>
      </p:pic>
      <p:pic>
        <p:nvPicPr>
          <p:cNvPr id="18" name="圖片 17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F0C53C29-BE3A-721F-9A2A-B6713FB65E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099" y="6652260"/>
            <a:ext cx="3486637" cy="3432576"/>
          </a:xfrm>
          <a:prstGeom prst="rect">
            <a:avLst/>
          </a:prstGeom>
        </p:spPr>
      </p:pic>
      <p:pic>
        <p:nvPicPr>
          <p:cNvPr id="20" name="圖片 19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86D73E44-7FC6-481E-E643-79FECC2AD7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443" y="6714838"/>
            <a:ext cx="3200847" cy="3369997"/>
          </a:xfrm>
          <a:prstGeom prst="rect">
            <a:avLst/>
          </a:prstGeom>
        </p:spPr>
      </p:pic>
      <p:pic>
        <p:nvPicPr>
          <p:cNvPr id="22" name="圖片 21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5F790324-72EC-5224-0863-4CDBAAB291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176" y="6714838"/>
            <a:ext cx="3419952" cy="3369996"/>
          </a:xfrm>
          <a:prstGeom prst="rect">
            <a:avLst/>
          </a:prstGeom>
        </p:spPr>
      </p:pic>
      <p:pic>
        <p:nvPicPr>
          <p:cNvPr id="24" name="圖片 23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D79656B6-323A-7C6E-70FE-64546FD527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865" y="6714838"/>
            <a:ext cx="3260848" cy="3369996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354BE808-4A7D-6E71-119D-81A1BF377941}"/>
              </a:ext>
            </a:extLst>
          </p:cNvPr>
          <p:cNvSpPr txBox="1"/>
          <p:nvPr/>
        </p:nvSpPr>
        <p:spPr>
          <a:xfrm>
            <a:off x="10764177" y="1860135"/>
            <a:ext cx="3419951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b="1" dirty="0"/>
              <a:t>  </a:t>
            </a:r>
            <a:r>
              <a:rPr lang="en-US" altLang="zh-TW" sz="3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Tongtai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</a:rPr>
              <a:t> GT-800E</a:t>
            </a:r>
            <a:endParaRPr lang="zh-TW" alt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C649E22-1014-C41A-2760-4621F7F71B63}"/>
              </a:ext>
            </a:extLst>
          </p:cNvPr>
          <p:cNvSpPr txBox="1"/>
          <p:nvPr/>
        </p:nvSpPr>
        <p:spPr>
          <a:xfrm>
            <a:off x="14670264" y="1933355"/>
            <a:ext cx="3900311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b="1" dirty="0"/>
              <a:t> </a:t>
            </a:r>
            <a:r>
              <a:rPr lang="en-US" altLang="zh-TW" sz="30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Tongtai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</a:rPr>
              <a:t> TMS-3000[S]</a:t>
            </a:r>
            <a:endParaRPr lang="zh-TW" alt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E8CB29E-F89E-2168-5893-7BCCA137812B}"/>
              </a:ext>
            </a:extLst>
          </p:cNvPr>
          <p:cNvSpPr txBox="1"/>
          <p:nvPr/>
        </p:nvSpPr>
        <p:spPr>
          <a:xfrm>
            <a:off x="2318100" y="5634688"/>
            <a:ext cx="3200847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</a:rPr>
              <a:t>AWEA A+ 1020Ⅱ</a:t>
            </a:r>
            <a:endParaRPr lang="zh-TW" alt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653934E-9890-B127-ECB5-917C92F853AE}"/>
              </a:ext>
            </a:extLst>
          </p:cNvPr>
          <p:cNvSpPr txBox="1"/>
          <p:nvPr/>
        </p:nvSpPr>
        <p:spPr>
          <a:xfrm>
            <a:off x="6794594" y="5720790"/>
            <a:ext cx="2817173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</a:rPr>
              <a:t>AWEA AH-500</a:t>
            </a:r>
            <a:endParaRPr lang="zh-TW" alt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A01A051-C5A4-15BE-E8CB-B18458298FE5}"/>
              </a:ext>
            </a:extLst>
          </p:cNvPr>
          <p:cNvSpPr txBox="1"/>
          <p:nvPr/>
        </p:nvSpPr>
        <p:spPr>
          <a:xfrm>
            <a:off x="11065566" y="5720790"/>
            <a:ext cx="2817173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b="1" dirty="0"/>
              <a:t> 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</a:rPr>
              <a:t>Mazak FJV-250</a:t>
            </a:r>
            <a:endParaRPr lang="zh-TW" alt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5930B1A-E739-8ECF-4249-21DDDB418A8F}"/>
              </a:ext>
            </a:extLst>
          </p:cNvPr>
          <p:cNvSpPr txBox="1"/>
          <p:nvPr/>
        </p:nvSpPr>
        <p:spPr>
          <a:xfrm>
            <a:off x="15398460" y="5720790"/>
            <a:ext cx="2433498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b="1" dirty="0"/>
              <a:t> </a:t>
            </a:r>
            <a:r>
              <a:rPr lang="en-US" altLang="zh-TW" sz="3000" dirty="0">
                <a:latin typeface="Times New Roman" panose="02020603050405020304" pitchFamily="18" charset="0"/>
                <a:ea typeface="標楷體" panose="03000509000000000000" pitchFamily="65" charset="-120"/>
              </a:rPr>
              <a:t>YCM FP66A</a:t>
            </a:r>
            <a:endParaRPr lang="zh-TW" altLang="en-US" sz="30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6789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FFABEC-CF15-ED6D-E709-445FCFFB6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442" y="-52754"/>
            <a:ext cx="16149533" cy="1781969"/>
          </a:xfrm>
        </p:spPr>
        <p:txBody>
          <a:bodyPr/>
          <a:lstStyle/>
          <a:p>
            <a:r>
              <a:rPr lang="zh-TW" altLang="en-US" dirty="0"/>
              <a:t>製程知識庫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568C1D-9E09-39B3-8D16-D7B2A915C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7012" y="838230"/>
            <a:ext cx="15585853" cy="1008181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210000"/>
              </a:lnSpc>
              <a:buClr>
                <a:schemeClr val="tx1"/>
              </a:buClr>
            </a:pPr>
            <a:r>
              <a:rPr lang="zh-TW" altLang="en-US" sz="65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 系統介面概覽 </a:t>
            </a:r>
            <a:endParaRPr lang="en-US" altLang="zh-TW" sz="65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lvl="1">
              <a:lnSpc>
                <a:spcPct val="21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TW" altLang="en-US" sz="6033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以前端互動網頁呈現，分為三大區塊：</a:t>
            </a:r>
            <a:endParaRPr lang="zh-TW" altLang="en-US" sz="38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marL="1447722" lvl="2" indent="-742950">
              <a:lnSpc>
                <a:spcPct val="21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zh-TW" altLang="en-US" sz="5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控制面板 </a:t>
            </a:r>
            <a:endParaRPr lang="en-US" altLang="zh-TW" sz="5100" dirty="0">
              <a:latin typeface="Times New Roman" panose="02020603050405020304" pitchFamily="18" charset="0"/>
              <a:cs typeface="+mn-cs"/>
            </a:endParaRPr>
          </a:p>
          <a:p>
            <a:pPr marL="1276272" lvl="2" indent="-571500">
              <a:lnSpc>
                <a:spcPct val="210000"/>
              </a:lnSpc>
              <a:buClr>
                <a:schemeClr val="tx1"/>
              </a:buClr>
              <a:buFont typeface="Wingdings" panose="05000000000000000000" pitchFamily="2" charset="2"/>
              <a:buChar char="p"/>
            </a:pPr>
            <a:r>
              <a:rPr lang="zh-TW" alt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場景選擇：通用 </a:t>
            </a:r>
            <a:r>
              <a:rPr lang="en-US" altLang="zh-TW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/</a:t>
            </a:r>
            <a:r>
              <a:rPr lang="zh-TW" alt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模具 </a:t>
            </a:r>
            <a:r>
              <a:rPr lang="en-US" altLang="zh-TW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/ </a:t>
            </a:r>
            <a:r>
              <a:rPr lang="zh-TW" alt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航太 </a:t>
            </a:r>
            <a:r>
              <a:rPr lang="en-US" altLang="zh-TW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/ </a:t>
            </a:r>
            <a:r>
              <a:rPr lang="zh-TW" alt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量產 。</a:t>
            </a:r>
          </a:p>
          <a:p>
            <a:pPr marL="1276272" lvl="2" indent="-571500">
              <a:lnSpc>
                <a:spcPct val="210000"/>
              </a:lnSpc>
              <a:buClr>
                <a:schemeClr val="tx1"/>
              </a:buClr>
              <a:buFont typeface="Wingdings" panose="05000000000000000000" pitchFamily="2" charset="2"/>
              <a:buChar char="p"/>
            </a:pPr>
            <a:r>
              <a:rPr lang="zh-TW" alt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硬體規格：行程、轉速、刀庫、棒材送料能力。</a:t>
            </a:r>
          </a:p>
          <a:p>
            <a:pPr marL="1276272" lvl="2" indent="-571500">
              <a:lnSpc>
                <a:spcPct val="210000"/>
              </a:lnSpc>
              <a:buClr>
                <a:schemeClr val="tx1"/>
              </a:buClr>
              <a:buFont typeface="Wingdings" panose="05000000000000000000" pitchFamily="2" charset="2"/>
              <a:buChar char="p"/>
            </a:pPr>
            <a:r>
              <a:rPr lang="zh-TW" alt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精度需求：重現性、定位精度 。</a:t>
            </a:r>
          </a:p>
          <a:p>
            <a:pPr marL="1447722" lvl="2" indent="-742950">
              <a:lnSpc>
                <a:spcPct val="210000"/>
              </a:lnSpc>
              <a:buClr>
                <a:schemeClr val="tx1"/>
              </a:buClr>
              <a:buFont typeface="+mj-lt"/>
              <a:buAutoNum type="arabicPeriod" startAt="2"/>
            </a:pPr>
            <a:r>
              <a:rPr lang="zh-TW" altLang="en-US" sz="5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儀錶板</a:t>
            </a:r>
            <a:endParaRPr lang="en-US" altLang="zh-TW" sz="51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marL="1276272" lvl="2" indent="-571500">
              <a:lnSpc>
                <a:spcPct val="210000"/>
              </a:lnSpc>
              <a:buClr>
                <a:schemeClr val="tx1"/>
              </a:buClr>
              <a:buFont typeface="Wingdings" panose="05000000000000000000" pitchFamily="2" charset="2"/>
              <a:buChar char="p"/>
            </a:pPr>
            <a:r>
              <a:rPr lang="zh-TW" alt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顯示符合與淘汰的數量、</a:t>
            </a:r>
            <a:r>
              <a:rPr lang="en-US" altLang="zh-TW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Top 1 </a:t>
            </a:r>
            <a:r>
              <a:rPr lang="zh-TW" alt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推薦分數。</a:t>
            </a:r>
          </a:p>
          <a:p>
            <a:pPr marL="1447722" lvl="2" indent="-742950">
              <a:lnSpc>
                <a:spcPct val="210000"/>
              </a:lnSpc>
              <a:buClr>
                <a:schemeClr val="tx1"/>
              </a:buClr>
              <a:buFont typeface="+mj-lt"/>
              <a:buAutoNum type="arabicPeriod" startAt="3"/>
            </a:pPr>
            <a:r>
              <a:rPr lang="zh-TW" altLang="en-US" sz="51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推薦清單 </a:t>
            </a:r>
            <a:endParaRPr lang="en-US" altLang="zh-TW" sz="51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marL="1276272" lvl="2" indent="-571500">
              <a:lnSpc>
                <a:spcPct val="210000"/>
              </a:lnSpc>
              <a:buClr>
                <a:schemeClr val="tx1"/>
              </a:buClr>
              <a:buFont typeface="Wingdings" panose="05000000000000000000" pitchFamily="2" charset="2"/>
              <a:buChar char="p"/>
            </a:pPr>
            <a:r>
              <a:rPr lang="zh-TW" alt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依據「綜合評分」、</a:t>
            </a:r>
            <a:r>
              <a:rPr lang="zh-TW" altLang="en-US" sz="4400" dirty="0">
                <a:latin typeface="Times New Roman" panose="02020603050405020304" pitchFamily="18" charset="0"/>
              </a:rPr>
              <a:t>「</a:t>
            </a:r>
            <a:r>
              <a:rPr lang="zh-TW" alt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規格符合度</a:t>
            </a:r>
            <a:r>
              <a:rPr lang="zh-TW" altLang="en-US" sz="4400" dirty="0">
                <a:latin typeface="Times New Roman" panose="02020603050405020304" pitchFamily="18" charset="0"/>
              </a:rPr>
              <a:t>」</a:t>
            </a:r>
            <a:r>
              <a:rPr lang="zh-TW" alt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、</a:t>
            </a:r>
            <a:r>
              <a:rPr lang="zh-TW" altLang="en-US" sz="4400" dirty="0">
                <a:latin typeface="Times New Roman" panose="02020603050405020304" pitchFamily="18" charset="0"/>
              </a:rPr>
              <a:t>「資料</a:t>
            </a:r>
            <a:r>
              <a:rPr lang="zh-TW" alt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信賴度</a:t>
            </a:r>
            <a:r>
              <a:rPr lang="zh-TW" altLang="en-US" sz="4400" dirty="0">
                <a:latin typeface="Times New Roman" panose="02020603050405020304" pitchFamily="18" charset="0"/>
              </a:rPr>
              <a:t>」</a:t>
            </a:r>
            <a:r>
              <a:rPr lang="zh-TW" altLang="en-US" sz="4400" dirty="0">
                <a:latin typeface="Times New Roman" panose="02020603050405020304" pitchFamily="18" charset="0"/>
                <a:cs typeface="+mn-cs"/>
              </a:rPr>
              <a:t>排序，</a:t>
            </a:r>
            <a:r>
              <a:rPr lang="zh-TW" alt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提供推論理由。</a:t>
            </a:r>
          </a:p>
        </p:txBody>
      </p:sp>
    </p:spTree>
    <p:extLst>
      <p:ext uri="{BB962C8B-B14F-4D97-AF65-F5344CB8AC3E}">
        <p14:creationId xmlns:p14="http://schemas.microsoft.com/office/powerpoint/2010/main" val="3715627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B602B5-1F44-41F6-1F47-3E26BAC9E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製程知識庫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2569E26-1787-8676-9581-7528282A33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63151" y="1938599"/>
                <a:ext cx="15585853" cy="8961823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zh-TW" altLang="en-US" sz="4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定位精度</a:t>
                </a:r>
                <a:r>
                  <a:rPr lang="en-US" altLang="zh-TW" sz="41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:</a:t>
                </a:r>
                <a:r>
                  <a:rPr lang="zh-TW" altLang="en-US" sz="4400" dirty="0">
                    <a:solidFill>
                      <a:schemeClr val="tx1"/>
                    </a:solidFill>
                  </a:rPr>
                  <a:t>「實際到達的位置，離理想位置有多遠」。</a:t>
                </a:r>
                <a:endParaRPr lang="en-US" altLang="zh-TW" sz="4400" dirty="0">
                  <a:solidFill>
                    <a:schemeClr val="tx1"/>
                  </a:solidFill>
                </a:endParaRPr>
              </a:p>
              <a:p>
                <a:pPr marL="416456" lvl="1" indent="0">
                  <a:buClr>
                    <a:schemeClr val="tx1"/>
                  </a:buClr>
                  <a:buNone/>
                </a:pPr>
                <a:r>
                  <a:rPr lang="zh-TW" altLang="en-US" sz="2733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在同一個目標位置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733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273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zh-TW" altLang="ar-AE" sz="273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TW" altLang="ar-AE" sz="2733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：</a:t>
                </a:r>
              </a:p>
              <a:p>
                <a:pPr marL="416456" lvl="1" indent="0">
                  <a:buClr>
                    <a:schemeClr val="tx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n-US" sz="2733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+mn-cs"/>
                        </a:rPr>
                        <m:t>定位精度</m:t>
                      </m:r>
                      <m:r>
                        <m:rPr>
                          <m:nor/>
                        </m:rPr>
                        <a:rPr lang="en-US" altLang="zh-TW" sz="2733" b="0" i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+mn-cs"/>
                        </a:rPr>
                        <m:t>A</m:t>
                      </m:r>
                      <m:r>
                        <a:rPr lang="en-US" altLang="zh-TW" sz="2733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∣"/>
                          <m:endChr m:val="∣"/>
                          <m:ctrlPr>
                            <a:rPr lang="ar-AE" altLang="zh-TW" sz="2733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sz="2733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limUpp>
                                <m:limUppPr>
                                  <m:ctrlPr>
                                    <a:rPr lang="ar-AE" altLang="zh-TW" sz="2733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limUppPr>
                                <m:e>
                                  <m:r>
                                    <a:rPr lang="zh-TW" altLang="ar-AE" sz="2733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lim>
                                  <m:r>
                                    <a:rPr lang="ar-AE" altLang="zh-TW" sz="2733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ˉ</m:t>
                                  </m:r>
                                </m:lim>
                              </m:limUpp>
                            </m:e>
                            <m:sub>
                              <m:r>
                                <a:rPr lang="zh-TW" altLang="ar-AE" sz="2733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𝑎𝑐𝑡𝑢𝑎𝑙</m:t>
                              </m:r>
                            </m:sub>
                          </m:sSub>
                          <m:r>
                            <a:rPr lang="ar-AE" altLang="zh-TW" sz="2733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altLang="zh-TW" sz="2733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TW" altLang="ar-AE" sz="2733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ar-AE" sz="2733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𝑐𝑜𝑚𝑚𝑎𝑛𝑑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733" dirty="0">
                  <a:solidFill>
                    <a:schemeClr val="tx1"/>
                  </a:solidFill>
                  <a:latin typeface="Times New Roman" panose="02020603050405020304" pitchFamily="18" charset="0"/>
                  <a:cs typeface="+mn-cs"/>
                </a:endParaRPr>
              </a:p>
              <a:p>
                <a:pPr marL="416456" lvl="1" indent="0">
                  <a:buClr>
                    <a:schemeClr val="tx1"/>
                  </a:buCl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733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lang="zh-TW" altLang="ar-AE" sz="273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zh-TW" altLang="ar-AE" sz="273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𝑐𝑜𝑚𝑚𝑎𝑛𝑑</m:t>
                        </m:r>
                      </m:sub>
                    </m:sSub>
                  </m:oMath>
                </a14:m>
                <a:r>
                  <a:rPr lang="zh-TW" altLang="ar-AE" sz="2733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：</a:t>
                </a:r>
                <a:r>
                  <a:rPr lang="zh-TW" altLang="en-US" sz="2733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指令位置</a:t>
                </a:r>
              </a:p>
              <a:p>
                <a:pPr marL="416456" lvl="1" indent="0">
                  <a:buClr>
                    <a:schemeClr val="tx1"/>
                  </a:buCl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733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limUpp>
                          <m:limUppPr>
                            <m:ctrlPr>
                              <a:rPr lang="ar-AE" altLang="zh-TW" sz="2733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limUppPr>
                          <m:e>
                            <m:r>
                              <a:rPr lang="zh-TW" altLang="ar-AE" sz="2733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lim>
                            <m:r>
                              <a:rPr lang="ar-AE" altLang="zh-TW" sz="2733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cs"/>
                              </a:rPr>
                              <m:t>ˉ</m:t>
                            </m:r>
                          </m:lim>
                        </m:limUpp>
                      </m:e>
                      <m:sub>
                        <m:r>
                          <a:rPr lang="zh-TW" altLang="ar-AE" sz="273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𝑎𝑐𝑡𝑢𝑎𝑙</m:t>
                        </m:r>
                      </m:sub>
                    </m:sSub>
                  </m:oMath>
                </a14:m>
                <a:r>
                  <a:rPr lang="zh-TW" altLang="ar-AE" sz="2733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：</a:t>
                </a:r>
                <a:r>
                  <a:rPr lang="zh-TW" altLang="en-US" sz="2733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多次到定位後的平均實際位置</a:t>
                </a:r>
                <a:endParaRPr lang="en-US" altLang="zh-TW" sz="2733" dirty="0">
                  <a:solidFill>
                    <a:schemeClr val="tx1"/>
                  </a:solidFill>
                  <a:latin typeface="Times New Roman" panose="02020603050405020304" pitchFamily="18" charset="0"/>
                  <a:cs typeface="+mn-cs"/>
                </a:endParaRPr>
              </a:p>
              <a:p>
                <a:pPr marL="416456" lvl="1" indent="0">
                  <a:buClr>
                    <a:schemeClr val="tx1"/>
                  </a:buClr>
                  <a:buNone/>
                </a:pPr>
                <a:endParaRPr lang="zh-TW" altLang="en-US" sz="2733" dirty="0">
                  <a:solidFill>
                    <a:schemeClr val="tx1"/>
                  </a:solidFill>
                  <a:latin typeface="Times New Roman" panose="02020603050405020304" pitchFamily="18" charset="0"/>
                  <a:cs typeface="+mn-cs"/>
                </a:endParaRPr>
              </a:p>
              <a:p>
                <a:pPr>
                  <a:buClr>
                    <a:schemeClr val="tx1"/>
                  </a:buClr>
                </a:pPr>
                <a:r>
                  <a:rPr lang="zh-TW" altLang="en-US" sz="4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算法 </a:t>
                </a:r>
                <a:r>
                  <a:rPr lang="en-US" altLang="zh-TW" sz="4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1</a:t>
                </a:r>
                <a:r>
                  <a:rPr lang="zh-TW" altLang="en-US" sz="4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：平均偏差法</a:t>
                </a:r>
                <a:r>
                  <a:rPr lang="en-US" altLang="zh-TW" sz="4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:</a:t>
                </a:r>
              </a:p>
              <a:p>
                <a:pPr marL="416456" lvl="1" indent="0">
                  <a:buClr>
                    <a:schemeClr val="tx1"/>
                  </a:buClr>
                  <a:buNone/>
                </a:pPr>
                <a:r>
                  <a:rPr lang="zh-TW" altLang="en-US" sz="2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量測 </a:t>
                </a:r>
                <a:r>
                  <a:rPr lang="en-US" altLang="zh-TW" sz="2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n </a:t>
                </a:r>
                <a:r>
                  <a:rPr lang="zh-TW" altLang="en-US" sz="2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次：</a:t>
                </a:r>
              </a:p>
              <a:p>
                <a:pPr marL="416456" lvl="1" indent="0">
                  <a:buClr>
                    <a:schemeClr val="tx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𝐴</m:t>
                      </m:r>
                      <m:r>
                        <a:rPr lang="en-US" altLang="zh-TW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∣"/>
                          <m:endChr m:val="∣"/>
                          <m:ctrlPr>
                            <a:rPr lang="ar-AE" altLang="zh-TW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altLang="zh-TW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ar-AE" altLang="zh-TW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TW" altLang="ar-AE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grow m:val="on"/>
                              <m:ctrlPr>
                                <a:rPr lang="ar-AE" altLang="zh-TW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a:rPr lang="zh-TW" altLang="ar-AE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  <m:r>
                                <a:rPr lang="ar-AE" altLang="zh-TW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=</m:t>
                              </m:r>
                              <m:r>
                                <a:rPr lang="ar-AE" altLang="zh-TW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TW" altLang="ar-AE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altLang="zh-TW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TW" altLang="ar-AE" sz="28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ar-AE" altLang="zh-TW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altLang="zh-TW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zh-TW" altLang="ar-AE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ar-AE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+mn-cs"/>
                </a:endParaRPr>
              </a:p>
              <a:p>
                <a:pPr marL="416456" lvl="1" indent="0">
                  <a:buClr>
                    <a:schemeClr val="tx1"/>
                  </a:buClr>
                  <a:buNone/>
                </a:pPr>
                <a:endParaRPr lang="ar-AE" altLang="zh-TW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+mn-cs"/>
                </a:endParaRPr>
              </a:p>
              <a:p>
                <a:pPr>
                  <a:buClr>
                    <a:schemeClr val="tx1"/>
                  </a:buClr>
                </a:pPr>
                <a:r>
                  <a:rPr lang="zh-TW" altLang="en-US" sz="4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算法 </a:t>
                </a:r>
                <a:r>
                  <a:rPr lang="en-US" altLang="zh-TW" sz="4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2</a:t>
                </a:r>
                <a:r>
                  <a:rPr lang="zh-TW" altLang="en-US" sz="4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：最大偏差法（常見於規格書）</a:t>
                </a:r>
              </a:p>
              <a:p>
                <a:pPr marL="96106" indent="0">
                  <a:buNone/>
                </a:pPr>
                <a:endParaRPr lang="ar-AE" altLang="zh-TW" sz="2700" dirty="0">
                  <a:solidFill>
                    <a:schemeClr val="tx1"/>
                  </a:solidFill>
                  <a:latin typeface="Times New Roman" panose="02020603050405020304" pitchFamily="18" charset="0"/>
                  <a:cs typeface="+mn-cs"/>
                </a:endParaRPr>
              </a:p>
              <a:p>
                <a:pPr marL="416456" lvl="1" indent="0">
                  <a:buClr>
                    <a:schemeClr val="tx1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7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𝐴</m:t>
                      </m:r>
                      <m:r>
                        <a:rPr lang="en-US" altLang="zh-TW" sz="27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lang="ar-AE" altLang="zh-TW" sz="27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7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ar-AE" altLang="zh-TW" sz="27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ar-AE" altLang="zh-TW" sz="27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ar-AE" altLang="zh-TW" sz="2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7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TW" altLang="ar-AE" sz="27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altLang="zh-TW" sz="27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sz="27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7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TW" altLang="ar-AE" sz="27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ar-AE" altLang="zh-TW" sz="27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  <m:t>∣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br>
                  <a:rPr lang="zh-TW" altLang="en-US" sz="4400" dirty="0"/>
                </a:br>
                <a:endParaRPr lang="en-US" altLang="zh-TW" sz="4400" dirty="0"/>
              </a:p>
              <a:p>
                <a:pPr marL="416456" lvl="1" indent="0">
                  <a:buClr>
                    <a:schemeClr val="tx1"/>
                  </a:buClr>
                  <a:buNone/>
                </a:pPr>
                <a:endParaRPr lang="en-US" altLang="zh-TW" sz="4400" dirty="0">
                  <a:solidFill>
                    <a:schemeClr val="tx1"/>
                  </a:solidFill>
                  <a:latin typeface="Times New Roman" panose="02020603050405020304" pitchFamily="18" charset="0"/>
                  <a:cs typeface="+mn-cs"/>
                </a:endParaRPr>
              </a:p>
              <a:p>
                <a:pPr marL="873656" lvl="1" indent="-457200">
                  <a:buClr>
                    <a:schemeClr val="tx1"/>
                  </a:buClr>
                  <a:buFont typeface="Wingdings" panose="05000000000000000000" pitchFamily="2" charset="2"/>
                  <a:buChar char="p"/>
                </a:pPr>
                <a:r>
                  <a:rPr lang="zh-TW" altLang="en-US" sz="2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常見於工具機規格書的 </a:t>
                </a:r>
                <a:r>
                  <a:rPr lang="en-US" altLang="zh-TW" sz="2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±X µm </a:t>
                </a:r>
                <a:r>
                  <a:rPr lang="zh-TW" altLang="en-US" sz="2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+mn-cs"/>
                  </a:rPr>
                  <a:t>就是這種。</a:t>
                </a:r>
              </a:p>
              <a:p>
                <a:pPr marL="96106" indent="0">
                  <a:buNone/>
                </a:pPr>
                <a:br>
                  <a:rPr lang="zh-TW" altLang="en-US" sz="4400" dirty="0"/>
                </a:br>
                <a:endParaRPr lang="zh-TW" altLang="en-US" sz="4400" dirty="0"/>
              </a:p>
              <a:p>
                <a:pPr>
                  <a:buClr>
                    <a:schemeClr val="tx1"/>
                  </a:buClr>
                </a:pPr>
                <a:endParaRPr lang="zh-TW" altLang="en-US" sz="4100" dirty="0">
                  <a:solidFill>
                    <a:schemeClr val="tx1"/>
                  </a:solidFill>
                  <a:latin typeface="Times New Roman" panose="020206030504050203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2569E26-1787-8676-9581-7528282A33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63151" y="1938599"/>
                <a:ext cx="15585853" cy="8961823"/>
              </a:xfrm>
              <a:blipFill>
                <a:blip r:embed="rId2"/>
                <a:stretch>
                  <a:fillRect l="-156" t="-25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9701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1A1A59-00AC-E421-42D1-E77FE0EE1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2829" y="2098901"/>
            <a:ext cx="15585853" cy="748426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zh-TW" alt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重現性</a:t>
            </a:r>
            <a:r>
              <a:rPr lang="en-US" altLang="zh-TW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:</a:t>
            </a:r>
            <a:r>
              <a:rPr lang="zh-TW" alt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在相同操作者、相同設備、相同方法、相同環境、在短時間內對同一特徵進行多次量測，其量測結果的離散程度。</a:t>
            </a:r>
            <a:endParaRPr lang="en-US" altLang="zh-TW" sz="38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zh-TW" alt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平均值</a:t>
            </a:r>
            <a:r>
              <a:rPr lang="en-US" altLang="zh-TW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:</a:t>
            </a:r>
            <a:r>
              <a:rPr lang="zh-TW" alt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                                    標準差</a:t>
            </a:r>
            <a:r>
              <a:rPr lang="en-US" altLang="zh-TW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: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TW" sz="38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TW" sz="38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US" altLang="zh-TW" sz="38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zh-TW" alt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重現性用「</a:t>
            </a:r>
            <a:r>
              <a:rPr lang="en-US" altLang="zh-TW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6σ</a:t>
            </a:r>
            <a:r>
              <a:rPr lang="zh-TW" alt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」表示</a:t>
            </a:r>
            <a:r>
              <a:rPr lang="en-US" altLang="zh-TW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:</a:t>
            </a:r>
          </a:p>
          <a:p>
            <a:pPr marL="96106" indent="0">
              <a:lnSpc>
                <a:spcPct val="150000"/>
              </a:lnSpc>
              <a:buClr>
                <a:schemeClr val="tx1"/>
              </a:buClr>
              <a:buNone/>
            </a:pPr>
            <a:r>
              <a:rPr lang="zh-TW" alt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設備規格書、工具機廠會寫</a:t>
            </a:r>
            <a:r>
              <a:rPr lang="en-US" altLang="zh-TW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Repeatability = ±3</a:t>
            </a:r>
            <a:r>
              <a:rPr lang="el-GR" altLang="zh-TW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σ</a:t>
            </a:r>
            <a:r>
              <a:rPr lang="en-US" altLang="zh-TW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 </a:t>
            </a:r>
            <a:r>
              <a:rPr lang="zh-TW" alt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或 </a:t>
            </a:r>
            <a:r>
              <a:rPr lang="en-US" altLang="zh-TW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Repeatability = 6</a:t>
            </a:r>
            <a:r>
              <a:rPr lang="el-GR" altLang="zh-TW" sz="3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σ</a:t>
            </a:r>
          </a:p>
          <a:p>
            <a:pPr>
              <a:lnSpc>
                <a:spcPct val="80000"/>
              </a:lnSpc>
              <a:buClr>
                <a:schemeClr val="tx1"/>
              </a:buClr>
            </a:pPr>
            <a:endParaRPr lang="zh-TW" altLang="en-US" sz="38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BA424926-AB60-9561-AEA0-F2FADBAB7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938" y="157163"/>
            <a:ext cx="16149637" cy="1781175"/>
          </a:xfrm>
        </p:spPr>
        <p:txBody>
          <a:bodyPr/>
          <a:lstStyle/>
          <a:p>
            <a:r>
              <a:rPr lang="zh-TW" altLang="en-US" dirty="0"/>
              <a:t>製程知識庫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F1299B9-4654-748C-B429-949391347C6E}"/>
                  </a:ext>
                </a:extLst>
              </p:cNvPr>
              <p:cNvSpPr txBox="1"/>
              <p:nvPr/>
            </p:nvSpPr>
            <p:spPr>
              <a:xfrm>
                <a:off x="3491389" y="4706571"/>
                <a:ext cx="6012180" cy="15122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360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</m:acc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3600" b="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FF1299B9-4654-748C-B429-949391347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389" y="4706571"/>
                <a:ext cx="6012180" cy="15122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E94EA02-291D-E756-BB3D-FB7B14A77E6C}"/>
                  </a:ext>
                </a:extLst>
              </p:cNvPr>
              <p:cNvSpPr txBox="1"/>
              <p:nvPr/>
            </p:nvSpPr>
            <p:spPr>
              <a:xfrm>
                <a:off x="9503569" y="4706571"/>
                <a:ext cx="5142433" cy="21553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6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3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sz="3600" i="1">
                                              <a:latin typeface="Cambria Math" panose="02040503050406030204" pitchFamily="18" charset="0"/>
                                            </a:rPr>
                                            <m:t>𝜒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3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TW" sz="3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3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TW" alt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𝜒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E94EA02-291D-E756-BB3D-FB7B14A77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3569" y="4706571"/>
                <a:ext cx="5142433" cy="21553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738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C9ABE1-254D-1CDE-B0C8-92D390C02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2656" y="1270372"/>
            <a:ext cx="16586200" cy="9081398"/>
          </a:xfrm>
        </p:spPr>
        <p:txBody>
          <a:bodyPr>
            <a:normAutofit fontScale="25000" lnSpcReduction="20000"/>
          </a:bodyPr>
          <a:lstStyle/>
          <a:p>
            <a:pPr indent="-457200">
              <a:lnSpc>
                <a:spcPct val="320000"/>
              </a:lnSpc>
              <a:buClr>
                <a:schemeClr val="tx1"/>
              </a:buClr>
            </a:pPr>
            <a:r>
              <a:rPr lang="zh-TW" altLang="en-US" sz="128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多維度評分</a:t>
            </a:r>
            <a:r>
              <a:rPr lang="en-US" altLang="zh-TW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:</a:t>
            </a: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不只看「能不能做」，還看「做不做的好」。</a:t>
            </a:r>
          </a:p>
          <a:p>
            <a:pPr marL="96106" indent="-457200">
              <a:lnSpc>
                <a:spcPct val="320000"/>
              </a:lnSpc>
              <a:buClr>
                <a:schemeClr val="tx1"/>
              </a:buClr>
              <a:buNone/>
            </a:pPr>
            <a:r>
              <a:rPr lang="en-US" altLang="zh-TW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A. </a:t>
            </a: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直接篩選 </a:t>
            </a:r>
            <a:r>
              <a:rPr lang="en-US" altLang="zh-TW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:</a:t>
            </a:r>
            <a:endParaRPr lang="zh-TW" altLang="en-US" sz="112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marL="0" indent="0">
              <a:lnSpc>
                <a:spcPct val="270000"/>
              </a:lnSpc>
              <a:buClr>
                <a:schemeClr val="tx1"/>
              </a:buClr>
              <a:buNone/>
            </a:pP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一票否決：只要有一項規格 </a:t>
            </a:r>
            <a:r>
              <a:rPr lang="en-US" altLang="zh-TW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(</a:t>
            </a: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如 </a:t>
            </a:r>
            <a:r>
              <a:rPr lang="en-US" altLang="zh-TW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X </a:t>
            </a: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軸行程不足、無此製程</a:t>
            </a:r>
            <a:r>
              <a:rPr lang="en-US" altLang="zh-TW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) </a:t>
            </a: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不符，</a:t>
            </a:r>
            <a:r>
              <a:rPr lang="zh-TW" altLang="en-US" sz="11200" b="1" dirty="0">
                <a:latin typeface="Times New Roman" panose="02020603050405020304" pitchFamily="18" charset="0"/>
                <a:cs typeface="+mn-cs"/>
              </a:rPr>
              <a:t>直接淘汰</a:t>
            </a: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。</a:t>
            </a:r>
          </a:p>
          <a:p>
            <a:pPr marL="96106" indent="-457200">
              <a:lnSpc>
                <a:spcPct val="270000"/>
              </a:lnSpc>
              <a:buClr>
                <a:schemeClr val="tx1"/>
              </a:buClr>
              <a:buNone/>
            </a:pP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把關精度：若機台重現性 </a:t>
            </a:r>
            <a:r>
              <a:rPr lang="en-US" altLang="zh-TW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(0.008mm) &gt; </a:t>
            </a: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目標 </a:t>
            </a:r>
            <a:r>
              <a:rPr lang="en-US" altLang="zh-TW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(0.005mm)-&gt; </a:t>
            </a:r>
            <a:r>
              <a:rPr lang="zh-TW" altLang="en-US" sz="11200" b="1" dirty="0">
                <a:latin typeface="Times New Roman" panose="02020603050405020304" pitchFamily="18" charset="0"/>
                <a:cs typeface="+mn-cs"/>
              </a:rPr>
              <a:t>淘汰</a:t>
            </a: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。</a:t>
            </a:r>
          </a:p>
          <a:p>
            <a:pPr marL="96106" indent="-457200">
              <a:lnSpc>
                <a:spcPct val="320000"/>
              </a:lnSpc>
              <a:buClr>
                <a:schemeClr val="tx1"/>
              </a:buClr>
              <a:buNone/>
            </a:pPr>
            <a:r>
              <a:rPr lang="en-US" altLang="zh-TW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B. </a:t>
            </a: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彈性加分 </a:t>
            </a:r>
            <a:r>
              <a:rPr lang="en-US" altLang="zh-TW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:</a:t>
            </a:r>
            <a:endParaRPr lang="zh-TW" altLang="en-US" sz="11200" dirty="0">
              <a:solidFill>
                <a:schemeClr val="tx1"/>
              </a:solidFill>
              <a:latin typeface="Times New Roman" panose="02020603050405020304" pitchFamily="18" charset="0"/>
              <a:cs typeface="+mn-cs"/>
            </a:endParaRPr>
          </a:p>
          <a:p>
            <a:pPr marL="96106" indent="-457200">
              <a:lnSpc>
                <a:spcPct val="270000"/>
              </a:lnSpc>
              <a:buClr>
                <a:schemeClr val="tx1"/>
              </a:buClr>
              <a:buNone/>
            </a:pP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能力比：若機台能力是需求的 </a:t>
            </a:r>
            <a:r>
              <a:rPr lang="en-US" altLang="zh-TW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2</a:t>
            </a: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倍 以上，給予</a:t>
            </a:r>
            <a:r>
              <a:rPr lang="zh-TW" altLang="en-US" sz="11200" b="1" dirty="0">
                <a:latin typeface="Times New Roman" panose="02020603050405020304" pitchFamily="18" charset="0"/>
                <a:cs typeface="+mn-cs"/>
              </a:rPr>
              <a:t>額外加分</a:t>
            </a: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 </a:t>
            </a:r>
            <a:r>
              <a:rPr lang="en-US" altLang="zh-TW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(</a:t>
            </a: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代表製程餘裕度高</a:t>
            </a:r>
            <a:r>
              <a:rPr lang="en-US" altLang="zh-TW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)</a:t>
            </a: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。</a:t>
            </a:r>
          </a:p>
          <a:p>
            <a:pPr marL="96106" indent="-457200">
              <a:lnSpc>
                <a:spcPct val="270000"/>
              </a:lnSpc>
              <a:buClr>
                <a:schemeClr val="tx1"/>
              </a:buClr>
              <a:buNone/>
            </a:pP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規格優勢：轉速更快、行程更大、刀庫更多，皆</a:t>
            </a:r>
            <a:r>
              <a:rPr lang="zh-TW" altLang="en-US" sz="11200" b="1" dirty="0">
                <a:latin typeface="Times New Roman" panose="02020603050405020304" pitchFamily="18" charset="0"/>
                <a:cs typeface="+mn-cs"/>
              </a:rPr>
              <a:t>按比例加分</a:t>
            </a:r>
            <a:r>
              <a:rPr lang="zh-TW" alt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+mn-cs"/>
              </a:rPr>
              <a:t>。</a:t>
            </a:r>
          </a:p>
          <a:p>
            <a:br>
              <a:rPr lang="zh-TW" altLang="en-US" dirty="0"/>
            </a:b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DED5C5F8-FDEE-F3BD-2B88-E34B48735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938" y="157163"/>
            <a:ext cx="16149637" cy="1781175"/>
          </a:xfrm>
        </p:spPr>
        <p:txBody>
          <a:bodyPr/>
          <a:lstStyle/>
          <a:p>
            <a:r>
              <a:rPr lang="zh-TW" altLang="en-US" dirty="0"/>
              <a:t>製程知識庫</a:t>
            </a:r>
          </a:p>
        </p:txBody>
      </p:sp>
    </p:spTree>
    <p:extLst>
      <p:ext uri="{BB962C8B-B14F-4D97-AF65-F5344CB8AC3E}">
        <p14:creationId xmlns:p14="http://schemas.microsoft.com/office/powerpoint/2010/main" val="397280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68BBD3-BAF1-15C2-CC53-5B8DFEF76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3B2CCB-0EDB-4162-F35E-854F8A156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 descr="一張含有 螢幕擷取畫面, 軟體, 多媒體軟體, 文字 的圖片&#10;&#10;AI 產生的內容可能不正確。">
            <a:extLst>
              <a:ext uri="{FF2B5EF4-FFF2-40B4-BE49-F238E27FC236}">
                <a16:creationId xmlns:a16="http://schemas.microsoft.com/office/drawing/2014/main" id="{E19909ED-4A44-D249-514D-8D35B253A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147" y="519335"/>
            <a:ext cx="16510122" cy="965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968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40091-A0D3-D768-BB38-2D3B9154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8" y="97098"/>
            <a:ext cx="16149533" cy="1781969"/>
          </a:xfrm>
        </p:spPr>
        <p:txBody>
          <a:bodyPr/>
          <a:lstStyle/>
          <a:p>
            <a:r>
              <a:rPr lang="zh-TW" altLang="en-US" dirty="0"/>
              <a:t>未來規劃</a:t>
            </a:r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1AADFC31-AAE6-DD7F-7B3A-8AE764B4586E}"/>
              </a:ext>
            </a:extLst>
          </p:cNvPr>
          <p:cNvGrpSpPr/>
          <p:nvPr/>
        </p:nvGrpSpPr>
        <p:grpSpPr>
          <a:xfrm>
            <a:off x="2219748" y="1835782"/>
            <a:ext cx="16559778" cy="8715810"/>
            <a:chOff x="1017813" y="4111398"/>
            <a:chExt cx="20200238" cy="9800843"/>
          </a:xfrm>
        </p:grpSpPr>
        <p:graphicFrame>
          <p:nvGraphicFramePr>
            <p:cNvPr id="40" name="Content Placeholder 20">
              <a:extLst>
                <a:ext uri="{FF2B5EF4-FFF2-40B4-BE49-F238E27FC236}">
                  <a16:creationId xmlns:a16="http://schemas.microsoft.com/office/drawing/2014/main" id="{357EF0ED-6103-5AD6-354D-7A36B7F6806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71140420"/>
                </p:ext>
              </p:extLst>
            </p:nvPr>
          </p:nvGraphicFramePr>
          <p:xfrm>
            <a:off x="1017813" y="4111398"/>
            <a:ext cx="20200238" cy="9800843"/>
          </p:xfrm>
          <a:graphic>
            <a:graphicData uri="http://schemas.openxmlformats.org/drawingml/2006/table">
              <a:tbl>
                <a:tblPr/>
                <a:tblGrid>
                  <a:gridCol w="3531978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3801447871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1261578234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1820344115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4019376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202919214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487477683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1368410080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1754211082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509450787"/>
                      </a:ext>
                    </a:extLst>
                  </a:gridCol>
                </a:tblGrid>
                <a:tr h="730377">
                  <a:tc rowSpan="2"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 gridSpan="4"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11</a:t>
                        </a:r>
                        <a:r>
                          <a:rPr lang="zh-TW" altLang="en-US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月</a:t>
                        </a:r>
                        <a:endParaRPr lang="en-US" sz="3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8BC248">
                          <a:lumMod val="40000"/>
                          <a:lumOff val="60000"/>
                        </a:srgb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gridSpan="4"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12</a:t>
                        </a:r>
                        <a:r>
                          <a:rPr lang="zh-TW" altLang="en-US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月</a:t>
                        </a:r>
                        <a:endParaRPr lang="en-US" sz="3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8BC248">
                          <a:lumMod val="40000"/>
                          <a:lumOff val="60000"/>
                        </a:srgb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gridSpan="4"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1</a:t>
                        </a:r>
                        <a:r>
                          <a:rPr lang="zh-TW" altLang="en-US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月</a:t>
                        </a:r>
                        <a:endParaRPr lang="en-US" sz="3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8BC248">
                          <a:lumMod val="40000"/>
                          <a:lumOff val="60000"/>
                        </a:srgb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894706">
                  <a:tc vMerge="1"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week1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week2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week3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week4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week1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week2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week3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week4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week1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week2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week3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week4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771980896"/>
                    </a:ext>
                  </a:extLst>
                </a:tr>
                <a:tr h="1345676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Protégé(</a:t>
                        </a:r>
                        <a:r>
                          <a:rPr lang="zh-TW" altLang="en-US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</a:rPr>
                          <a:t>公差知識</a:t>
                        </a: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</a:rPr>
                          <a:t>)</a:t>
                        </a:r>
                        <a:endParaRPr lang="zh-TW" altLang="en-US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345676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Protégé(</a:t>
                        </a:r>
                        <a:r>
                          <a:rPr lang="zh-TW" altLang="en-US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製程知識</a:t>
                        </a: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)</a:t>
                        </a:r>
                        <a:endParaRPr lang="en-US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345676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marR="0" lvl="0" indent="0" algn="l" defTabSz="1828434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Protégé →Neo4j</a:t>
                        </a:r>
                      </a:p>
                      <a:p>
                        <a:endParaRPr lang="en-US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1704212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marR="0" lvl="0" indent="0" algn="l" defTabSz="1828434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NX(CAD→</a:t>
                        </a:r>
                        <a:r>
                          <a:rPr lang="zh-TW" altLang="en-US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接觸面</a:t>
                        </a: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)</a:t>
                        </a:r>
                      </a:p>
                      <a:p>
                        <a:pPr marL="0" marR="0" lvl="0" indent="0" algn="l" defTabSz="1828434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en-US" altLang="zh-TW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1345676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marR="0" lvl="0" indent="0" algn="l" defTabSz="1828434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MySQL</a:t>
                        </a:r>
                        <a:r>
                          <a:rPr lang="zh-TW" altLang="en-US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標準查詢</a:t>
                        </a:r>
                        <a:endParaRPr lang="en-US" altLang="zh-TW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  <a:p>
                        <a:endParaRPr lang="zh-TW" altLang="en-US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sp>
          <p:nvSpPr>
            <p:cNvPr id="41" name="Rounded Rectangle 4">
              <a:extLst>
                <a:ext uri="{FF2B5EF4-FFF2-40B4-BE49-F238E27FC236}">
                  <a16:creationId xmlns:a16="http://schemas.microsoft.com/office/drawing/2014/main" id="{0F21BD24-2AC2-522B-EA96-BD4031D3F7AF}"/>
                </a:ext>
              </a:extLst>
            </p:cNvPr>
            <p:cNvSpPr/>
            <p:nvPr/>
          </p:nvSpPr>
          <p:spPr>
            <a:xfrm>
              <a:off x="5592224" y="6429319"/>
              <a:ext cx="10155869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solidFill>
                <a:srgbClr val="EF9527"/>
              </a:solidFill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  <p:sp>
          <p:nvSpPr>
            <p:cNvPr id="42" name="Rounded Rectangle 6">
              <a:extLst>
                <a:ext uri="{FF2B5EF4-FFF2-40B4-BE49-F238E27FC236}">
                  <a16:creationId xmlns:a16="http://schemas.microsoft.com/office/drawing/2014/main" id="{E89D2DA6-0CB6-A7E9-C6C3-2E07C1A6AAB3}"/>
                </a:ext>
              </a:extLst>
            </p:cNvPr>
            <p:cNvSpPr/>
            <p:nvPr/>
          </p:nvSpPr>
          <p:spPr>
            <a:xfrm>
              <a:off x="5592226" y="8058498"/>
              <a:ext cx="11099038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  <p:sp>
          <p:nvSpPr>
            <p:cNvPr id="43" name="Rounded Rectangle 7">
              <a:extLst>
                <a:ext uri="{FF2B5EF4-FFF2-40B4-BE49-F238E27FC236}">
                  <a16:creationId xmlns:a16="http://schemas.microsoft.com/office/drawing/2014/main" id="{5A651710-6DB6-9E8F-E05B-5D2017AA20A4}"/>
                </a:ext>
              </a:extLst>
            </p:cNvPr>
            <p:cNvSpPr/>
            <p:nvPr/>
          </p:nvSpPr>
          <p:spPr>
            <a:xfrm>
              <a:off x="8260447" y="9518942"/>
              <a:ext cx="9848329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  <p:sp>
          <p:nvSpPr>
            <p:cNvPr id="44" name="Rounded Rectangle 9">
              <a:extLst>
                <a:ext uri="{FF2B5EF4-FFF2-40B4-BE49-F238E27FC236}">
                  <a16:creationId xmlns:a16="http://schemas.microsoft.com/office/drawing/2014/main" id="{7D56C01C-7A89-1FCB-6F91-9471F3F712BB}"/>
                </a:ext>
              </a:extLst>
            </p:cNvPr>
            <p:cNvSpPr/>
            <p:nvPr/>
          </p:nvSpPr>
          <p:spPr>
            <a:xfrm>
              <a:off x="6933131" y="12908207"/>
              <a:ext cx="6239915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  <p:sp>
          <p:nvSpPr>
            <p:cNvPr id="45" name="Rounded Rectangle 10">
              <a:extLst>
                <a:ext uri="{FF2B5EF4-FFF2-40B4-BE49-F238E27FC236}">
                  <a16:creationId xmlns:a16="http://schemas.microsoft.com/office/drawing/2014/main" id="{00104F05-6343-6A1F-8A57-610DA15BD83B}"/>
                </a:ext>
              </a:extLst>
            </p:cNvPr>
            <p:cNvSpPr/>
            <p:nvPr/>
          </p:nvSpPr>
          <p:spPr>
            <a:xfrm>
              <a:off x="6933131" y="10934970"/>
              <a:ext cx="13987431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1282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5C56DA-07F9-5F5B-49E4-B0A154CF2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52" y="4076192"/>
            <a:ext cx="10683754" cy="2539427"/>
          </a:xfrm>
        </p:spPr>
        <p:txBody>
          <a:bodyPr/>
          <a:lstStyle/>
          <a:p>
            <a:pPr marL="96106" indent="0" algn="ctr">
              <a:buNone/>
            </a:pPr>
            <a:r>
              <a:rPr lang="zh-TW" altLang="en-US" sz="7200" b="1" kern="0" dirty="0">
                <a:solidFill>
                  <a:schemeClr val="tx1"/>
                </a:solidFill>
                <a:latin typeface="標楷體" panose="03000509000000000000" pitchFamily="65" charset="-120"/>
              </a:rPr>
              <a:t>報告結束</a:t>
            </a:r>
            <a:br>
              <a:rPr lang="en-US" altLang="zh-TW" sz="7200" b="1" kern="0" dirty="0">
                <a:solidFill>
                  <a:schemeClr val="tx1"/>
                </a:solidFill>
                <a:latin typeface="標楷體" panose="03000509000000000000" pitchFamily="65" charset="-120"/>
              </a:rPr>
            </a:br>
            <a:r>
              <a:rPr lang="zh-TW" altLang="en-US" sz="7200" b="1" kern="0" dirty="0">
                <a:solidFill>
                  <a:schemeClr val="tx1"/>
                </a:solidFill>
                <a:latin typeface="標楷體" panose="03000509000000000000" pitchFamily="65" charset="-120"/>
              </a:rPr>
              <a:t>感謝聆聽</a:t>
            </a:r>
          </a:p>
          <a:p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6310321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佈景主題1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1" id="{E61209DD-7C03-404D-B789-7B1DDF8EB829}" vid="{B8D7766B-4337-40CD-B4A4-BF345C77790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65203</TotalTime>
  <Words>1800</Words>
  <Application>Microsoft Office PowerPoint</Application>
  <PresentationFormat>自訂</PresentationFormat>
  <Paragraphs>247</Paragraphs>
  <Slides>18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9" baseType="lpstr">
      <vt:lpstr>標楷體</vt:lpstr>
      <vt:lpstr>Arial</vt:lpstr>
      <vt:lpstr>Calibri</vt:lpstr>
      <vt:lpstr>Cambria Math</vt:lpstr>
      <vt:lpstr>Gill Sans MT</vt:lpstr>
      <vt:lpstr>Lato Regular</vt:lpstr>
      <vt:lpstr>Times New Roman</vt:lpstr>
      <vt:lpstr>Verdana</vt:lpstr>
      <vt:lpstr>Wingdings</vt:lpstr>
      <vt:lpstr>Wingdings 2</vt:lpstr>
      <vt:lpstr>佈景主題1</vt:lpstr>
      <vt:lpstr>PowerPoint 簡報</vt:lpstr>
      <vt:lpstr>MySQL數據修正</vt:lpstr>
      <vt:lpstr>MySQL數據修正</vt:lpstr>
      <vt:lpstr>MySQL數據修正</vt:lpstr>
      <vt:lpstr>OLLAMA_Cloud</vt:lpstr>
      <vt:lpstr>結合CNS標準與大型語言模型的RAG實現</vt:lpstr>
      <vt:lpstr>結合CNS標準與大型語言模型的RAG實現</vt:lpstr>
      <vt:lpstr>結合CNS標準與大型語言模型的RAG實現</vt:lpstr>
      <vt:lpstr>術語標準化及查詢優化</vt:lpstr>
      <vt:lpstr>製程知識庫</vt:lpstr>
      <vt:lpstr>製程知識庫</vt:lpstr>
      <vt:lpstr>製程知識庫</vt:lpstr>
      <vt:lpstr>製程知識庫</vt:lpstr>
      <vt:lpstr>製程知識庫</vt:lpstr>
      <vt:lpstr>製程知識庫</vt:lpstr>
      <vt:lpstr>PowerPoint 簡報</vt:lpstr>
      <vt:lpstr>未來規劃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meeting</dc:title>
  <dc:creator>博宇 蔡</dc:creator>
  <cp:lastModifiedBy>泓文 陳</cp:lastModifiedBy>
  <cp:revision>1295</cp:revision>
  <dcterms:created xsi:type="dcterms:W3CDTF">2022-09-16T14:31:41Z</dcterms:created>
  <dcterms:modified xsi:type="dcterms:W3CDTF">2025-12-21T17:32:06Z</dcterms:modified>
</cp:coreProperties>
</file>