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bookmarkIdSeed="5">
  <p:sldMasterIdLst>
    <p:sldMasterId id="2147483720" r:id="rId1"/>
  </p:sldMasterIdLst>
  <p:notesMasterIdLst>
    <p:notesMasterId r:id="rId20"/>
  </p:notesMasterIdLst>
  <p:handoutMasterIdLst>
    <p:handoutMasterId r:id="rId21"/>
  </p:handoutMasterIdLst>
  <p:sldIdLst>
    <p:sldId id="892" r:id="rId2"/>
    <p:sldId id="973" r:id="rId3"/>
    <p:sldId id="958" r:id="rId4"/>
    <p:sldId id="971" r:id="rId5"/>
    <p:sldId id="972" r:id="rId6"/>
    <p:sldId id="955" r:id="rId7"/>
    <p:sldId id="961" r:id="rId8"/>
    <p:sldId id="962" r:id="rId9"/>
    <p:sldId id="963" r:id="rId10"/>
    <p:sldId id="964" r:id="rId11"/>
    <p:sldId id="969" r:id="rId12"/>
    <p:sldId id="960" r:id="rId13"/>
    <p:sldId id="965" r:id="rId14"/>
    <p:sldId id="966" r:id="rId15"/>
    <p:sldId id="967" r:id="rId16"/>
    <p:sldId id="970" r:id="rId17"/>
    <p:sldId id="952" r:id="rId18"/>
    <p:sldId id="901" r:id="rId19"/>
  </p:sldIdLst>
  <p:sldSz cx="19007138" cy="10691813"/>
  <p:notesSz cx="9144000" cy="6858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預設章節" id="{24E4A62D-9E94-42E6-9A32-090017D9FC14}">
          <p14:sldIdLst>
            <p14:sldId id="892"/>
            <p14:sldId id="973"/>
            <p14:sldId id="958"/>
            <p14:sldId id="971"/>
            <p14:sldId id="972"/>
            <p14:sldId id="955"/>
            <p14:sldId id="961"/>
            <p14:sldId id="962"/>
            <p14:sldId id="963"/>
            <p14:sldId id="964"/>
            <p14:sldId id="969"/>
            <p14:sldId id="960"/>
            <p14:sldId id="965"/>
            <p14:sldId id="966"/>
            <p14:sldId id="967"/>
            <p14:sldId id="970"/>
            <p14:sldId id="952"/>
            <p14:sldId id="9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3368" userDrawn="1">
          <p15:clr>
            <a:srgbClr val="A4A3A4"/>
          </p15:clr>
        </p15:guide>
        <p15:guide id="2" pos="5987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博宇" initials="博宇" lastIdx="3" clrIdx="0">
    <p:extLst>
      <p:ext uri="{19B8F6BF-5375-455C-9EA6-DF929625EA0E}">
        <p15:presenceInfo xmlns:p15="http://schemas.microsoft.com/office/powerpoint/2012/main" userId="de6e9673a045b6f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B0F0"/>
    <a:srgbClr val="FFFF00"/>
    <a:srgbClr val="0000FF"/>
    <a:srgbClr val="FFEFE7"/>
    <a:srgbClr val="FFC000"/>
    <a:srgbClr val="FFFF99"/>
    <a:srgbClr val="FFD699"/>
    <a:srgbClr val="C2D69B"/>
    <a:srgbClr val="99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DF18680-E054-41AD-8BC1-D1AEF772440D}" styleName="中等深淺樣式 2 - 輔色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中等深淺樣式 2 - 輔色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D7AC3CCA-C797-4891-BE02-D94E43425B78}" styleName="中等深淺樣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08FB837D-C827-4EFA-A057-4D05807E0F7C}" styleName="佈景主題樣式 1 - 輔色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ED083AE6-46FA-4A59-8FB0-9F97EB10719F}" styleName="淺色樣式 3 - 輔色 4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00A15C55-8517-42AA-B614-E9B94910E393}" styleName="中等深淺樣式 2 - 輔色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75DCB02-9BB8-47FD-8907-85C794F793BA}" styleName="佈景主題樣式 1 - 輔色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616DA210-FB5B-4158-B5E0-FEB733F419BA}" styleName="淺色樣式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073A0DAA-6AF3-43AB-8588-CEC1D06C72B9}" styleName="中等深淺樣式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BDBED569-4797-4DF1-A0F4-6AAB3CD982D8}" styleName="淺色樣式 3 - 輔色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61" autoAdjust="0"/>
    <p:restoredTop sz="92539" autoAdjust="0"/>
  </p:normalViewPr>
  <p:slideViewPr>
    <p:cSldViewPr snapToGrid="0">
      <p:cViewPr varScale="1">
        <p:scale>
          <a:sx n="61" d="100"/>
          <a:sy n="61" d="100"/>
        </p:scale>
        <p:origin x="894" y="282"/>
      </p:cViewPr>
      <p:guideLst>
        <p:guide orient="horz" pos="3368"/>
        <p:guide pos="598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>
            <a:extLst>
              <a:ext uri="{FF2B5EF4-FFF2-40B4-BE49-F238E27FC236}">
                <a16:creationId xmlns:a16="http://schemas.microsoft.com/office/drawing/2014/main" id="{4ACEE2A4-F8C9-4C3C-AC69-2CD08263093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0CC2C16A-0E6D-47D8-81BD-1413EE5A9AB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B0739D1E-293A-42AA-B6AF-3BD10F31646A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C3DD8A5F-15C8-490A-B94E-E4286331F85E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99BF477-B8BF-4DF6-92BB-4A39CC499F9A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128210625"/>
      </p:ext>
    </p:extLst>
  </p:cSld>
  <p:clrMap bg1="lt1" tx1="dk1" bg2="lt2" tx2="dk2" accent1="accent1" accent2="accent2" accent3="accent3" accent4="accent4" accent5="accent5" accent6="accent6" hlink="hlink" folHlink="folHlink"/>
  <p:hf sldNum="0" hdr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5179484" y="0"/>
            <a:ext cx="39624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endParaRPr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2516188" y="857250"/>
            <a:ext cx="4111625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914400" y="3300412"/>
            <a:ext cx="73152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5179484" y="6513910"/>
            <a:ext cx="39624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B17AFB-CFE8-42DD-BFE6-AABD153A99C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27759684"/>
      </p:ext>
    </p:extLst>
  </p:cSld>
  <p:clrMap bg1="lt1" tx1="dk1" bg2="lt2" tx2="dk2" accent1="accent1" accent2="accent2" accent3="accent3" accent4="accent4" accent5="accent5" accent6="accent6" hlink="hlink" folHlink="folHlink"/>
  <p:hf sldNum="0" hdr="0"/>
  <p:notesStyle>
    <a:lvl1pPr marL="0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1pPr>
    <a:lvl2pPr marL="712272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2pPr>
    <a:lvl3pPr marL="1424544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3pPr>
    <a:lvl4pPr marL="2136816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4pPr>
    <a:lvl5pPr marL="2849088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5pPr>
    <a:lvl6pPr marL="3561359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6pPr>
    <a:lvl7pPr marL="4273631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7pPr>
    <a:lvl8pPr marL="4985903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8pPr>
    <a:lvl9pPr marL="5698175" algn="l" defTabSz="1424544" rtl="0" eaLnBrk="1" latinLnBrk="0" hangingPunct="1">
      <a:defRPr sz="1869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707797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日期版面配置區 3"/>
          <p:cNvSpPr>
            <a:spLocks noGrp="1"/>
          </p:cNvSpPr>
          <p:nvPr>
            <p:ph type="dt" idx="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0179763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bg>
      <p:bgPr>
        <a:solidFill>
          <a:srgbClr val="E8D7A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標題 13"/>
          <p:cNvSpPr>
            <a:spLocks noGrp="1"/>
          </p:cNvSpPr>
          <p:nvPr>
            <p:ph type="ctrTitle"/>
          </p:nvPr>
        </p:nvSpPr>
        <p:spPr>
          <a:xfrm>
            <a:off x="2977786" y="561091"/>
            <a:ext cx="15395781" cy="2295176"/>
          </a:xfrm>
        </p:spPr>
        <p:txBody>
          <a:bodyPr anchor="b"/>
          <a:lstStyle>
            <a:lvl1pPr algn="l">
              <a:defRPr/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/>
          </a:p>
        </p:txBody>
      </p:sp>
      <p:sp>
        <p:nvSpPr>
          <p:cNvPr id="22" name="副標題 21"/>
          <p:cNvSpPr>
            <a:spLocks noGrp="1"/>
          </p:cNvSpPr>
          <p:nvPr>
            <p:ph type="subTitle" idx="1"/>
          </p:nvPr>
        </p:nvSpPr>
        <p:spPr>
          <a:xfrm>
            <a:off x="2977786" y="2884301"/>
            <a:ext cx="15395781" cy="2732352"/>
          </a:xfrm>
        </p:spPr>
        <p:txBody>
          <a:bodyPr tIns="0"/>
          <a:lstStyle>
            <a:lvl1pPr marL="32035" indent="0" algn="l">
              <a:buNone/>
              <a:defRPr sz="3036">
                <a:solidFill>
                  <a:schemeClr val="tx2">
                    <a:shade val="30000"/>
                    <a:satMod val="150000"/>
                  </a:schemeClr>
                </a:solidFill>
              </a:defRPr>
            </a:lvl1pPr>
            <a:lvl2pPr marL="533918" indent="0" algn="ctr">
              <a:buNone/>
            </a:lvl2pPr>
            <a:lvl3pPr marL="1067836" indent="0" algn="ctr">
              <a:buNone/>
            </a:lvl3pPr>
            <a:lvl4pPr marL="1601754" indent="0" algn="ctr">
              <a:buNone/>
            </a:lvl4pPr>
            <a:lvl5pPr marL="2135673" indent="0" algn="ctr">
              <a:buNone/>
            </a:lvl5pPr>
            <a:lvl6pPr marL="2669591" indent="0" algn="ctr">
              <a:buNone/>
            </a:lvl6pPr>
            <a:lvl7pPr marL="3203509" indent="0" algn="ctr">
              <a:buNone/>
            </a:lvl7pPr>
            <a:lvl8pPr marL="3737427" indent="0" algn="ctr">
              <a:buNone/>
            </a:lvl8pPr>
            <a:lvl9pPr marL="4271345" indent="0" algn="ctr">
              <a:buNone/>
            </a:lvl9pPr>
            <a:extLst/>
          </a:lstStyle>
          <a:p>
            <a:r>
              <a:rPr kumimoji="0" lang="zh-TW" altLang="en-US"/>
              <a:t>按一下以編輯母片子標題樣式</a:t>
            </a:r>
            <a:endParaRPr kumimoji="0" lang="en-US"/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5" name="矩形 4"/>
          <p:cNvSpPr/>
          <p:nvPr/>
        </p:nvSpPr>
        <p:spPr>
          <a:xfrm>
            <a:off x="-3713265" y="9864684"/>
            <a:ext cx="9503569" cy="559577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15" name="圖片 1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524263" y="8553740"/>
            <a:ext cx="2996148" cy="2268897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-3713265" y="9400289"/>
            <a:ext cx="9503569" cy="415755"/>
          </a:xfrm>
          <a:prstGeom prst="rect">
            <a:avLst/>
          </a:prstGeom>
        </p:spPr>
        <p:txBody>
          <a:bodyPr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222794942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420442" y="156630"/>
            <a:ext cx="16149533" cy="1781969"/>
          </a:xfrm>
        </p:spPr>
        <p:txBody>
          <a:bodyPr>
            <a:normAutofit/>
          </a:bodyPr>
          <a:lstStyle>
            <a:lvl1pPr>
              <a:defRPr sz="4671">
                <a:solidFill>
                  <a:srgbClr val="0070C0"/>
                </a:solidFill>
              </a:defRPr>
            </a:lvl1pPr>
            <a:extLst/>
          </a:lstStyle>
          <a:p>
            <a:r>
              <a:rPr kumimoji="0" lang="zh-TW" altLang="en-US"/>
              <a:t>按一下以編輯母片標題樣式</a:t>
            </a:r>
            <a:endParaRPr kumimoji="0" 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zh-TW" altLang="en-US"/>
              <a:t>按一下以編輯母片文字樣式</a:t>
            </a:r>
          </a:p>
          <a:p>
            <a:pPr lvl="1" eaLnBrk="1" latinLnBrk="0" hangingPunct="1"/>
            <a:r>
              <a:rPr lang="zh-TW" altLang="en-US"/>
              <a:t>第二層</a:t>
            </a:r>
          </a:p>
          <a:p>
            <a:pPr lvl="2" eaLnBrk="1" latinLnBrk="0" hangingPunct="1"/>
            <a:r>
              <a:rPr lang="zh-TW" altLang="en-US"/>
              <a:t>第三層</a:t>
            </a:r>
          </a:p>
          <a:p>
            <a:pPr lvl="3" eaLnBrk="1" latinLnBrk="0" hangingPunct="1"/>
            <a:r>
              <a:rPr lang="zh-TW" altLang="en-US"/>
              <a:t>第四層</a:t>
            </a:r>
          </a:p>
          <a:p>
            <a:pPr lvl="4" eaLnBrk="1" latinLnBrk="0" hangingPunct="1"/>
            <a:r>
              <a:rPr lang="zh-TW" altLang="en-US"/>
              <a:t>第五層</a:t>
            </a:r>
            <a:endParaRPr kumimoji="0" 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  <p:sp>
        <p:nvSpPr>
          <p:cNvPr id="20" name="矩形 19"/>
          <p:cNvSpPr/>
          <p:nvPr/>
        </p:nvSpPr>
        <p:spPr>
          <a:xfrm>
            <a:off x="-487513" y="9864682"/>
            <a:ext cx="3143262" cy="5595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168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製造與公差工程研究室</a:t>
            </a:r>
            <a:endParaRPr lang="en-US" altLang="zh-TW" sz="1168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Fabrication &amp;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</a:t>
            </a:r>
          </a:p>
          <a:p>
            <a:pPr algn="ctr"/>
            <a:r>
              <a:rPr lang="zh-TW" altLang="en-US" sz="934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 </a:t>
            </a:r>
            <a:r>
              <a:rPr lang="en-US" altLang="zh-TW" sz="934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Tolerancing</a:t>
            </a:r>
            <a:r>
              <a:rPr lang="en-US" altLang="zh-TW" sz="934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Engineering Lab</a:t>
            </a:r>
            <a:endParaRPr lang="en-US" altLang="zh-TW" sz="934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pic>
        <p:nvPicPr>
          <p:cNvPr id="21" name="圖片 2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8553739"/>
            <a:ext cx="2206712" cy="1790774"/>
          </a:xfrm>
          <a:prstGeom prst="rect">
            <a:avLst/>
          </a:prstGeom>
        </p:spPr>
      </p:pic>
      <p:sp>
        <p:nvSpPr>
          <p:cNvPr id="22" name="矩形 21"/>
          <p:cNvSpPr/>
          <p:nvPr/>
        </p:nvSpPr>
        <p:spPr>
          <a:xfrm>
            <a:off x="1" y="9400289"/>
            <a:ext cx="2206712" cy="4157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TW" altLang="en-US" sz="1401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國立中興大學</a:t>
            </a:r>
            <a:endParaRPr lang="en-US" altLang="zh-TW" sz="1401" baseline="0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algn="ctr"/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National Chung </a:t>
            </a:r>
            <a:r>
              <a:rPr lang="en-US" altLang="zh-TW" sz="701" baseline="0" dirty="0" err="1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Hsing</a:t>
            </a:r>
            <a:r>
              <a:rPr lang="en-US" altLang="zh-TW" sz="701" baseline="0" dirty="0">
                <a:solidFill>
                  <a:srgbClr val="609A9D"/>
                </a:solidFill>
                <a:latin typeface="標楷體" panose="03000509000000000000" pitchFamily="65" charset="-120"/>
                <a:ea typeface="標楷體" panose="03000509000000000000" pitchFamily="65" charset="-120"/>
              </a:rPr>
              <a:t> University</a:t>
            </a:r>
            <a:endParaRPr lang="en-US" altLang="zh-TW" sz="701" dirty="0">
              <a:solidFill>
                <a:srgbClr val="609A9D"/>
              </a:solidFill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</p:spTree>
    <p:extLst>
      <p:ext uri="{BB962C8B-B14F-4D97-AF65-F5344CB8AC3E}">
        <p14:creationId xmlns:p14="http://schemas.microsoft.com/office/powerpoint/2010/main" val="3093879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圓形圖 6"/>
          <p:cNvSpPr/>
          <p:nvPr/>
        </p:nvSpPr>
        <p:spPr>
          <a:xfrm>
            <a:off x="-1696020" y="-1272044"/>
            <a:ext cx="3406666" cy="2555070"/>
          </a:xfrm>
          <a:prstGeom prst="pie">
            <a:avLst>
              <a:gd name="adj1" fmla="val 0"/>
              <a:gd name="adj2" fmla="val 5402120"/>
            </a:avLst>
          </a:prstGeom>
          <a:solidFill>
            <a:schemeClr val="bg2">
              <a:tint val="18000"/>
              <a:satMod val="220000"/>
              <a:alpha val="33000"/>
            </a:schemeClr>
          </a:solidFill>
          <a:ln w="3175" cap="rnd" cmpd="sng" algn="ctr">
            <a:solidFill>
              <a:schemeClr val="bg2">
                <a:shade val="70000"/>
                <a:satMod val="200000"/>
                <a:alpha val="100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8" name="橢圓 7"/>
          <p:cNvSpPr/>
          <p:nvPr/>
        </p:nvSpPr>
        <p:spPr>
          <a:xfrm>
            <a:off x="350911" y="32901"/>
            <a:ext cx="3538252" cy="2653763"/>
          </a:xfrm>
          <a:prstGeom prst="ellipse">
            <a:avLst/>
          </a:prstGeom>
          <a:noFill/>
          <a:ln w="27305" cap="rnd" cmpd="sng" algn="ctr">
            <a:solidFill>
              <a:schemeClr val="bg2">
                <a:tint val="45000"/>
                <a:satMod val="325000"/>
                <a:alpha val="100000"/>
              </a:schemeClr>
            </a:solidFill>
            <a:prstDash val="solid"/>
          </a:ln>
          <a:effectLst>
            <a:outerShdw blurRad="25400" dist="25400" dir="5400000" algn="tl" rotWithShape="0">
              <a:schemeClr val="bg2">
                <a:shade val="50000"/>
                <a:satMod val="150000"/>
                <a:alpha val="8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1" name="甜甜圈 10"/>
          <p:cNvSpPr/>
          <p:nvPr/>
        </p:nvSpPr>
        <p:spPr>
          <a:xfrm rot="2315675">
            <a:off x="380146" y="1644894"/>
            <a:ext cx="2339967" cy="1719022"/>
          </a:xfrm>
          <a:prstGeom prst="donut">
            <a:avLst>
              <a:gd name="adj" fmla="val 11833"/>
            </a:avLst>
          </a:prstGeom>
          <a:gradFill rotWithShape="1">
            <a:gsLst>
              <a:gs pos="0">
                <a:schemeClr val="bg2">
                  <a:tint val="10000"/>
                  <a:shade val="99000"/>
                  <a:satMod val="355000"/>
                  <a:alpha val="70000"/>
                </a:schemeClr>
              </a:gs>
              <a:gs pos="70000">
                <a:schemeClr val="bg2">
                  <a:tint val="6000"/>
                  <a:shade val="100000"/>
                  <a:satMod val="400000"/>
                  <a:alpha val="55000"/>
                </a:schemeClr>
              </a:gs>
              <a:gs pos="100000">
                <a:schemeClr val="bg2">
                  <a:tint val="100000"/>
                  <a:shade val="75000"/>
                  <a:satMod val="370000"/>
                  <a:alpha val="60000"/>
                </a:schemeClr>
              </a:gs>
            </a:gsLst>
            <a:path path="circle">
              <a:fillToRect l="-407500" t="-50000" r="507500" b="150000"/>
            </a:path>
          </a:gradFill>
          <a:ln w="7350" cap="rnd" cmpd="sng" algn="ctr">
            <a:solidFill>
              <a:schemeClr val="bg2">
                <a:shade val="60000"/>
                <a:satMod val="220000"/>
                <a:alpha val="100000"/>
              </a:schemeClr>
            </a:solidFill>
            <a:prstDash val="solid"/>
          </a:ln>
          <a:effectLst>
            <a:outerShdw blurRad="12700" dist="15000" dir="4500000" algn="tl" rotWithShape="0">
              <a:schemeClr val="bg2">
                <a:shade val="10000"/>
                <a:satMod val="200000"/>
                <a:alpha val="3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12" name="矩形 11"/>
          <p:cNvSpPr/>
          <p:nvPr/>
        </p:nvSpPr>
        <p:spPr>
          <a:xfrm>
            <a:off x="2105408" y="32901"/>
            <a:ext cx="16901734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 dirty="0">
              <a:latin typeface="標楷體" panose="03000509000000000000" pitchFamily="65" charset="-120"/>
              <a:ea typeface="標楷體" panose="03000509000000000000" pitchFamily="65" charset="-120"/>
            </a:endParaRPr>
          </a:p>
        </p:txBody>
      </p:sp>
      <p:sp>
        <p:nvSpPr>
          <p:cNvPr id="5" name="標題版面配置區 4"/>
          <p:cNvSpPr>
            <a:spLocks noGrp="1"/>
          </p:cNvSpPr>
          <p:nvPr>
            <p:ph type="title"/>
          </p:nvPr>
        </p:nvSpPr>
        <p:spPr>
          <a:xfrm>
            <a:off x="2984120" y="428169"/>
            <a:ext cx="15585853" cy="1781969"/>
          </a:xfrm>
          <a:prstGeom prst="rect">
            <a:avLst/>
          </a:prstGeom>
        </p:spPr>
        <p:txBody>
          <a:bodyPr anchor="ctr">
            <a:normAutofit/>
          </a:bodyPr>
          <a:lstStyle/>
          <a:p>
            <a:r>
              <a:rPr kumimoji="0" lang="zh-TW" altLang="en-US" dirty="0"/>
              <a:t>按一下以編輯母片標題樣式</a:t>
            </a:r>
            <a:endParaRPr kumimoji="0" lang="en-US" dirty="0"/>
          </a:p>
        </p:txBody>
      </p:sp>
      <p:sp>
        <p:nvSpPr>
          <p:cNvPr id="9" name="文字版面配置區 8"/>
          <p:cNvSpPr>
            <a:spLocks noGrp="1"/>
          </p:cNvSpPr>
          <p:nvPr>
            <p:ph type="body" idx="1"/>
          </p:nvPr>
        </p:nvSpPr>
        <p:spPr>
          <a:xfrm>
            <a:off x="2984120" y="2257162"/>
            <a:ext cx="15585853" cy="7484269"/>
          </a:xfrm>
          <a:prstGeom prst="rect">
            <a:avLst/>
          </a:prstGeom>
        </p:spPr>
        <p:txBody>
          <a:bodyPr>
            <a:normAutofit/>
          </a:bodyPr>
          <a:lstStyle/>
          <a:p>
            <a:pPr lvl="0" eaLnBrk="1" latinLnBrk="0" hangingPunct="1"/>
            <a:r>
              <a:rPr kumimoji="0" lang="zh-TW" altLang="en-US" dirty="0"/>
              <a:t>按一下以編輯母片文字樣式</a:t>
            </a:r>
          </a:p>
          <a:p>
            <a:pPr lvl="1" eaLnBrk="1" latinLnBrk="0" hangingPunct="1"/>
            <a:r>
              <a:rPr kumimoji="0" lang="zh-TW" altLang="en-US" dirty="0"/>
              <a:t>第二層</a:t>
            </a:r>
          </a:p>
          <a:p>
            <a:pPr lvl="2" eaLnBrk="1" latinLnBrk="0" hangingPunct="1"/>
            <a:r>
              <a:rPr kumimoji="0" lang="zh-TW" altLang="en-US" dirty="0"/>
              <a:t>第三層</a:t>
            </a:r>
          </a:p>
          <a:p>
            <a:pPr lvl="3" eaLnBrk="1" latinLnBrk="0" hangingPunct="1"/>
            <a:r>
              <a:rPr kumimoji="0" lang="zh-TW" altLang="en-US" dirty="0"/>
              <a:t>第四層</a:t>
            </a:r>
          </a:p>
          <a:p>
            <a:pPr lvl="4" eaLnBrk="1" latinLnBrk="0" hangingPunct="1"/>
            <a:r>
              <a:rPr kumimoji="0" lang="zh-TW" altLang="en-US" dirty="0"/>
              <a:t>第五層</a:t>
            </a:r>
            <a:endParaRPr kumimoji="0" lang="en-US" dirty="0"/>
          </a:p>
        </p:txBody>
      </p:sp>
      <p:sp>
        <p:nvSpPr>
          <p:cNvPr id="15" name="矩形 14"/>
          <p:cNvSpPr/>
          <p:nvPr/>
        </p:nvSpPr>
        <p:spPr bwMode="invGray">
          <a:xfrm>
            <a:off x="2109792" y="-84"/>
            <a:ext cx="152057" cy="10691897"/>
          </a:xfrm>
          <a:prstGeom prst="rect">
            <a:avLst/>
          </a:prstGeom>
          <a:solidFill>
            <a:schemeClr val="bg1"/>
          </a:solidFill>
          <a:ln w="25400" cap="rnd" cmpd="sng" algn="ctr">
            <a:noFill/>
            <a:prstDash val="solid"/>
          </a:ln>
          <a:effectLst>
            <a:outerShdw blurRad="38550" dist="38000" dir="10800000" algn="tl" rotWithShape="0">
              <a:schemeClr val="bg2">
                <a:shade val="20000"/>
                <a:satMod val="110000"/>
                <a:alpha val="25000"/>
              </a:schemeClr>
            </a:outerShdw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2102"/>
          </a:p>
        </p:txBody>
      </p:sp>
      <p:sp>
        <p:nvSpPr>
          <p:cNvPr id="22" name="投影片編號版面配置區 21"/>
          <p:cNvSpPr>
            <a:spLocks noGrp="1"/>
          </p:cNvSpPr>
          <p:nvPr>
            <p:ph type="sldNum" sz="quarter" idx="4"/>
          </p:nvPr>
        </p:nvSpPr>
        <p:spPr>
          <a:xfrm>
            <a:off x="17904724" y="9830529"/>
            <a:ext cx="950356" cy="742487"/>
          </a:xfrm>
          <a:prstGeom prst="rect">
            <a:avLst/>
          </a:prstGeom>
        </p:spPr>
        <p:txBody>
          <a:bodyPr anchor="b"/>
          <a:lstStyle>
            <a:lvl1pPr algn="ctr" eaLnBrk="1" latinLnBrk="0" hangingPunct="1">
              <a:defRPr kumimoji="0" sz="1401">
                <a:solidFill>
                  <a:schemeClr val="bg2">
                    <a:shade val="50000"/>
                    <a:satMod val="200000"/>
                  </a:schemeClr>
                </a:solidFill>
                <a:effectLst/>
              </a:defRPr>
            </a:lvl1pPr>
            <a:extLst/>
          </a:lstStyle>
          <a:p>
            <a:fld id="{E7092724-D85B-4B80-A53F-5116D356FC54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715522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</p:sldLayoutIdLst>
  <p:hf sldNum="0" hdr="0" dt="0"/>
  <p:txStyles>
    <p:titleStyle>
      <a:lvl1pPr algn="l" rtl="0" eaLnBrk="1" latinLnBrk="0" hangingPunct="1">
        <a:spcBef>
          <a:spcPct val="0"/>
        </a:spcBef>
        <a:buNone/>
        <a:defRPr kumimoji="0" sz="4671" b="1" kern="1200">
          <a:solidFill>
            <a:srgbClr val="0070C0"/>
          </a:solidFill>
          <a:effectLst>
            <a:outerShdw blurRad="50000" dist="30000" dir="5400000" algn="tl" rotWithShape="0">
              <a:srgbClr val="000000">
                <a:alpha val="30000"/>
              </a:srgbClr>
            </a:outerShdw>
          </a:effectLst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extLst/>
    </p:titleStyle>
    <p:bodyStyle>
      <a:lvl1pPr marL="427135" indent="-331029" algn="l" rtl="0" eaLnBrk="1" latinLnBrk="0" hangingPunct="1">
        <a:lnSpc>
          <a:spcPct val="100000"/>
        </a:lnSpc>
        <a:spcBef>
          <a:spcPts val="701"/>
        </a:spcBef>
        <a:buClr>
          <a:schemeClr val="accent1"/>
        </a:buClr>
        <a:buSzPct val="80000"/>
        <a:buFont typeface="Wingdings" panose="05000000000000000000" pitchFamily="2" charset="2"/>
        <a:buChar char="Ø"/>
        <a:defRPr kumimoji="0" sz="3737" kern="1200">
          <a:solidFill>
            <a:srgbClr val="FF0000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1pPr>
      <a:lvl2pPr marL="747485" indent="-277637" algn="l" rtl="0" eaLnBrk="1" latinLnBrk="0" hangingPunct="1">
        <a:lnSpc>
          <a:spcPct val="100000"/>
        </a:lnSpc>
        <a:spcBef>
          <a:spcPts val="642"/>
        </a:spcBef>
        <a:buClr>
          <a:schemeClr val="accent1"/>
        </a:buClr>
        <a:buFont typeface="Verdana"/>
        <a:buChar char="◦"/>
        <a:defRPr kumimoji="0" sz="3270" kern="1200">
          <a:solidFill>
            <a:srgbClr val="0000FF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2pPr>
      <a:lvl3pPr marL="1035801" indent="-266959" algn="l" rtl="0" eaLnBrk="1" latinLnBrk="0" hangingPunct="1">
        <a:lnSpc>
          <a:spcPct val="100000"/>
        </a:lnSpc>
        <a:spcBef>
          <a:spcPct val="20000"/>
        </a:spcBef>
        <a:buClr>
          <a:schemeClr val="accent2"/>
        </a:buClr>
        <a:buFont typeface="Wingdings 2"/>
        <a:buChar char=""/>
        <a:defRPr kumimoji="0" sz="2803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3pPr>
      <a:lvl4pPr marL="1281404" indent="-202889" algn="l" rtl="0" eaLnBrk="1" latinLnBrk="0" hangingPunct="1">
        <a:lnSpc>
          <a:spcPct val="100000"/>
        </a:lnSpc>
        <a:spcBef>
          <a:spcPct val="20000"/>
        </a:spcBef>
        <a:buClr>
          <a:schemeClr val="accent3"/>
        </a:buClr>
        <a:buFont typeface="Wingdings 2"/>
        <a:buChar char=""/>
        <a:defRPr kumimoji="0" sz="2336" kern="1200">
          <a:solidFill>
            <a:schemeClr val="accent3">
              <a:lumMod val="75000"/>
            </a:schemeClr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4pPr>
      <a:lvl5pPr marL="1516328" indent="-213567" algn="l" rtl="0" eaLnBrk="1" latinLnBrk="0" hangingPunct="1">
        <a:lnSpc>
          <a:spcPct val="100000"/>
        </a:lnSpc>
        <a:spcBef>
          <a:spcPct val="20000"/>
        </a:spcBef>
        <a:buClr>
          <a:schemeClr val="accent4"/>
        </a:buClr>
        <a:buFont typeface="Wingdings 2"/>
        <a:buChar char=""/>
        <a:defRPr kumimoji="0" sz="2336" kern="1200">
          <a:solidFill>
            <a:schemeClr val="tx1"/>
          </a:solidFill>
          <a:latin typeface="Arial" panose="020B0604020202020204" pitchFamily="34" charset="0"/>
          <a:ea typeface="標楷體" panose="03000509000000000000" pitchFamily="65" charset="-120"/>
          <a:cs typeface="Arial" panose="020B0604020202020204" pitchFamily="34" charset="0"/>
        </a:defRPr>
      </a:lvl5pPr>
      <a:lvl6pPr marL="1761930" indent="-213567" algn="l" rtl="0" eaLnBrk="1" latinLnBrk="0" hangingPunct="1">
        <a:lnSpc>
          <a:spcPct val="100000"/>
        </a:lnSpc>
        <a:spcBef>
          <a:spcPct val="20000"/>
        </a:spcBef>
        <a:buClr>
          <a:schemeClr val="accent5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6pPr>
      <a:lvl7pPr marL="2007532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7pPr>
      <a:lvl8pPr marL="2242456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8pPr>
      <a:lvl9pPr marL="2488059" indent="-213567" algn="l" rtl="0" eaLnBrk="1" latinLnBrk="0" hangingPunct="1">
        <a:lnSpc>
          <a:spcPct val="100000"/>
        </a:lnSpc>
        <a:spcBef>
          <a:spcPct val="20000"/>
        </a:spcBef>
        <a:buClr>
          <a:schemeClr val="accent6"/>
        </a:buClr>
        <a:buFont typeface="Wingdings 2"/>
        <a:buChar char=""/>
        <a:defRPr kumimoji="0" sz="2336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533918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1067836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601754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2135673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669591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3203509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737427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4271345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62FFF2D8-DB24-144F-FA36-87D435C407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08710" y="1920278"/>
            <a:ext cx="14164891" cy="3566121"/>
          </a:xfrm>
        </p:spPr>
        <p:txBody>
          <a:bodyPr>
            <a:normAutofit/>
          </a:bodyPr>
          <a:lstStyle/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智慧製造專案計畫</a:t>
            </a:r>
            <a:endParaRPr lang="en-US" altLang="zh-TW" sz="5400" dirty="0">
              <a:solidFill>
                <a:srgbClr val="0070C0"/>
              </a:solidFill>
            </a:endParaRPr>
          </a:p>
          <a:p>
            <a:pPr marL="96106" indent="0" algn="ctr">
              <a:lnSpc>
                <a:spcPct val="200000"/>
              </a:lnSpc>
              <a:buNone/>
            </a:pPr>
            <a:r>
              <a:rPr lang="zh-TW" altLang="en-US" sz="5400" dirty="0">
                <a:solidFill>
                  <a:srgbClr val="0070C0"/>
                </a:solidFill>
              </a:rPr>
              <a:t>進度報告</a:t>
            </a:r>
          </a:p>
        </p:txBody>
      </p:sp>
      <p:sp>
        <p:nvSpPr>
          <p:cNvPr id="6" name="Google Shape;60;p13">
            <a:extLst>
              <a:ext uri="{FF2B5EF4-FFF2-40B4-BE49-F238E27FC236}">
                <a16:creationId xmlns:a16="http://schemas.microsoft.com/office/drawing/2014/main" id="{55E028BD-0512-D85A-72DD-CBC72BA4971D}"/>
              </a:ext>
            </a:extLst>
          </p:cNvPr>
          <p:cNvSpPr txBox="1"/>
          <p:nvPr/>
        </p:nvSpPr>
        <p:spPr>
          <a:xfrm>
            <a:off x="7744461" y="5835541"/>
            <a:ext cx="5333305" cy="33239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指導教授 </a:t>
            </a:r>
            <a:r>
              <a:rPr 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蔡志成 </a:t>
            </a:r>
            <a:r>
              <a:rPr lang="zh-TW" altLang="en-US" sz="30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教授</a:t>
            </a:r>
            <a:endParaRPr b="1" dirty="0">
              <a:latin typeface="標楷體" panose="03000509000000000000" pitchFamily="65" charset="-120"/>
              <a:ea typeface="標楷體" panose="03000509000000000000" pitchFamily="65" charset="-120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告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者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</a:t>
            </a: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 陳泓文</a:t>
            </a:r>
            <a:endParaRPr lang="en-US" altLang="zh-TW" sz="3500" b="1" dirty="0">
              <a:latin typeface="標楷體" panose="03000509000000000000" pitchFamily="65" charset="-120"/>
              <a:ea typeface="標楷體" panose="03000509000000000000" pitchFamily="65" charset="-120"/>
              <a:cs typeface="BiauKai"/>
              <a:sym typeface="BiauKai"/>
            </a:endParaRPr>
          </a:p>
          <a:p>
            <a:pPr lvl="0" algn="just">
              <a:lnSpc>
                <a:spcPct val="200000"/>
              </a:lnSpc>
              <a:buClr>
                <a:srgbClr val="FFFF99"/>
              </a:buClr>
              <a:buSzPts val="3500"/>
            </a:pPr>
            <a:r>
              <a:rPr lang="zh-TW" altLang="en-US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報告日期 </a:t>
            </a:r>
            <a:r>
              <a:rPr lang="en-US" altLang="zh-TW" sz="3500" b="1" dirty="0">
                <a:latin typeface="標楷體" panose="03000509000000000000" pitchFamily="65" charset="-120"/>
                <a:ea typeface="標楷體" panose="03000509000000000000" pitchFamily="65" charset="-120"/>
                <a:cs typeface="BiauKai"/>
                <a:sym typeface="BiauKai"/>
              </a:rPr>
              <a:t>: </a:t>
            </a:r>
            <a:r>
              <a:rPr lang="en-US" altLang="zh-TW" sz="3500" b="1" dirty="0">
                <a:latin typeface="Times New Roman" panose="02020603050405020304" pitchFamily="18" charset="0"/>
                <a:ea typeface="標楷體" panose="03000509000000000000" pitchFamily="65" charset="-120"/>
                <a:cs typeface="Times New Roman" panose="02020603050405020304" pitchFamily="18" charset="0"/>
                <a:sym typeface="BiauKai"/>
              </a:rPr>
              <a:t>2025/12/04</a:t>
            </a:r>
          </a:p>
        </p:txBody>
      </p:sp>
    </p:spTree>
    <p:extLst>
      <p:ext uri="{BB962C8B-B14F-4D97-AF65-F5344CB8AC3E}">
        <p14:creationId xmlns:p14="http://schemas.microsoft.com/office/powerpoint/2010/main" val="14689972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A2C3CBD-872F-D01B-94D3-D5D57124BF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61A77E1-95DB-B242-B068-4D727607E3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96106" indent="0" algn="ctr">
              <a:buNone/>
            </a:pPr>
            <a:endParaRPr lang="en-US" altLang="zh-TW" sz="7200" dirty="0">
              <a:solidFill>
                <a:schemeClr val="tx1"/>
              </a:solidFill>
            </a:endParaRPr>
          </a:p>
          <a:p>
            <a:pPr marL="96106" indent="0" algn="ctr">
              <a:buNone/>
            </a:pPr>
            <a:endParaRPr lang="en-US" altLang="zh-TW" sz="7200" dirty="0">
              <a:solidFill>
                <a:schemeClr val="tx1"/>
              </a:solidFill>
            </a:endParaRPr>
          </a:p>
          <a:p>
            <a:pPr marL="96106" indent="0" algn="ctr">
              <a:buNone/>
            </a:pPr>
            <a:r>
              <a:rPr lang="zh-TW" altLang="en-US" sz="7200" dirty="0">
                <a:solidFill>
                  <a:schemeClr val="tx1"/>
                </a:solidFill>
              </a:rPr>
              <a:t>接觸面抓取</a:t>
            </a:r>
          </a:p>
        </p:txBody>
      </p:sp>
    </p:spTree>
    <p:extLst>
      <p:ext uri="{BB962C8B-B14F-4D97-AF65-F5344CB8AC3E}">
        <p14:creationId xmlns:p14="http://schemas.microsoft.com/office/powerpoint/2010/main" val="6046387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56D1129-FEEC-A755-991A-90A897C236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1042" y="385230"/>
            <a:ext cx="16149533" cy="1781969"/>
          </a:xfrm>
        </p:spPr>
        <p:txBody>
          <a:bodyPr/>
          <a:lstStyle/>
          <a:p>
            <a:r>
              <a:rPr lang="en-US" altLang="zh-TW" dirty="0" err="1"/>
              <a:t>solidworks</a:t>
            </a:r>
            <a:r>
              <a:rPr lang="zh-TW" altLang="en-US" dirty="0"/>
              <a:t>讀取讀取產品製造資訊</a:t>
            </a:r>
            <a:r>
              <a:rPr lang="en-US" altLang="zh-TW" dirty="0"/>
              <a:t>(PMI)</a:t>
            </a:r>
            <a:br>
              <a:rPr lang="zh-TW" altLang="en-US" dirty="0"/>
            </a:br>
            <a:endParaRPr lang="zh-TW" altLang="en-US" dirty="0"/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FFC13A23-FF81-C973-EAE2-B4166655BF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702770" y="2334848"/>
            <a:ext cx="15586075" cy="7187950"/>
          </a:xfrm>
        </p:spPr>
      </p:pic>
    </p:spTree>
    <p:extLst>
      <p:ext uri="{BB962C8B-B14F-4D97-AF65-F5344CB8AC3E}">
        <p14:creationId xmlns:p14="http://schemas.microsoft.com/office/powerpoint/2010/main" val="74318097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1664B5-1E1D-A0A4-117C-42030ED6F535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2420938" y="1603771"/>
                <a:ext cx="15585853" cy="9088042"/>
              </a:xfrm>
            </p:spPr>
            <p:txBody>
              <a:bodyPr>
                <a:normAutofit fontScale="92500"/>
              </a:bodyPr>
              <a:lstStyle/>
              <a:p>
                <a:pPr marL="96106" indent="0">
                  <a:lnSpc>
                    <a:spcPct val="150000"/>
                  </a:lnSpc>
                  <a:buNone/>
                </a:pPr>
                <a:r>
                  <a:rPr lang="zh-TW" altLang="en-US" b="1" dirty="0"/>
                  <a:t>標準版使用 </a:t>
                </a:r>
                <a:r>
                  <a:rPr lang="en-US" altLang="zh-TW" b="1" dirty="0"/>
                  <a:t>AP203/214</a:t>
                </a:r>
                <a:r>
                  <a:rPr lang="zh-TW" altLang="en-US" b="1" dirty="0"/>
                  <a:t>檔案格式</a:t>
                </a:r>
                <a:endParaRPr lang="en-US" altLang="zh-TW" b="1" dirty="0"/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如果在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SolidWorks 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標了尺寸，轉存成 </a:t>
                </a:r>
                <a:r>
                  <a:rPr lang="en-US" altLang="zh-TW" b="1" dirty="0">
                    <a:solidFill>
                      <a:schemeClr val="tx1"/>
                    </a:solidFill>
                  </a:rPr>
                  <a:t>AP203/214 </a:t>
                </a:r>
                <a:r>
                  <a:rPr lang="zh-TW" altLang="en-US" b="1" dirty="0">
                    <a:solidFill>
                      <a:schemeClr val="tx1"/>
                    </a:solidFill>
                  </a:rPr>
                  <a:t>。</a:t>
                </a:r>
                <a:endParaRPr lang="en-US" altLang="zh-TW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結果</a:t>
                </a:r>
                <a:r>
                  <a:rPr lang="zh-TW" altLang="en-US" b="1" dirty="0">
                    <a:solidFill>
                      <a:schemeClr val="tx1"/>
                    </a:solidFill>
                  </a:rPr>
                  <a:t>：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尺寸標註通常會消失，或者變成一堆「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3D 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空間中的線條與文字」。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en-US" altLang="zh-TW" dirty="0">
                    <a:solidFill>
                      <a:schemeClr val="tx1"/>
                    </a:solidFill>
                  </a:rPr>
                  <a:t>VBA 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程式讀取檔案時，看到的不是「數值」，而是一堆無意義的幾何線段。要讀出像是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“50 </a:t>
                </a:r>
                <a14:m>
                  <m:oMath xmlns:m="http://schemas.openxmlformats.org/officeDocument/2006/math">
                    <m:r>
                      <a:rPr lang="en-US" altLang="zh-TW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±</m:t>
                    </m:r>
                  </m:oMath>
                </a14:m>
                <a:r>
                  <a:rPr lang="en-US" altLang="zh-TW" dirty="0">
                    <a:solidFill>
                      <a:schemeClr val="tx1"/>
                    </a:solidFill>
                  </a:rPr>
                  <a:t>0.1”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這種數值，必須寫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OCR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，準確率很低。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 marL="96106" indent="0">
                  <a:lnSpc>
                    <a:spcPct val="150000"/>
                  </a:lnSpc>
                  <a:buNone/>
                </a:pPr>
                <a:r>
                  <a:rPr lang="en-US" altLang="zh-TW" b="1" dirty="0"/>
                  <a:t>(</a:t>
                </a:r>
                <a:r>
                  <a:rPr lang="zh-TW" altLang="en-US" b="1" dirty="0"/>
                  <a:t>購買</a:t>
                </a:r>
                <a:r>
                  <a:rPr lang="en-US" altLang="zh-TW" b="1" dirty="0"/>
                  <a:t>)MBD </a:t>
                </a:r>
                <a:r>
                  <a:rPr lang="zh-TW" altLang="en-US" b="1" dirty="0"/>
                  <a:t>模組使用</a:t>
                </a:r>
                <a:r>
                  <a:rPr lang="en-US" altLang="zh-TW" b="1" dirty="0"/>
                  <a:t>AP242</a:t>
                </a:r>
                <a:r>
                  <a:rPr lang="zh-TW" altLang="en-US" b="1" dirty="0"/>
                  <a:t>檔案格式</a:t>
                </a:r>
                <a:endParaRPr lang="en-US" altLang="zh-TW" b="1" dirty="0"/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定義好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PMI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，轉存成 </a:t>
                </a:r>
                <a:r>
                  <a:rPr lang="en-US" altLang="zh-TW" b="1" dirty="0">
                    <a:solidFill>
                      <a:schemeClr val="tx1"/>
                    </a:solidFill>
                  </a:rPr>
                  <a:t>AP242</a:t>
                </a:r>
                <a:r>
                  <a:rPr lang="zh-TW" altLang="en-US" b="1" dirty="0">
                    <a:solidFill>
                      <a:schemeClr val="tx1"/>
                    </a:solidFill>
                  </a:rPr>
                  <a:t>。</a:t>
                </a:r>
                <a:endParaRPr lang="en-US" altLang="zh-TW" b="1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結果：檔案內部包含了一個結構化的資料庫。</a:t>
                </a:r>
                <a:endParaRPr lang="en-US" altLang="zh-TW" dirty="0">
                  <a:solidFill>
                    <a:schemeClr val="tx1"/>
                  </a:solidFill>
                </a:endParaRPr>
              </a:p>
              <a:p>
                <a:pPr>
                  <a:lnSpc>
                    <a:spcPct val="150000"/>
                  </a:lnSpc>
                </a:pPr>
                <a:r>
                  <a:rPr lang="zh-TW" altLang="en-US" dirty="0">
                    <a:solidFill>
                      <a:schemeClr val="tx1"/>
                    </a:solidFill>
                  </a:rPr>
                  <a:t>這些公差數據是以機器可讀的屬性儲存。系統可以直接讀取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XML 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標籤或 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STEP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資料結構，並直接獲取尺寸</a:t>
                </a:r>
                <a:r>
                  <a:rPr lang="en-US" altLang="zh-TW" dirty="0">
                    <a:solidFill>
                      <a:schemeClr val="tx1"/>
                    </a:solidFill>
                  </a:rPr>
                  <a:t>/</a:t>
                </a:r>
                <a:r>
                  <a:rPr lang="zh-TW" altLang="en-US" dirty="0">
                    <a:solidFill>
                      <a:schemeClr val="tx1"/>
                    </a:solidFill>
                  </a:rPr>
                  <a:t>公差數值。</a:t>
                </a:r>
                <a:endParaRPr lang="zh-TW" altLang="en-US" dirty="0"/>
              </a:p>
            </p:txBody>
          </p:sp>
        </mc:Choice>
        <mc:Fallback xmlns="">
          <p:sp>
            <p:nvSpPr>
              <p:cNvPr id="3" name="內容版面配置區 2">
                <a:extLst>
                  <a:ext uri="{FF2B5EF4-FFF2-40B4-BE49-F238E27FC236}">
                    <a16:creationId xmlns:a16="http://schemas.microsoft.com/office/drawing/2014/main" id="{C91664B5-1E1D-A0A4-117C-42030ED6F535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2420938" y="1603771"/>
                <a:ext cx="15585853" cy="9088042"/>
              </a:xfrm>
              <a:blipFill>
                <a:blip r:embed="rId2"/>
                <a:stretch>
                  <a:fillRect l="-508"/>
                </a:stretch>
              </a:blipFill>
            </p:spPr>
            <p:txBody>
              <a:bodyPr/>
              <a:lstStyle/>
              <a:p>
                <a:r>
                  <a:rPr lang="zh-TW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標題 1">
            <a:extLst>
              <a:ext uri="{FF2B5EF4-FFF2-40B4-BE49-F238E27FC236}">
                <a16:creationId xmlns:a16="http://schemas.microsoft.com/office/drawing/2014/main" id="{FBA6B3C6-9FFC-C9F5-1EF6-08B442ECB7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20938" y="157163"/>
            <a:ext cx="16149637" cy="1781175"/>
          </a:xfrm>
        </p:spPr>
        <p:txBody>
          <a:bodyPr/>
          <a:lstStyle/>
          <a:p>
            <a:r>
              <a:rPr lang="en-US" altLang="zh-TW" dirty="0" err="1"/>
              <a:t>solidworks</a:t>
            </a:r>
            <a:r>
              <a:rPr lang="zh-TW" altLang="en-US" dirty="0"/>
              <a:t>讀取產品製造資訊</a:t>
            </a:r>
            <a:r>
              <a:rPr lang="en-US" altLang="zh-TW" dirty="0"/>
              <a:t>(PMI)</a:t>
            </a:r>
            <a:br>
              <a:rPr lang="zh-TW" altLang="en-US" dirty="0"/>
            </a:b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386460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D3539EBE-D85D-1BF4-A749-1265C4B8A3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TW" altLang="en-US"/>
          </a:p>
        </p:txBody>
      </p:sp>
      <p:pic>
        <p:nvPicPr>
          <p:cNvPr id="6" name="內容版面配置區 5" descr="一張含有 文字, 數字, 字型, 功能表 的圖片&#10;&#10;AI 產生的內容可能不正確。">
            <a:extLst>
              <a:ext uri="{FF2B5EF4-FFF2-40B4-BE49-F238E27FC236}">
                <a16:creationId xmlns:a16="http://schemas.microsoft.com/office/drawing/2014/main" id="{224F1543-C6A6-8ECE-151A-3852789B4DC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98077" y="307914"/>
            <a:ext cx="16809061" cy="10075984"/>
          </a:xfrm>
        </p:spPr>
      </p:pic>
    </p:spTree>
    <p:extLst>
      <p:ext uri="{BB962C8B-B14F-4D97-AF65-F5344CB8AC3E}">
        <p14:creationId xmlns:p14="http://schemas.microsoft.com/office/powerpoint/2010/main" val="21956143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9" name="表格 18">
            <a:extLst>
              <a:ext uri="{FF2B5EF4-FFF2-40B4-BE49-F238E27FC236}">
                <a16:creationId xmlns:a16="http://schemas.microsoft.com/office/drawing/2014/main" id="{45EFC473-C474-E354-5D31-B9BAC9D3369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6051317"/>
              </p:ext>
            </p:extLst>
          </p:nvPr>
        </p:nvGraphicFramePr>
        <p:xfrm>
          <a:off x="7639708" y="150613"/>
          <a:ext cx="11093798" cy="10083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93798">
                  <a:extLst>
                    <a:ext uri="{9D8B030D-6E8A-4147-A177-3AD203B41FA5}">
                      <a16:colId xmlns:a16="http://schemas.microsoft.com/office/drawing/2014/main" val="680101583"/>
                    </a:ext>
                  </a:extLst>
                </a:gridCol>
              </a:tblGrid>
              <a:tr h="7236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6723601"/>
                  </a:ext>
                </a:extLst>
              </a:tr>
              <a:tr h="43199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9305347"/>
                  </a:ext>
                </a:extLst>
              </a:tr>
              <a:tr h="72000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2374035"/>
                  </a:ext>
                </a:extLst>
              </a:tr>
              <a:tr h="4319980">
                <a:tc>
                  <a:txBody>
                    <a:bodyPr/>
                    <a:lstStyle/>
                    <a:p>
                      <a:endParaRPr lang="zh-TW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10869171"/>
                  </a:ext>
                </a:extLst>
              </a:tr>
            </a:tbl>
          </a:graphicData>
        </a:graphic>
      </p:graphicFrame>
      <p:sp>
        <p:nvSpPr>
          <p:cNvPr id="2" name="標題 1">
            <a:extLst>
              <a:ext uri="{FF2B5EF4-FFF2-40B4-BE49-F238E27FC236}">
                <a16:creationId xmlns:a16="http://schemas.microsoft.com/office/drawing/2014/main" id="{6311A7CC-362F-B475-4509-BE955A4BE6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62787" y="-88185"/>
            <a:ext cx="16149533" cy="1781969"/>
          </a:xfrm>
        </p:spPr>
        <p:txBody>
          <a:bodyPr/>
          <a:lstStyle/>
          <a:p>
            <a:pPr lvl="0" defTabSz="1828434">
              <a:defRPr/>
            </a:pPr>
            <a:r>
              <a:rPr lang="en-US" altLang="zh-TW" dirty="0"/>
              <a:t>MySQL</a:t>
            </a:r>
            <a:r>
              <a:rPr lang="zh-TW" altLang="en-US" dirty="0"/>
              <a:t>標準查詢</a:t>
            </a:r>
            <a:endParaRPr lang="en-US" altLang="zh-TW" dirty="0"/>
          </a:p>
        </p:txBody>
      </p:sp>
      <p:pic>
        <p:nvPicPr>
          <p:cNvPr id="7" name="內容版面配置區 6">
            <a:extLst>
              <a:ext uri="{FF2B5EF4-FFF2-40B4-BE49-F238E27FC236}">
                <a16:creationId xmlns:a16="http://schemas.microsoft.com/office/drawing/2014/main" id="{EF8719B2-185C-AB76-A0C6-ADE93A05C12A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347" r="12828" b="3097"/>
          <a:stretch>
            <a:fillRect/>
          </a:stretch>
        </p:blipFill>
        <p:spPr>
          <a:xfrm>
            <a:off x="7639707" y="5920453"/>
            <a:ext cx="11093798" cy="4413600"/>
          </a:xfrm>
        </p:spPr>
      </p:pic>
      <p:pic>
        <p:nvPicPr>
          <p:cNvPr id="9" name="圖片 8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EA254CD6-4C54-9BD2-8173-5C7904B13A0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-932" r="21719" b="1"/>
          <a:stretch>
            <a:fillRect/>
          </a:stretch>
        </p:blipFill>
        <p:spPr>
          <a:xfrm>
            <a:off x="160124" y="2249849"/>
            <a:ext cx="7002834" cy="6192114"/>
          </a:xfrm>
          <a:prstGeom prst="rect">
            <a:avLst/>
          </a:prstGeom>
        </p:spPr>
      </p:pic>
      <p:pic>
        <p:nvPicPr>
          <p:cNvPr id="11" name="圖片 10" descr="一張含有 文字, 螢幕擷取畫面, 軟體, 數字 的圖片&#10;&#10;AI 產生的內容可能不正確。">
            <a:extLst>
              <a:ext uri="{FF2B5EF4-FFF2-40B4-BE49-F238E27FC236}">
                <a16:creationId xmlns:a16="http://schemas.microsoft.com/office/drawing/2014/main" id="{68083FA3-CCF4-CF95-7676-805C44BA63A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4769"/>
          <a:stretch>
            <a:fillRect/>
          </a:stretch>
        </p:blipFill>
        <p:spPr>
          <a:xfrm>
            <a:off x="7639707" y="901090"/>
            <a:ext cx="11093798" cy="4412592"/>
          </a:xfrm>
          <a:prstGeom prst="rect">
            <a:avLst/>
          </a:prstGeom>
        </p:spPr>
      </p:pic>
      <p:sp>
        <p:nvSpPr>
          <p:cNvPr id="16" name="文字方塊 15">
            <a:extLst>
              <a:ext uri="{FF2B5EF4-FFF2-40B4-BE49-F238E27FC236}">
                <a16:creationId xmlns:a16="http://schemas.microsoft.com/office/drawing/2014/main" id="{953FCCAD-E14A-1B02-0316-7929663B613D}"/>
              </a:ext>
            </a:extLst>
          </p:cNvPr>
          <p:cNvSpPr txBox="1"/>
          <p:nvPr/>
        </p:nvSpPr>
        <p:spPr>
          <a:xfrm>
            <a:off x="2956034" y="1495225"/>
            <a:ext cx="2782614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IT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等級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:404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17" name="文字方塊 16">
            <a:extLst>
              <a:ext uri="{FF2B5EF4-FFF2-40B4-BE49-F238E27FC236}">
                <a16:creationId xmlns:a16="http://schemas.microsoft.com/office/drawing/2014/main" id="{3209CF58-8772-B80E-33F3-83E61D4C98DE}"/>
              </a:ext>
            </a:extLst>
          </p:cNvPr>
          <p:cNvSpPr txBox="1"/>
          <p:nvPr/>
        </p:nvSpPr>
        <p:spPr>
          <a:xfrm>
            <a:off x="9290261" y="188032"/>
            <a:ext cx="331742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軸偏差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:20300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  <p:sp>
        <p:nvSpPr>
          <p:cNvPr id="18" name="文字方塊 17">
            <a:extLst>
              <a:ext uri="{FF2B5EF4-FFF2-40B4-BE49-F238E27FC236}">
                <a16:creationId xmlns:a16="http://schemas.microsoft.com/office/drawing/2014/main" id="{636EA5F8-4B6B-DF97-DA59-DFC440217A05}"/>
              </a:ext>
            </a:extLst>
          </p:cNvPr>
          <p:cNvSpPr txBox="1"/>
          <p:nvPr/>
        </p:nvSpPr>
        <p:spPr>
          <a:xfrm>
            <a:off x="9290261" y="5316401"/>
            <a:ext cx="310143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孔偏差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:20034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筆</a:t>
            </a:r>
          </a:p>
        </p:txBody>
      </p:sp>
    </p:spTree>
    <p:extLst>
      <p:ext uri="{BB962C8B-B14F-4D97-AF65-F5344CB8AC3E}">
        <p14:creationId xmlns:p14="http://schemas.microsoft.com/office/powerpoint/2010/main" val="19202949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圖片 18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2C5C4764-EA5C-7FF8-3B12-D159C61558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248" r="6314"/>
          <a:stretch>
            <a:fillRect/>
          </a:stretch>
        </p:blipFill>
        <p:spPr>
          <a:xfrm>
            <a:off x="116602" y="1913028"/>
            <a:ext cx="8394218" cy="5430007"/>
          </a:xfrm>
          <a:prstGeom prst="rect">
            <a:avLst/>
          </a:prstGeom>
        </p:spPr>
      </p:pic>
      <p:sp>
        <p:nvSpPr>
          <p:cNvPr id="20" name="文字方塊 19">
            <a:extLst>
              <a:ext uri="{FF2B5EF4-FFF2-40B4-BE49-F238E27FC236}">
                <a16:creationId xmlns:a16="http://schemas.microsoft.com/office/drawing/2014/main" id="{AB4F587D-FA36-26C8-E3B1-B9B7C58DD5DB}"/>
              </a:ext>
            </a:extLst>
          </p:cNvPr>
          <p:cNvSpPr txBox="1"/>
          <p:nvPr/>
        </p:nvSpPr>
        <p:spPr>
          <a:xfrm>
            <a:off x="2242593" y="190285"/>
            <a:ext cx="2520253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IT</a:t>
            </a:r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基本公差</a:t>
            </a:r>
          </a:p>
        </p:txBody>
      </p:sp>
      <p:pic>
        <p:nvPicPr>
          <p:cNvPr id="25" name="圖片 2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42487305-665A-58BE-6BA3-67A8F9F92B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52786" y="775060"/>
            <a:ext cx="8945223" cy="7640116"/>
          </a:xfrm>
          <a:prstGeom prst="rect">
            <a:avLst/>
          </a:prstGeom>
        </p:spPr>
      </p:pic>
      <p:sp>
        <p:nvSpPr>
          <p:cNvPr id="26" name="箭號: 向右 25">
            <a:extLst>
              <a:ext uri="{FF2B5EF4-FFF2-40B4-BE49-F238E27FC236}">
                <a16:creationId xmlns:a16="http://schemas.microsoft.com/office/drawing/2014/main" id="{B76AD71B-5774-5127-AF2B-52D2D0ED3FFC}"/>
              </a:ext>
            </a:extLst>
          </p:cNvPr>
          <p:cNvSpPr/>
          <p:nvPr/>
        </p:nvSpPr>
        <p:spPr>
          <a:xfrm>
            <a:off x="8582791" y="4092601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4594294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65C85D37-E4FE-40B4-6CFE-1067610D2F13}"/>
              </a:ext>
            </a:extLst>
          </p:cNvPr>
          <p:cNvSpPr txBox="1"/>
          <p:nvPr/>
        </p:nvSpPr>
        <p:spPr>
          <a:xfrm>
            <a:off x="2242594" y="190285"/>
            <a:ext cx="1512978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軸公差</a:t>
            </a:r>
          </a:p>
        </p:txBody>
      </p:sp>
      <p:pic>
        <p:nvPicPr>
          <p:cNvPr id="5" name="圖片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1E48B20D-49F8-E5C4-DACB-8E5F1573767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2145" b="8365"/>
          <a:stretch>
            <a:fillRect/>
          </a:stretch>
        </p:blipFill>
        <p:spPr>
          <a:xfrm>
            <a:off x="9921544" y="6384702"/>
            <a:ext cx="8981222" cy="3980539"/>
          </a:xfrm>
          <a:prstGeom prst="rect">
            <a:avLst/>
          </a:prstGeom>
        </p:spPr>
      </p:pic>
      <p:pic>
        <p:nvPicPr>
          <p:cNvPr id="6" name="圖片 5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3C1E7E51-5E02-FD4C-7AA9-1FE42873D2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890" b="5836"/>
          <a:stretch>
            <a:fillRect/>
          </a:stretch>
        </p:blipFill>
        <p:spPr>
          <a:xfrm>
            <a:off x="9921544" y="181058"/>
            <a:ext cx="8964000" cy="6007471"/>
          </a:xfrm>
          <a:prstGeom prst="rect">
            <a:avLst/>
          </a:prstGeom>
        </p:spPr>
      </p:pic>
      <p:sp>
        <p:nvSpPr>
          <p:cNvPr id="7" name="箭號: 向右 6">
            <a:extLst>
              <a:ext uri="{FF2B5EF4-FFF2-40B4-BE49-F238E27FC236}">
                <a16:creationId xmlns:a16="http://schemas.microsoft.com/office/drawing/2014/main" id="{66B7D994-CD9F-99A4-7645-C3DA0B6BFDD2}"/>
              </a:ext>
            </a:extLst>
          </p:cNvPr>
          <p:cNvSpPr/>
          <p:nvPr/>
        </p:nvSpPr>
        <p:spPr>
          <a:xfrm>
            <a:off x="8566272" y="3794097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箭號: 向右 7">
            <a:extLst>
              <a:ext uri="{FF2B5EF4-FFF2-40B4-BE49-F238E27FC236}">
                <a16:creationId xmlns:a16="http://schemas.microsoft.com/office/drawing/2014/main" id="{9AF4B378-656B-AE77-EC14-D814AB55A939}"/>
              </a:ext>
            </a:extLst>
          </p:cNvPr>
          <p:cNvSpPr/>
          <p:nvPr/>
        </p:nvSpPr>
        <p:spPr>
          <a:xfrm rot="2108451">
            <a:off x="8575703" y="7006545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9" name="文字方塊 8">
            <a:extLst>
              <a:ext uri="{FF2B5EF4-FFF2-40B4-BE49-F238E27FC236}">
                <a16:creationId xmlns:a16="http://schemas.microsoft.com/office/drawing/2014/main" id="{E3C005AC-D186-66F0-2E16-EE4684B6FFDE}"/>
              </a:ext>
            </a:extLst>
          </p:cNvPr>
          <p:cNvSpPr txBox="1"/>
          <p:nvPr/>
        </p:nvSpPr>
        <p:spPr>
          <a:xfrm>
            <a:off x="8850426" y="3111235"/>
            <a:ext cx="653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903C70E-799C-4A12-166F-0920CA607C30}"/>
              </a:ext>
            </a:extLst>
          </p:cNvPr>
          <p:cNvSpPr txBox="1"/>
          <p:nvPr/>
        </p:nvSpPr>
        <p:spPr>
          <a:xfrm>
            <a:off x="8850426" y="6418886"/>
            <a:ext cx="653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否</a:t>
            </a: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A6CDD80E-2408-DD3E-E821-DFA89D417817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20762" y="1773073"/>
            <a:ext cx="7963637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1726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D2D2C7F4-6178-EC0C-1801-76345A7B2BD1}"/>
              </a:ext>
            </a:extLst>
          </p:cNvPr>
          <p:cNvSpPr txBox="1"/>
          <p:nvPr/>
        </p:nvSpPr>
        <p:spPr>
          <a:xfrm>
            <a:off x="2242594" y="190285"/>
            <a:ext cx="1496650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孔公差</a:t>
            </a:r>
          </a:p>
        </p:txBody>
      </p:sp>
      <p:pic>
        <p:nvPicPr>
          <p:cNvPr id="5" name="內容版面配置區 4">
            <a:extLst>
              <a:ext uri="{FF2B5EF4-FFF2-40B4-BE49-F238E27FC236}">
                <a16:creationId xmlns:a16="http://schemas.microsoft.com/office/drawing/2014/main" id="{1925566E-ECD3-7A65-636F-3230DFA79F0F}"/>
              </a:ext>
            </a:extLst>
          </p:cNvPr>
          <p:cNvPicPr preferRelativeResize="0">
            <a:picLocks noGrp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3395" b="9192"/>
          <a:stretch>
            <a:fillRect/>
          </a:stretch>
        </p:blipFill>
        <p:spPr>
          <a:xfrm>
            <a:off x="9880162" y="6285928"/>
            <a:ext cx="8982000" cy="4215600"/>
          </a:xfrm>
        </p:spPr>
      </p:pic>
      <p:pic>
        <p:nvPicPr>
          <p:cNvPr id="9" name="圖片 8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8F664116-85EB-7BC9-18E1-ECEFFE7C7F7F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6028" r="7143" b="4466"/>
          <a:stretch>
            <a:fillRect/>
          </a:stretch>
        </p:blipFill>
        <p:spPr>
          <a:xfrm>
            <a:off x="9898162" y="190285"/>
            <a:ext cx="8964000" cy="6008400"/>
          </a:xfrm>
          <a:prstGeom prst="rect">
            <a:avLst/>
          </a:prstGeom>
        </p:spPr>
      </p:pic>
      <p:sp>
        <p:nvSpPr>
          <p:cNvPr id="6" name="箭號: 向右 5">
            <a:extLst>
              <a:ext uri="{FF2B5EF4-FFF2-40B4-BE49-F238E27FC236}">
                <a16:creationId xmlns:a16="http://schemas.microsoft.com/office/drawing/2014/main" id="{523BB889-A50F-5963-EBEC-3EE440BA4BFD}"/>
              </a:ext>
            </a:extLst>
          </p:cNvPr>
          <p:cNvSpPr/>
          <p:nvPr/>
        </p:nvSpPr>
        <p:spPr>
          <a:xfrm>
            <a:off x="8566272" y="3794097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7" name="箭號: 向右 6">
            <a:extLst>
              <a:ext uri="{FF2B5EF4-FFF2-40B4-BE49-F238E27FC236}">
                <a16:creationId xmlns:a16="http://schemas.microsoft.com/office/drawing/2014/main" id="{1FD68E38-E950-8CE6-0DFA-F84216C44BEC}"/>
              </a:ext>
            </a:extLst>
          </p:cNvPr>
          <p:cNvSpPr/>
          <p:nvPr/>
        </p:nvSpPr>
        <p:spPr>
          <a:xfrm rot="2108451">
            <a:off x="8575703" y="7006545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C6C8EAB-B65A-443F-572C-2D52BFC6F77A}"/>
              </a:ext>
            </a:extLst>
          </p:cNvPr>
          <p:cNvSpPr txBox="1"/>
          <p:nvPr/>
        </p:nvSpPr>
        <p:spPr>
          <a:xfrm>
            <a:off x="8850426" y="3111235"/>
            <a:ext cx="653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是</a:t>
            </a:r>
          </a:p>
        </p:txBody>
      </p:sp>
      <p:sp>
        <p:nvSpPr>
          <p:cNvPr id="10" name="文字方塊 9">
            <a:extLst>
              <a:ext uri="{FF2B5EF4-FFF2-40B4-BE49-F238E27FC236}">
                <a16:creationId xmlns:a16="http://schemas.microsoft.com/office/drawing/2014/main" id="{53836C5C-E6AA-78E0-F5AB-7D9179DD5384}"/>
              </a:ext>
            </a:extLst>
          </p:cNvPr>
          <p:cNvSpPr txBox="1"/>
          <p:nvPr/>
        </p:nvSpPr>
        <p:spPr>
          <a:xfrm>
            <a:off x="8850426" y="6418886"/>
            <a:ext cx="65314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否</a:t>
            </a:r>
          </a:p>
        </p:txBody>
      </p:sp>
      <p:pic>
        <p:nvPicPr>
          <p:cNvPr id="11" name="圖片 10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6EBC4D7B-4AE4-853F-3C76-841901F04D8F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4054"/>
          <a:stretch>
            <a:fillRect/>
          </a:stretch>
        </p:blipFill>
        <p:spPr>
          <a:xfrm>
            <a:off x="226042" y="1603661"/>
            <a:ext cx="7963637" cy="540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10683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4AE960F3-4E14-B714-0205-2212810FEAF3}"/>
              </a:ext>
            </a:extLst>
          </p:cNvPr>
          <p:cNvSpPr txBox="1"/>
          <p:nvPr/>
        </p:nvSpPr>
        <p:spPr>
          <a:xfrm>
            <a:off x="2242594" y="190285"/>
            <a:ext cx="1904864" cy="584775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配合分析</a:t>
            </a:r>
          </a:p>
        </p:txBody>
      </p:sp>
      <p:pic>
        <p:nvPicPr>
          <p:cNvPr id="13" name="圖片 12" descr="一張含有 文字, 螢幕擷取畫面, 軟體 的圖片&#10;&#10;AI 產生的內容可能不正確。">
            <a:extLst>
              <a:ext uri="{FF2B5EF4-FFF2-40B4-BE49-F238E27FC236}">
                <a16:creationId xmlns:a16="http://schemas.microsoft.com/office/drawing/2014/main" id="{8F246EA1-5D95-917E-C215-BE9E304C9B52}"/>
              </a:ext>
            </a:extLst>
          </p:cNvPr>
          <p:cNvPicPr preferRelativeResize="0"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518" b="11349"/>
          <a:stretch>
            <a:fillRect/>
          </a:stretch>
        </p:blipFill>
        <p:spPr>
          <a:xfrm>
            <a:off x="262296" y="1566059"/>
            <a:ext cx="7956000" cy="5400000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F88BD6D3-C410-EBD4-CA67-310BF68A1107}"/>
              </a:ext>
            </a:extLst>
          </p:cNvPr>
          <p:cNvPicPr preferRelativeResize="0"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74" r="502"/>
          <a:stretch>
            <a:fillRect/>
          </a:stretch>
        </p:blipFill>
        <p:spPr>
          <a:xfrm>
            <a:off x="9503569" y="1052730"/>
            <a:ext cx="9000000" cy="9448799"/>
          </a:xfrm>
          <a:prstGeom prst="rect">
            <a:avLst/>
          </a:prstGeom>
        </p:spPr>
      </p:pic>
      <p:sp>
        <p:nvSpPr>
          <p:cNvPr id="5" name="文字方塊 4">
            <a:extLst>
              <a:ext uri="{FF2B5EF4-FFF2-40B4-BE49-F238E27FC236}">
                <a16:creationId xmlns:a16="http://schemas.microsoft.com/office/drawing/2014/main" id="{B3AC8194-17D3-B391-2F84-E3BB7451AC10}"/>
              </a:ext>
            </a:extLst>
          </p:cNvPr>
          <p:cNvSpPr txBox="1"/>
          <p:nvPr/>
        </p:nvSpPr>
        <p:spPr>
          <a:xfrm>
            <a:off x="9712944" y="315771"/>
            <a:ext cx="3126756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間隙配合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:G5/h8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6" name="文字方塊 5">
            <a:extLst>
              <a:ext uri="{FF2B5EF4-FFF2-40B4-BE49-F238E27FC236}">
                <a16:creationId xmlns:a16="http://schemas.microsoft.com/office/drawing/2014/main" id="{09A41D50-61A4-0029-C656-F470B6B618EE}"/>
              </a:ext>
            </a:extLst>
          </p:cNvPr>
          <p:cNvSpPr txBox="1"/>
          <p:nvPr/>
        </p:nvSpPr>
        <p:spPr>
          <a:xfrm>
            <a:off x="9712944" y="315771"/>
            <a:ext cx="2903845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過盈配合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:H7/s6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8" name="文字方塊 7">
            <a:extLst>
              <a:ext uri="{FF2B5EF4-FFF2-40B4-BE49-F238E27FC236}">
                <a16:creationId xmlns:a16="http://schemas.microsoft.com/office/drawing/2014/main" id="{449FA2C1-EA0B-BDFA-84E8-97E97142981E}"/>
              </a:ext>
            </a:extLst>
          </p:cNvPr>
          <p:cNvSpPr txBox="1"/>
          <p:nvPr/>
        </p:nvSpPr>
        <p:spPr>
          <a:xfrm>
            <a:off x="9712944" y="315771"/>
            <a:ext cx="3290807" cy="584775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TW" altLang="en-US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過渡配合</a:t>
            </a:r>
            <a:r>
              <a:rPr lang="en-US" altLang="zh-TW" sz="3200" dirty="0">
                <a:latin typeface="Times New Roman" panose="02020603050405020304" pitchFamily="18" charset="0"/>
                <a:ea typeface="標楷體" panose="03000509000000000000" pitchFamily="65" charset="-120"/>
              </a:rPr>
              <a:t>:JS7/js7</a:t>
            </a:r>
            <a:endParaRPr lang="zh-TW" altLang="en-US" sz="320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CF43ABF0-2632-126F-9FE2-BDB9CD4E7B41}"/>
              </a:ext>
            </a:extLst>
          </p:cNvPr>
          <p:cNvPicPr preferRelativeResize="0">
            <a:picLocks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436" y="1052730"/>
            <a:ext cx="9021434" cy="9450000"/>
          </a:xfrm>
          <a:prstGeom prst="rect">
            <a:avLst/>
          </a:prstGeom>
        </p:spPr>
      </p:pic>
      <p:pic>
        <p:nvPicPr>
          <p:cNvPr id="12" name="圖片 11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7399662B-D621-1B30-A36C-C46FD736CBE6}"/>
              </a:ext>
            </a:extLst>
          </p:cNvPr>
          <p:cNvPicPr preferRelativeResize="0">
            <a:picLocks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80703" y="1052129"/>
            <a:ext cx="9316750" cy="9450000"/>
          </a:xfrm>
          <a:prstGeom prst="rect">
            <a:avLst/>
          </a:prstGeom>
        </p:spPr>
      </p:pic>
      <p:sp>
        <p:nvSpPr>
          <p:cNvPr id="14" name="箭號: 向右 13">
            <a:extLst>
              <a:ext uri="{FF2B5EF4-FFF2-40B4-BE49-F238E27FC236}">
                <a16:creationId xmlns:a16="http://schemas.microsoft.com/office/drawing/2014/main" id="{DA51CD77-6F1B-5572-DD7D-D1E646375269}"/>
              </a:ext>
            </a:extLst>
          </p:cNvPr>
          <p:cNvSpPr/>
          <p:nvPr/>
        </p:nvSpPr>
        <p:spPr>
          <a:xfrm>
            <a:off x="8262597" y="4002830"/>
            <a:ext cx="1240972" cy="678976"/>
          </a:xfrm>
          <a:prstGeom prst="rightArrow">
            <a:avLst/>
          </a:prstGeom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154152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5" grpId="1" animBg="1"/>
      <p:bldP spid="6" grpId="0" animBg="1"/>
      <p:bldP spid="6" grpId="1" animBg="1"/>
      <p:bldP spid="8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56DB2D4C-D739-2141-F81C-2718CCAA83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離線版</a:t>
            </a:r>
            <a:r>
              <a:rPr lang="en-US" altLang="zh-TW" dirty="0"/>
              <a:t>(</a:t>
            </a:r>
            <a:r>
              <a:rPr lang="zh-TW" altLang="en-US" dirty="0"/>
              <a:t>不用連線到資料庫</a:t>
            </a:r>
            <a:r>
              <a:rPr lang="en-US" altLang="zh-TW" dirty="0"/>
              <a:t>)</a:t>
            </a:r>
            <a:endParaRPr lang="zh-TW" altLang="en-US" dirty="0"/>
          </a:p>
        </p:txBody>
      </p:sp>
      <p:pic>
        <p:nvPicPr>
          <p:cNvPr id="5" name="內容版面配置區 4" descr="一張含有 螢幕擷取畫面, 文字, 軟體, 多媒體軟體 的圖片&#10;&#10;AI 產生的內容可能不正確。">
            <a:extLst>
              <a:ext uri="{FF2B5EF4-FFF2-40B4-BE49-F238E27FC236}">
                <a16:creationId xmlns:a16="http://schemas.microsoft.com/office/drawing/2014/main" id="{C70845F5-EA50-2861-27B5-C5209B4DAFA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28362" y="1938599"/>
            <a:ext cx="16587112" cy="8348401"/>
          </a:xfrm>
        </p:spPr>
      </p:pic>
    </p:spTree>
    <p:extLst>
      <p:ext uri="{BB962C8B-B14F-4D97-AF65-F5344CB8AC3E}">
        <p14:creationId xmlns:p14="http://schemas.microsoft.com/office/powerpoint/2010/main" val="35102808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3A272A5-5E12-2CE2-C021-92C83D346B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0892" y="118006"/>
            <a:ext cx="16149533" cy="1781969"/>
          </a:xfrm>
        </p:spPr>
        <p:txBody>
          <a:bodyPr/>
          <a:lstStyle/>
          <a:p>
            <a:r>
              <a:rPr lang="zh-TW" altLang="en-US" dirty="0"/>
              <a:t>將公差查詢系統與 </a:t>
            </a:r>
            <a:r>
              <a:rPr lang="en-US" altLang="zh-TW" dirty="0"/>
              <a:t>LLM </a:t>
            </a:r>
            <a:r>
              <a:rPr lang="zh-TW" altLang="en-US" dirty="0"/>
              <a:t>結合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A9FFC3F-496D-4B85-1199-18DA8AEA1D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2714" y="1883227"/>
            <a:ext cx="17034424" cy="9134214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zh-TW" altLang="en-US" dirty="0">
                <a:solidFill>
                  <a:schemeClr val="tx1"/>
                </a:solidFill>
              </a:rPr>
              <a:t>目前的系統是「查表工具」：輸入 </a:t>
            </a:r>
            <a:r>
              <a:rPr lang="en-US" altLang="zh-TW" dirty="0">
                <a:solidFill>
                  <a:schemeClr val="tx1"/>
                </a:solidFill>
              </a:rPr>
              <a:t>H7 </a:t>
            </a:r>
            <a:r>
              <a:rPr lang="zh-TW" altLang="en-US" dirty="0">
                <a:solidFill>
                  <a:schemeClr val="tx1"/>
                </a:solidFill>
              </a:rPr>
              <a:t>，</a:t>
            </a:r>
            <a:r>
              <a:rPr lang="en-US" altLang="zh-TW" dirty="0">
                <a:solidFill>
                  <a:schemeClr val="tx1"/>
                </a:solidFill>
              </a:rPr>
              <a:t>Nominal size:50mm &gt;</a:t>
            </a:r>
            <a:r>
              <a:rPr lang="zh-TW" altLang="en-US" dirty="0">
                <a:solidFill>
                  <a:schemeClr val="tx1"/>
                </a:solidFill>
              </a:rPr>
              <a:t>系統回傳上偏差</a:t>
            </a:r>
            <a:r>
              <a:rPr lang="en-US" altLang="zh-TW" dirty="0">
                <a:solidFill>
                  <a:schemeClr val="tx1"/>
                </a:solidFill>
              </a:rPr>
              <a:t>+25</a:t>
            </a:r>
            <a:r>
              <a:rPr lang="el-GR" altLang="zh-TW" dirty="0">
                <a:solidFill>
                  <a:schemeClr val="tx1"/>
                </a:solidFill>
              </a:rPr>
              <a:t> μ</a:t>
            </a:r>
            <a:r>
              <a:rPr lang="en-US" altLang="zh-TW" dirty="0">
                <a:solidFill>
                  <a:schemeClr val="tx1"/>
                </a:solidFill>
              </a:rPr>
              <a:t>m /</a:t>
            </a:r>
            <a:r>
              <a:rPr lang="zh-TW" altLang="en-US" dirty="0">
                <a:solidFill>
                  <a:schemeClr val="tx1"/>
                </a:solidFill>
              </a:rPr>
              <a:t>下偏差</a:t>
            </a:r>
            <a:r>
              <a:rPr lang="en-US" altLang="zh-TW" dirty="0">
                <a:solidFill>
                  <a:schemeClr val="tx1"/>
                </a:solidFill>
              </a:rPr>
              <a:t>0 </a:t>
            </a:r>
            <a:r>
              <a:rPr lang="el-GR" altLang="zh-TW" dirty="0">
                <a:solidFill>
                  <a:schemeClr val="tx1"/>
                </a:solidFill>
              </a:rPr>
              <a:t>μ</a:t>
            </a:r>
            <a:r>
              <a:rPr lang="en-US" altLang="zh-TW" dirty="0">
                <a:solidFill>
                  <a:schemeClr val="tx1"/>
                </a:solidFill>
              </a:rPr>
              <a:t>m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  <a:endParaRPr lang="en-US" altLang="zh-TW" dirty="0">
              <a:solidFill>
                <a:schemeClr val="tx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TW" dirty="0">
                <a:solidFill>
                  <a:schemeClr val="tx1"/>
                </a:solidFill>
              </a:rPr>
              <a:t>GAI</a:t>
            </a:r>
            <a:r>
              <a:rPr lang="zh-TW" altLang="en-US" dirty="0">
                <a:solidFill>
                  <a:schemeClr val="tx1"/>
                </a:solidFill>
              </a:rPr>
              <a:t>應用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TW" altLang="en-US" dirty="0">
                <a:solidFill>
                  <a:schemeClr val="tx1"/>
                </a:solidFill>
              </a:rPr>
              <a:t>使用者問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r>
              <a:rPr lang="zh-TW" altLang="en-US" dirty="0">
                <a:solidFill>
                  <a:schemeClr val="tx1"/>
                </a:solidFill>
              </a:rPr>
              <a:t>「</a:t>
            </a:r>
            <a:r>
              <a:rPr lang="en-US" altLang="zh-TW" dirty="0">
                <a:solidFill>
                  <a:schemeClr val="tx1"/>
                </a:solidFill>
              </a:rPr>
              <a:t>Nominal size:201mm, H7/h6 </a:t>
            </a:r>
            <a:r>
              <a:rPr lang="zh-TW" altLang="en-US" dirty="0">
                <a:solidFill>
                  <a:schemeClr val="tx1"/>
                </a:solidFill>
              </a:rPr>
              <a:t>的配合建議和公差區間和組裝間隙是多少</a:t>
            </a:r>
            <a:r>
              <a:rPr lang="en-US" altLang="zh-TW" dirty="0">
                <a:solidFill>
                  <a:schemeClr val="tx1"/>
                </a:solidFill>
              </a:rPr>
              <a:t>?</a:t>
            </a:r>
            <a:r>
              <a:rPr lang="zh-TW" altLang="en-US" dirty="0">
                <a:solidFill>
                  <a:schemeClr val="tx1"/>
                </a:solidFill>
              </a:rPr>
              <a:t> 」</a:t>
            </a:r>
            <a:endParaRPr lang="en-US" altLang="zh-TW" dirty="0">
              <a:solidFill>
                <a:schemeClr val="tx1"/>
              </a:solidFill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TW" dirty="0">
                <a:solidFill>
                  <a:schemeClr val="tx1"/>
                </a:solidFill>
              </a:rPr>
              <a:t>GAI </a:t>
            </a:r>
            <a:r>
              <a:rPr lang="zh-TW" altLang="en-US" dirty="0">
                <a:solidFill>
                  <a:schemeClr val="tx1"/>
                </a:solidFill>
              </a:rPr>
              <a:t>思考：</a:t>
            </a:r>
            <a:endParaRPr lang="en-US" altLang="zh-TW" dirty="0">
              <a:solidFill>
                <a:schemeClr val="tx1"/>
              </a:solidFill>
            </a:endParaRPr>
          </a:p>
          <a:p>
            <a:pPr marL="704772" lvl="2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tx1"/>
                </a:solidFill>
              </a:rPr>
              <a:t>&gt;</a:t>
            </a:r>
            <a:r>
              <a:rPr lang="zh-TW" altLang="en-US" dirty="0"/>
              <a:t>理解問題 → 決定要查 </a:t>
            </a:r>
            <a:r>
              <a:rPr lang="en-US" altLang="zh-TW" dirty="0"/>
              <a:t>MySQL </a:t>
            </a:r>
            <a:r>
              <a:rPr lang="zh-TW" altLang="en-US" dirty="0"/>
              <a:t>哪張表、哪種配合</a:t>
            </a:r>
            <a:r>
              <a:rPr lang="en-US" altLang="zh-TW" dirty="0"/>
              <a:t> 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  <a:endParaRPr lang="en-US" altLang="zh-TW" dirty="0">
              <a:solidFill>
                <a:schemeClr val="tx1"/>
              </a:solidFill>
            </a:endParaRPr>
          </a:p>
          <a:p>
            <a:pPr marL="704772" lvl="2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tx1"/>
                </a:solidFill>
              </a:rPr>
              <a:t>&gt;</a:t>
            </a:r>
            <a:r>
              <a:rPr lang="zh-TW" altLang="en-US" dirty="0"/>
              <a:t>發一個 </a:t>
            </a:r>
            <a:r>
              <a:rPr lang="en-US" altLang="zh-TW" dirty="0"/>
              <a:t>SQL</a:t>
            </a:r>
            <a:r>
              <a:rPr lang="zh-TW" altLang="en-US" dirty="0"/>
              <a:t>的查詢到軸孔資料庫並回傳結果給 </a:t>
            </a:r>
            <a:r>
              <a:rPr lang="en-US" altLang="zh-TW" dirty="0"/>
              <a:t>LLM</a:t>
            </a:r>
            <a:r>
              <a:rPr lang="zh-TW" altLang="en-US" dirty="0">
                <a:solidFill>
                  <a:schemeClr val="tx1"/>
                </a:solidFill>
              </a:rPr>
              <a:t>。</a:t>
            </a:r>
            <a:endParaRPr lang="en-US" altLang="zh-TW" dirty="0">
              <a:solidFill>
                <a:schemeClr val="tx1"/>
              </a:solidFill>
            </a:endParaRPr>
          </a:p>
          <a:p>
            <a:pPr marL="704772" lvl="2" indent="0">
              <a:lnSpc>
                <a:spcPct val="150000"/>
              </a:lnSpc>
              <a:buNone/>
            </a:pPr>
            <a:r>
              <a:rPr lang="en-US" altLang="zh-TW" dirty="0">
                <a:solidFill>
                  <a:schemeClr val="tx1"/>
                </a:solidFill>
              </a:rPr>
              <a:t>&gt;</a:t>
            </a:r>
            <a:r>
              <a:rPr lang="zh-TW" altLang="en-US" dirty="0"/>
              <a:t>把查回來的數值（</a:t>
            </a:r>
            <a:r>
              <a:rPr lang="en-US" altLang="zh-TW" dirty="0"/>
              <a:t>IT</a:t>
            </a:r>
            <a:r>
              <a:rPr lang="zh-TW" altLang="en-US" dirty="0"/>
              <a:t>、</a:t>
            </a:r>
            <a:r>
              <a:rPr lang="en-US" altLang="zh-TW" dirty="0"/>
              <a:t>es</a:t>
            </a:r>
            <a:r>
              <a:rPr lang="zh-TW" altLang="en-US" dirty="0"/>
              <a:t>、</a:t>
            </a:r>
            <a:r>
              <a:rPr lang="en-US" altLang="zh-TW" dirty="0" err="1"/>
              <a:t>ei</a:t>
            </a:r>
            <a:r>
              <a:rPr lang="zh-TW" altLang="en-US" dirty="0"/>
              <a:t>、</a:t>
            </a:r>
            <a:r>
              <a:rPr lang="en-US" altLang="zh-TW" dirty="0"/>
              <a:t>ES</a:t>
            </a:r>
            <a:r>
              <a:rPr lang="zh-TW" altLang="en-US" dirty="0"/>
              <a:t>、</a:t>
            </a:r>
            <a:r>
              <a:rPr lang="en-US" altLang="zh-TW" dirty="0"/>
              <a:t>EI</a:t>
            </a:r>
            <a:r>
              <a:rPr lang="zh-TW" altLang="en-US" dirty="0"/>
              <a:t>、間隙範圍</a:t>
            </a:r>
            <a:r>
              <a:rPr lang="en-US" altLang="zh-TW" dirty="0"/>
              <a:t>……</a:t>
            </a:r>
            <a:r>
              <a:rPr lang="zh-TW" altLang="en-US" dirty="0"/>
              <a:t>）組合成一段話做解釋。</a:t>
            </a:r>
            <a:endParaRPr lang="en-US" altLang="zh-TW" dirty="0"/>
          </a:p>
          <a:p>
            <a:pPr marL="1407575" lvl="3" indent="-4572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ü"/>
            </a:pPr>
            <a:r>
              <a:rPr lang="zh-TW" altLang="en-US" dirty="0"/>
              <a:t>「 </a:t>
            </a:r>
            <a:r>
              <a:rPr lang="en-US" altLang="zh-TW" dirty="0">
                <a:solidFill>
                  <a:schemeClr val="tx1"/>
                </a:solidFill>
              </a:rPr>
              <a:t>MySQL</a:t>
            </a:r>
            <a:r>
              <a:rPr lang="zh-TW" altLang="en-US" dirty="0"/>
              <a:t> 」 </a:t>
            </a:r>
            <a:r>
              <a:rPr lang="zh-TW" altLang="en-US" dirty="0">
                <a:solidFill>
                  <a:schemeClr val="tx1"/>
                </a:solidFill>
              </a:rPr>
              <a:t>（軸孔資料庫）</a:t>
            </a:r>
            <a:endParaRPr lang="en-US" altLang="zh-TW" dirty="0">
              <a:solidFill>
                <a:schemeClr val="tx1"/>
              </a:solidFill>
            </a:endParaRPr>
          </a:p>
          <a:p>
            <a:pPr marL="1407575" lvl="3" indent="-4572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zh-TW" altLang="en-US" dirty="0">
                <a:solidFill>
                  <a:schemeClr val="tx1"/>
                </a:solidFill>
              </a:rPr>
              <a:t>「資料庫查詢層」（對 </a:t>
            </a:r>
            <a:r>
              <a:rPr lang="en-US" altLang="zh-TW" dirty="0">
                <a:solidFill>
                  <a:schemeClr val="tx1"/>
                </a:solidFill>
              </a:rPr>
              <a:t>MySQL </a:t>
            </a:r>
            <a:r>
              <a:rPr lang="zh-TW" altLang="en-US" dirty="0">
                <a:solidFill>
                  <a:schemeClr val="tx1"/>
                </a:solidFill>
              </a:rPr>
              <a:t>查詢）</a:t>
            </a:r>
            <a:endParaRPr lang="en-US" altLang="zh-TW" dirty="0">
              <a:solidFill>
                <a:schemeClr val="tx1"/>
              </a:solidFill>
            </a:endParaRPr>
          </a:p>
          <a:p>
            <a:pPr marL="1407575" lvl="3" indent="-457200">
              <a:lnSpc>
                <a:spcPct val="150000"/>
              </a:lnSpc>
              <a:buClr>
                <a:srgbClr val="0070C0"/>
              </a:buClr>
              <a:buFont typeface="Wingdings" panose="05000000000000000000" pitchFamily="2" charset="2"/>
              <a:buChar char="p"/>
            </a:pPr>
            <a:r>
              <a:rPr lang="zh-TW" altLang="en-US" dirty="0">
                <a:solidFill>
                  <a:schemeClr val="tx1"/>
                </a:solidFill>
              </a:rPr>
              <a:t>「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 </a:t>
            </a:r>
            <a:r>
              <a:rPr lang="en-US" altLang="zh-TW" dirty="0">
                <a:solidFill>
                  <a:schemeClr val="tx1"/>
                </a:solidFill>
              </a:rPr>
              <a:t>/ Agent </a:t>
            </a:r>
            <a:r>
              <a:rPr lang="zh-TW" altLang="en-US" dirty="0">
                <a:solidFill>
                  <a:schemeClr val="tx1"/>
                </a:solidFill>
              </a:rPr>
              <a:t>層」（讓 </a:t>
            </a:r>
            <a:r>
              <a:rPr lang="en-US" altLang="zh-TW" dirty="0">
                <a:solidFill>
                  <a:schemeClr val="tx1"/>
                </a:solidFill>
              </a:rPr>
              <a:t>LLM </a:t>
            </a:r>
            <a:r>
              <a:rPr lang="zh-TW" altLang="en-US" dirty="0">
                <a:solidFill>
                  <a:schemeClr val="tx1"/>
                </a:solidFill>
              </a:rPr>
              <a:t>可以呼叫這些查詢函式）</a:t>
            </a:r>
            <a:endParaRPr lang="zh-TW" altLang="zh-TW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endParaRPr lang="zh-TW" alt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608519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F652057B-23A0-7CE9-326B-3A42226335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8696" y="1318990"/>
            <a:ext cx="16958442" cy="9467034"/>
          </a:xfrm>
        </p:spPr>
        <p:txBody>
          <a:bodyPr>
            <a:normAutofit fontScale="92500"/>
          </a:bodyPr>
          <a:lstStyle/>
          <a:p>
            <a:r>
              <a:rPr lang="zh-TW" altLang="en-US" dirty="0">
                <a:solidFill>
                  <a:schemeClr val="tx1"/>
                </a:solidFill>
              </a:rPr>
              <a:t>在建置專業知識 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如 </a:t>
            </a:r>
            <a:r>
              <a:rPr lang="en-US" altLang="zh-TW" dirty="0">
                <a:solidFill>
                  <a:schemeClr val="tx1"/>
                </a:solidFill>
              </a:rPr>
              <a:t>ISO </a:t>
            </a:r>
            <a:r>
              <a:rPr lang="zh-TW" altLang="en-US" dirty="0">
                <a:solidFill>
                  <a:schemeClr val="tx1"/>
                </a:solidFill>
              </a:rPr>
              <a:t>公差</a:t>
            </a:r>
            <a:r>
              <a:rPr lang="en-US" altLang="zh-TW" dirty="0">
                <a:solidFill>
                  <a:schemeClr val="tx1"/>
                </a:solidFill>
              </a:rPr>
              <a:t>) </a:t>
            </a:r>
            <a:r>
              <a:rPr lang="zh-TW" altLang="en-US" dirty="0">
                <a:solidFill>
                  <a:schemeClr val="tx1"/>
                </a:solidFill>
              </a:rPr>
              <a:t>的 </a:t>
            </a:r>
            <a:r>
              <a:rPr lang="en-US" altLang="zh-TW" dirty="0">
                <a:solidFill>
                  <a:schemeClr val="tx1"/>
                </a:solidFill>
              </a:rPr>
              <a:t>AI </a:t>
            </a:r>
            <a:r>
              <a:rPr lang="zh-TW" altLang="en-US" dirty="0">
                <a:solidFill>
                  <a:schemeClr val="tx1"/>
                </a:solidFill>
              </a:rPr>
              <a:t>助手時，</a:t>
            </a:r>
            <a:r>
              <a:rPr lang="en-US" altLang="zh-TW" dirty="0">
                <a:solidFill>
                  <a:schemeClr val="tx1"/>
                </a:solidFill>
              </a:rPr>
              <a:t>RAG</a:t>
            </a:r>
            <a:r>
              <a:rPr lang="zh-TW" altLang="en-US" dirty="0">
                <a:solidFill>
                  <a:schemeClr val="tx1"/>
                </a:solidFill>
              </a:rPr>
              <a:t>是比微調更好的選擇，原因如下：</a:t>
            </a:r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endParaRPr lang="en-US" altLang="zh-TW" dirty="0"/>
          </a:p>
          <a:p>
            <a:pPr marL="96106" indent="0">
              <a:buNone/>
            </a:pPr>
            <a:endParaRPr lang="en-US" altLang="zh-TW" dirty="0"/>
          </a:p>
          <a:p>
            <a:pPr>
              <a:lnSpc>
                <a:spcPct val="160000"/>
              </a:lnSpc>
            </a:pPr>
            <a:r>
              <a:rPr lang="zh-TW" altLang="en-US" dirty="0">
                <a:solidFill>
                  <a:schemeClr val="tx1"/>
                </a:solidFill>
              </a:rPr>
              <a:t>對於公差查詢這種</a:t>
            </a:r>
            <a:r>
              <a:rPr lang="zh-TW" altLang="en-US" dirty="0"/>
              <a:t>絕對不能出錯</a:t>
            </a:r>
            <a:r>
              <a:rPr lang="zh-TW" altLang="en-US" dirty="0">
                <a:solidFill>
                  <a:schemeClr val="tx1"/>
                </a:solidFill>
              </a:rPr>
              <a:t>且</a:t>
            </a:r>
            <a:r>
              <a:rPr lang="zh-TW" altLang="en-US" dirty="0"/>
              <a:t>數值精確</a:t>
            </a:r>
            <a:r>
              <a:rPr lang="zh-TW" altLang="en-US" dirty="0">
                <a:solidFill>
                  <a:schemeClr val="tx1"/>
                </a:solidFill>
              </a:rPr>
              <a:t>的任務，</a:t>
            </a:r>
            <a:r>
              <a:rPr lang="en-US" altLang="zh-TW" dirty="0">
                <a:solidFill>
                  <a:schemeClr val="tx1"/>
                </a:solidFill>
              </a:rPr>
              <a:t>RAG </a:t>
            </a:r>
            <a:r>
              <a:rPr lang="zh-TW" altLang="en-US" dirty="0">
                <a:solidFill>
                  <a:schemeClr val="tx1"/>
                </a:solidFill>
              </a:rPr>
              <a:t>是最合適的解決方案。模型微調更適合用於改變 </a:t>
            </a:r>
            <a:r>
              <a:rPr lang="en-US" altLang="zh-TW" dirty="0">
                <a:solidFill>
                  <a:schemeClr val="tx1"/>
                </a:solidFill>
              </a:rPr>
              <a:t>AI </a:t>
            </a:r>
            <a:r>
              <a:rPr lang="zh-TW" altLang="en-US" dirty="0">
                <a:solidFill>
                  <a:schemeClr val="tx1"/>
                </a:solidFill>
              </a:rPr>
              <a:t>的說話風格或學習特定的程式語言中的書寫格式，而不是用來背誦數據表。</a:t>
            </a:r>
          </a:p>
        </p:txBody>
      </p:sp>
      <p:sp>
        <p:nvSpPr>
          <p:cNvPr id="7" name="標題 6">
            <a:extLst>
              <a:ext uri="{FF2B5EF4-FFF2-40B4-BE49-F238E27FC236}">
                <a16:creationId xmlns:a16="http://schemas.microsoft.com/office/drawing/2014/main" id="{D647DE09-C31B-D2E7-7892-A2337013DC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27011" y="-210650"/>
            <a:ext cx="16149533" cy="1781969"/>
          </a:xfrm>
        </p:spPr>
        <p:txBody>
          <a:bodyPr/>
          <a:lstStyle/>
          <a:p>
            <a:r>
              <a:rPr lang="en-US" altLang="zh-TW" dirty="0"/>
              <a:t>RAG vs </a:t>
            </a:r>
            <a:r>
              <a:rPr lang="en-US" altLang="zh-TW" dirty="0">
                <a:effectLst/>
              </a:rPr>
              <a:t>Fine-Tuning</a:t>
            </a:r>
            <a:endParaRPr lang="zh-TW" altLang="en-US" dirty="0"/>
          </a:p>
        </p:txBody>
      </p:sp>
      <p:graphicFrame>
        <p:nvGraphicFramePr>
          <p:cNvPr id="8" name="表格 7">
            <a:extLst>
              <a:ext uri="{FF2B5EF4-FFF2-40B4-BE49-F238E27FC236}">
                <a16:creationId xmlns:a16="http://schemas.microsoft.com/office/drawing/2014/main" id="{05A7886D-7EC3-C8A4-FF10-5E3CFD2CAD6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18938"/>
              </p:ext>
            </p:extLst>
          </p:nvPr>
        </p:nvGraphicFramePr>
        <p:xfrm>
          <a:off x="3539603" y="2405852"/>
          <a:ext cx="13418839" cy="58801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6513">
                  <a:extLst>
                    <a:ext uri="{9D8B030D-6E8A-4147-A177-3AD203B41FA5}">
                      <a16:colId xmlns:a16="http://schemas.microsoft.com/office/drawing/2014/main" val="1269623978"/>
                    </a:ext>
                  </a:extLst>
                </a:gridCol>
                <a:gridCol w="5673240">
                  <a:extLst>
                    <a:ext uri="{9D8B030D-6E8A-4147-A177-3AD203B41FA5}">
                      <a16:colId xmlns:a16="http://schemas.microsoft.com/office/drawing/2014/main" val="2069834459"/>
                    </a:ext>
                  </a:extLst>
                </a:gridCol>
                <a:gridCol w="5849086">
                  <a:extLst>
                    <a:ext uri="{9D8B030D-6E8A-4147-A177-3AD203B41FA5}">
                      <a16:colId xmlns:a16="http://schemas.microsoft.com/office/drawing/2014/main" val="2136636660"/>
                    </a:ext>
                  </a:extLst>
                </a:gridCol>
              </a:tblGrid>
              <a:tr h="503748">
                <a:tc>
                  <a:txBody>
                    <a:bodyPr/>
                    <a:lstStyle/>
                    <a:p>
                      <a:r>
                        <a:rPr lang="zh-TW" altLang="en-US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特性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RAG (</a:t>
                      </a:r>
                      <a:r>
                        <a:rPr lang="zh-TW" altLang="en-US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檢索增強生成</a:t>
                      </a:r>
                      <a:r>
                        <a:rPr lang="en-US" altLang="zh-TW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endParaRPr lang="zh-TW" altLang="en-US" sz="32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altLang="zh-TW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Fine-tuning (</a:t>
                      </a:r>
                      <a:r>
                        <a:rPr lang="zh-TW" altLang="en-US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模型微調</a:t>
                      </a:r>
                      <a:r>
                        <a:rPr lang="en-US" altLang="zh-TW" sz="320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 </a:t>
                      </a:r>
                      <a:endParaRPr lang="zh-TW" altLang="en-US" sz="3200" baseline="0" dirty="0">
                        <a:latin typeface="Times New Roman" panose="02020603050405020304" pitchFamily="18" charset="0"/>
                        <a:ea typeface="標楷體" panose="03000509000000000000" pitchFamily="65" charset="-12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52640816"/>
                  </a:ext>
                </a:extLst>
              </a:tr>
              <a:tr h="1325247"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準確度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極高。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AI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直接閱讀資料庫中的正確數值回答，不會算錯。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中等。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AI 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靠「背誦」數據，容易記錯或產生幻覺。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39077026"/>
                  </a:ext>
                </a:extLst>
              </a:tr>
              <a:tr h="1325247"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數據更新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即時。只要更新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Excel/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資料庫，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AI 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馬上知道新數據。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困難。每次數據更新都需要重新訓練模型 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(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耗時及耗算力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)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85447531"/>
                  </a:ext>
                </a:extLst>
              </a:tr>
              <a:tr h="1325247"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可解釋性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高。可以知道 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AI 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是根據哪一筆資料回答的。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低，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AI 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的回答來自神經網路內部的權重，較難以追溯來源。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62958634"/>
                  </a:ext>
                </a:extLst>
              </a:tr>
              <a:tr h="1325247"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成本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低，不需要較昂貴的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GPU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進行訓練。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高，需要租用 </a:t>
                      </a:r>
                      <a:r>
                        <a:rPr lang="en-US" altLang="zh-TW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GPU </a:t>
                      </a:r>
                      <a:r>
                        <a:rPr lang="zh-TW" altLang="en-US" sz="3200" b="0" baseline="0" dirty="0">
                          <a:latin typeface="Times New Roman" panose="02020603050405020304" pitchFamily="18" charset="0"/>
                          <a:ea typeface="標楷體" panose="03000509000000000000" pitchFamily="65" charset="-120"/>
                        </a:rPr>
                        <a:t>或購買較高階顯卡進行訓練。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0221752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061623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E2531E2C-91EB-6A3C-E876-6CF8A59520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04646" y="-406078"/>
            <a:ext cx="16149533" cy="1781969"/>
          </a:xfrm>
        </p:spPr>
        <p:txBody>
          <a:bodyPr/>
          <a:lstStyle/>
          <a:p>
            <a:r>
              <a:rPr lang="zh-TW" altLang="en-US" dirty="0"/>
              <a:t>系統架構與運作原理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D237695-B6A1-EB96-7C43-F689579E6E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04646" y="844426"/>
            <a:ext cx="17002492" cy="10409728"/>
          </a:xfrm>
        </p:spPr>
        <p:txBody>
          <a:bodyPr>
            <a:normAutofit fontScale="92500" lnSpcReduction="10000"/>
          </a:bodyPr>
          <a:lstStyle/>
          <a:p>
            <a:r>
              <a:rPr lang="en-US" altLang="zh-TW" sz="3500" dirty="0">
                <a:solidFill>
                  <a:schemeClr val="tx1"/>
                </a:solidFill>
              </a:rPr>
              <a:t>AI</a:t>
            </a:r>
            <a:r>
              <a:rPr lang="zh-TW" altLang="en-US" sz="3500" dirty="0">
                <a:solidFill>
                  <a:schemeClr val="tx1"/>
                </a:solidFill>
              </a:rPr>
              <a:t>助手運作流程如下：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1.</a:t>
            </a:r>
            <a:r>
              <a:rPr lang="zh-TW" altLang="en-US" sz="3500" dirty="0">
                <a:solidFill>
                  <a:schemeClr val="tx1"/>
                </a:solidFill>
              </a:rPr>
              <a:t> </a:t>
            </a:r>
            <a:r>
              <a:rPr lang="zh-TW" altLang="en-US" sz="3500" b="1" dirty="0">
                <a:solidFill>
                  <a:schemeClr val="tx1"/>
                </a:solidFill>
              </a:rPr>
              <a:t>用戶提問 </a:t>
            </a:r>
            <a:r>
              <a:rPr lang="en-US" altLang="zh-TW" sz="3500" b="1" dirty="0">
                <a:solidFill>
                  <a:schemeClr val="tx1"/>
                </a:solidFill>
              </a:rPr>
              <a:t>: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    </a:t>
            </a:r>
            <a:r>
              <a:rPr lang="zh-TW" altLang="en-US" sz="3500" dirty="0">
                <a:solidFill>
                  <a:schemeClr val="tx1"/>
                </a:solidFill>
              </a:rPr>
              <a:t>例如：</a:t>
            </a:r>
            <a:r>
              <a:rPr lang="zh-TW" altLang="en-US" sz="3500" dirty="0"/>
              <a:t>「</a:t>
            </a:r>
            <a:r>
              <a:rPr lang="en-US" altLang="zh-TW" sz="3500" dirty="0"/>
              <a:t>25mm H7</a:t>
            </a:r>
            <a:r>
              <a:rPr lang="zh-TW" altLang="en-US" sz="3500" dirty="0"/>
              <a:t>」</a:t>
            </a:r>
            <a:r>
              <a:rPr lang="zh-TW" altLang="en-US" sz="3500" dirty="0">
                <a:solidFill>
                  <a:schemeClr val="tx1"/>
                </a:solidFill>
              </a:rPr>
              <a:t>或</a:t>
            </a:r>
            <a:r>
              <a:rPr lang="zh-TW" altLang="en-US" sz="3500" dirty="0"/>
              <a:t>「分析 </a:t>
            </a:r>
            <a:r>
              <a:rPr lang="en-US" altLang="zh-TW" sz="3500" dirty="0"/>
              <a:t>25mm H7/h6</a:t>
            </a:r>
            <a:r>
              <a:rPr lang="zh-TW" altLang="en-US" sz="3500" dirty="0">
                <a:solidFill>
                  <a:schemeClr val="tx1"/>
                </a:solidFill>
              </a:rPr>
              <a:t> </a:t>
            </a:r>
            <a:r>
              <a:rPr lang="zh-TW" altLang="en-US" sz="3500" dirty="0"/>
              <a:t>」</a:t>
            </a:r>
            <a:r>
              <a:rPr lang="zh-TW" altLang="en-US" sz="3500" dirty="0">
                <a:solidFill>
                  <a:schemeClr val="tx1"/>
                </a:solidFill>
              </a:rPr>
              <a:t> 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2. </a:t>
            </a:r>
            <a:r>
              <a:rPr lang="zh-TW" altLang="en-US" sz="3500" b="1" dirty="0">
                <a:solidFill>
                  <a:schemeClr val="tx1"/>
                </a:solidFill>
              </a:rPr>
              <a:t>意圖解析</a:t>
            </a:r>
            <a:r>
              <a:rPr lang="en-US" altLang="zh-TW" sz="3500" b="1" dirty="0">
                <a:solidFill>
                  <a:schemeClr val="tx1"/>
                </a:solidFill>
              </a:rPr>
              <a:t>:</a:t>
            </a:r>
            <a:r>
              <a:rPr lang="zh-TW" altLang="en-US" sz="3500" b="1" dirty="0">
                <a:solidFill>
                  <a:schemeClr val="tx1"/>
                </a:solidFill>
              </a:rPr>
              <a:t> </a:t>
            </a:r>
            <a:endParaRPr lang="en-US" altLang="zh-TW" sz="3500" b="1" dirty="0">
              <a:solidFill>
                <a:schemeClr val="tx1"/>
              </a:solidFill>
            </a:endParaRP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     a.</a:t>
            </a:r>
            <a:r>
              <a:rPr lang="zh-TW" altLang="en-US" sz="3500" dirty="0">
                <a:solidFill>
                  <a:schemeClr val="tx1"/>
                </a:solidFill>
              </a:rPr>
              <a:t>系統分析用戶輸入。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zh-TW" altLang="en-US" sz="3500" dirty="0">
                <a:solidFill>
                  <a:schemeClr val="tx1"/>
                </a:solidFill>
              </a:rPr>
              <a:t>     </a:t>
            </a:r>
            <a:r>
              <a:rPr lang="en-US" altLang="zh-TW" sz="3500" dirty="0">
                <a:solidFill>
                  <a:schemeClr val="tx1"/>
                </a:solidFill>
              </a:rPr>
              <a:t>b.</a:t>
            </a:r>
            <a:r>
              <a:rPr lang="zh-TW" altLang="en-US" sz="3500" dirty="0">
                <a:solidFill>
                  <a:schemeClr val="tx1"/>
                </a:solidFill>
              </a:rPr>
              <a:t>提取關鍵字：</a:t>
            </a:r>
            <a:r>
              <a:rPr lang="zh-TW" altLang="en-US" sz="3500" dirty="0"/>
              <a:t>尺寸 </a:t>
            </a:r>
            <a:r>
              <a:rPr lang="en-US" altLang="zh-TW" sz="3500" dirty="0"/>
              <a:t>(`25mm`)</a:t>
            </a:r>
            <a:r>
              <a:rPr lang="zh-TW" altLang="en-US" sz="3500" dirty="0">
                <a:solidFill>
                  <a:schemeClr val="tx1"/>
                </a:solidFill>
              </a:rPr>
              <a:t>、</a:t>
            </a:r>
            <a:r>
              <a:rPr lang="zh-TW" altLang="en-US" sz="3500" dirty="0"/>
              <a:t>孔公差 </a:t>
            </a:r>
            <a:r>
              <a:rPr lang="en-US" altLang="zh-TW" sz="3500" dirty="0"/>
              <a:t>(`H7`)</a:t>
            </a:r>
            <a:r>
              <a:rPr lang="zh-TW" altLang="en-US" sz="3500" dirty="0">
                <a:solidFill>
                  <a:schemeClr val="tx1"/>
                </a:solidFill>
              </a:rPr>
              <a:t>、</a:t>
            </a:r>
            <a:r>
              <a:rPr lang="zh-TW" altLang="en-US" sz="3500" dirty="0"/>
              <a:t>軸公差 </a:t>
            </a:r>
            <a:r>
              <a:rPr lang="en-US" altLang="zh-TW" sz="3500" dirty="0"/>
              <a:t>(`h6`)</a:t>
            </a:r>
            <a:r>
              <a:rPr lang="zh-TW" altLang="en-US" sz="3500" dirty="0">
                <a:solidFill>
                  <a:schemeClr val="tx1"/>
                </a:solidFill>
              </a:rPr>
              <a:t>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3. </a:t>
            </a:r>
            <a:r>
              <a:rPr lang="zh-TW" altLang="en-US" sz="3500" b="1" dirty="0">
                <a:solidFill>
                  <a:schemeClr val="tx1"/>
                </a:solidFill>
              </a:rPr>
              <a:t>資料檢索 </a:t>
            </a:r>
            <a:r>
              <a:rPr lang="en-US" altLang="zh-TW" sz="3500" b="1" dirty="0">
                <a:solidFill>
                  <a:schemeClr val="tx1"/>
                </a:solidFill>
              </a:rPr>
              <a:t>: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     a.</a:t>
            </a:r>
            <a:r>
              <a:rPr lang="zh-TW" altLang="en-US" sz="3500" dirty="0">
                <a:solidFill>
                  <a:schemeClr val="tx1"/>
                </a:solidFill>
              </a:rPr>
              <a:t>系統根據提取的關鍵字，直接查詢 </a:t>
            </a:r>
            <a:r>
              <a:rPr lang="en-US" altLang="zh-TW" sz="3500" dirty="0">
                <a:solidFill>
                  <a:schemeClr val="tx1"/>
                </a:solidFill>
              </a:rPr>
              <a:t>MySQL </a:t>
            </a:r>
            <a:r>
              <a:rPr lang="zh-TW" altLang="en-US" sz="3500" dirty="0">
                <a:solidFill>
                  <a:schemeClr val="tx1"/>
                </a:solidFill>
              </a:rPr>
              <a:t>資料庫 。</a:t>
            </a:r>
            <a:endParaRPr lang="en-US" altLang="zh-TW" sz="3500" dirty="0">
              <a:solidFill>
                <a:schemeClr val="tx1"/>
              </a:solidFill>
            </a:endParaRP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/>
              <a:t>(`iso286_tolerance`, `</a:t>
            </a:r>
            <a:r>
              <a:rPr lang="en-US" altLang="zh-TW" sz="3500" dirty="0" err="1"/>
              <a:t>hole_tolerance</a:t>
            </a:r>
            <a:r>
              <a:rPr lang="en-US" altLang="zh-TW" sz="3500" dirty="0"/>
              <a:t>`, `</a:t>
            </a:r>
            <a:r>
              <a:rPr lang="en-US" altLang="zh-TW" sz="3500" dirty="0" err="1"/>
              <a:t>shaft_tolerance</a:t>
            </a:r>
            <a:r>
              <a:rPr lang="en-US" altLang="zh-TW" sz="3500" dirty="0"/>
              <a:t>`)</a:t>
            </a:r>
            <a:endParaRPr lang="zh-TW" altLang="en-US" sz="3500" dirty="0"/>
          </a:p>
          <a:p>
            <a:pPr marL="96106" indent="0">
              <a:lnSpc>
                <a:spcPct val="110000"/>
              </a:lnSpc>
              <a:buNone/>
            </a:pPr>
            <a:r>
              <a:rPr lang="zh-TW" altLang="en-US" sz="3500" dirty="0">
                <a:solidFill>
                  <a:schemeClr val="tx1"/>
                </a:solidFill>
              </a:rPr>
              <a:t>     </a:t>
            </a:r>
            <a:r>
              <a:rPr lang="en-US" altLang="zh-TW" sz="3500" dirty="0">
                <a:solidFill>
                  <a:schemeClr val="tx1"/>
                </a:solidFill>
              </a:rPr>
              <a:t>b.</a:t>
            </a:r>
            <a:r>
              <a:rPr lang="zh-TW" altLang="en-US" sz="3500" dirty="0">
                <a:solidFill>
                  <a:schemeClr val="tx1"/>
                </a:solidFill>
              </a:rPr>
              <a:t>如果是配合分析，會同時查詢孔與軸的數據，並計算間隙</a:t>
            </a:r>
            <a:r>
              <a:rPr lang="en-US" altLang="zh-TW" sz="3500" dirty="0">
                <a:solidFill>
                  <a:schemeClr val="tx1"/>
                </a:solidFill>
              </a:rPr>
              <a:t>/</a:t>
            </a:r>
            <a:r>
              <a:rPr lang="zh-TW" altLang="en-US" sz="3500" dirty="0">
                <a:solidFill>
                  <a:schemeClr val="tx1"/>
                </a:solidFill>
              </a:rPr>
              <a:t>過盈</a:t>
            </a:r>
            <a:r>
              <a:rPr lang="en-US" altLang="zh-TW" sz="3500" dirty="0">
                <a:solidFill>
                  <a:schemeClr val="tx1"/>
                </a:solidFill>
              </a:rPr>
              <a:t>/</a:t>
            </a:r>
            <a:r>
              <a:rPr lang="zh-TW" altLang="en-US" sz="3500" dirty="0">
                <a:solidFill>
                  <a:schemeClr val="tx1"/>
                </a:solidFill>
              </a:rPr>
              <a:t>過渡數值。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4.</a:t>
            </a:r>
            <a:r>
              <a:rPr lang="zh-TW" altLang="en-US" sz="3500" dirty="0">
                <a:solidFill>
                  <a:schemeClr val="tx1"/>
                </a:solidFill>
              </a:rPr>
              <a:t> </a:t>
            </a:r>
            <a:r>
              <a:rPr lang="zh-TW" altLang="en-US" sz="3500" b="1" dirty="0">
                <a:solidFill>
                  <a:schemeClr val="tx1"/>
                </a:solidFill>
              </a:rPr>
              <a:t>提示詞增強 </a:t>
            </a:r>
            <a:r>
              <a:rPr lang="en-US" altLang="zh-TW" sz="3500" b="1" dirty="0">
                <a:solidFill>
                  <a:schemeClr val="tx1"/>
                </a:solidFill>
              </a:rPr>
              <a:t>(Prompt Augmentation) 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     a.</a:t>
            </a:r>
            <a:r>
              <a:rPr lang="zh-TW" altLang="en-US" sz="3500" dirty="0">
                <a:solidFill>
                  <a:schemeClr val="tx1"/>
                </a:solidFill>
              </a:rPr>
              <a:t>系統將</a:t>
            </a:r>
            <a:r>
              <a:rPr lang="zh-TW" altLang="en-US" sz="3500" b="1" dirty="0">
                <a:solidFill>
                  <a:schemeClr val="tx1"/>
                </a:solidFill>
              </a:rPr>
              <a:t>用戶的問題</a:t>
            </a:r>
            <a:r>
              <a:rPr lang="zh-TW" altLang="en-US" sz="3500" dirty="0">
                <a:solidFill>
                  <a:schemeClr val="tx1"/>
                </a:solidFill>
              </a:rPr>
              <a:t>與</a:t>
            </a:r>
            <a:r>
              <a:rPr lang="zh-TW" altLang="en-US" sz="3500" b="1" dirty="0">
                <a:solidFill>
                  <a:schemeClr val="tx1"/>
                </a:solidFill>
              </a:rPr>
              <a:t>查到的正確數據</a:t>
            </a:r>
            <a:r>
              <a:rPr lang="zh-TW" altLang="en-US" sz="3500" dirty="0">
                <a:solidFill>
                  <a:schemeClr val="tx1"/>
                </a:solidFill>
              </a:rPr>
              <a:t>組合成一個詳細的提示詞 </a:t>
            </a:r>
            <a:r>
              <a:rPr lang="en-US" altLang="zh-TW" sz="3500" dirty="0">
                <a:solidFill>
                  <a:schemeClr val="tx1"/>
                </a:solidFill>
              </a:rPr>
              <a:t>(Prompt)</a:t>
            </a:r>
            <a:r>
              <a:rPr lang="zh-TW" altLang="en-US" sz="3500" dirty="0">
                <a:solidFill>
                  <a:schemeClr val="tx1"/>
                </a:solidFill>
              </a:rPr>
              <a:t>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zh-TW" altLang="en-US" sz="3500" dirty="0">
                <a:solidFill>
                  <a:schemeClr val="tx1"/>
                </a:solidFill>
              </a:rPr>
              <a:t>     </a:t>
            </a:r>
            <a:r>
              <a:rPr lang="en-US" altLang="zh-TW" sz="3500" dirty="0" err="1">
                <a:solidFill>
                  <a:schemeClr val="tx1"/>
                </a:solidFill>
              </a:rPr>
              <a:t>b.prompt</a:t>
            </a:r>
            <a:r>
              <a:rPr lang="zh-TW" altLang="en-US" sz="3500" dirty="0">
                <a:solidFill>
                  <a:schemeClr val="tx1"/>
                </a:solidFill>
              </a:rPr>
              <a:t>範例：</a:t>
            </a:r>
            <a:endParaRPr lang="en-US" altLang="zh-TW" sz="3500" dirty="0">
              <a:solidFill>
                <a:schemeClr val="tx1"/>
              </a:solidFill>
            </a:endParaRPr>
          </a:p>
          <a:p>
            <a:pPr marL="96106" indent="0">
              <a:lnSpc>
                <a:spcPct val="110000"/>
              </a:lnSpc>
              <a:buNone/>
            </a:pPr>
            <a:r>
              <a:rPr lang="zh-TW" altLang="en-US" sz="3500" dirty="0"/>
              <a:t>「用戶問 </a:t>
            </a:r>
            <a:r>
              <a:rPr lang="en-US" altLang="zh-TW" sz="3500" dirty="0"/>
              <a:t>25mm H7</a:t>
            </a:r>
            <a:r>
              <a:rPr lang="zh-TW" altLang="en-US" sz="3500" dirty="0"/>
              <a:t>。資料庫顯示：上偏差 </a:t>
            </a:r>
            <a:r>
              <a:rPr lang="en-US" altLang="zh-TW" sz="3500" dirty="0"/>
              <a:t>+21um</a:t>
            </a:r>
            <a:r>
              <a:rPr lang="zh-TW" altLang="en-US" sz="3500" dirty="0"/>
              <a:t>，下偏差 </a:t>
            </a:r>
            <a:r>
              <a:rPr lang="en-US" altLang="zh-TW" sz="3500" dirty="0"/>
              <a:t>0um</a:t>
            </a:r>
            <a:r>
              <a:rPr lang="zh-TW" altLang="en-US" sz="3500" dirty="0"/>
              <a:t>。請用這些數據回答用戶。」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5.</a:t>
            </a:r>
            <a:r>
              <a:rPr lang="zh-TW" altLang="en-US" sz="3500" dirty="0">
                <a:solidFill>
                  <a:schemeClr val="tx1"/>
                </a:solidFill>
              </a:rPr>
              <a:t>  </a:t>
            </a:r>
            <a:r>
              <a:rPr lang="en-US" altLang="zh-TW" sz="3500" b="1" dirty="0">
                <a:solidFill>
                  <a:schemeClr val="tx1"/>
                </a:solidFill>
              </a:rPr>
              <a:t>AI </a:t>
            </a:r>
            <a:r>
              <a:rPr lang="zh-TW" altLang="en-US" sz="3500" b="1" dirty="0">
                <a:solidFill>
                  <a:schemeClr val="tx1"/>
                </a:solidFill>
              </a:rPr>
              <a:t>生成回答 </a:t>
            </a:r>
            <a:r>
              <a:rPr lang="en-US" altLang="zh-TW" sz="3500" b="1" dirty="0">
                <a:solidFill>
                  <a:schemeClr val="tx1"/>
                </a:solidFill>
              </a:rPr>
              <a:t>(Generation)</a:t>
            </a:r>
            <a:endParaRPr lang="en-US" altLang="zh-TW" sz="3500" dirty="0">
              <a:solidFill>
                <a:schemeClr val="tx1"/>
              </a:solidFill>
            </a:endParaRPr>
          </a:p>
          <a:p>
            <a:pPr marL="96106" indent="0">
              <a:lnSpc>
                <a:spcPct val="110000"/>
              </a:lnSpc>
              <a:buNone/>
            </a:pPr>
            <a:r>
              <a:rPr lang="en-US" altLang="zh-TW" sz="3500" dirty="0">
                <a:solidFill>
                  <a:schemeClr val="tx1"/>
                </a:solidFill>
              </a:rPr>
              <a:t>     a.</a:t>
            </a:r>
            <a:r>
              <a:rPr lang="zh-TW" altLang="en-US" sz="3500" dirty="0">
                <a:solidFill>
                  <a:schemeClr val="tx1"/>
                </a:solidFill>
              </a:rPr>
              <a:t>將組合好的提示詞傳送給 </a:t>
            </a:r>
            <a:r>
              <a:rPr lang="en-US" altLang="zh-TW" sz="3500" b="1" dirty="0">
                <a:solidFill>
                  <a:schemeClr val="tx1"/>
                </a:solidFill>
              </a:rPr>
              <a:t>Ollama (Llama 3 </a:t>
            </a:r>
            <a:r>
              <a:rPr lang="zh-TW" altLang="en-US" sz="3500" b="1" dirty="0">
                <a:solidFill>
                  <a:schemeClr val="tx1"/>
                </a:solidFill>
              </a:rPr>
              <a:t>模型</a:t>
            </a:r>
            <a:r>
              <a:rPr lang="en-US" altLang="zh-TW" sz="3500" b="1" dirty="0">
                <a:solidFill>
                  <a:schemeClr val="tx1"/>
                </a:solidFill>
              </a:rPr>
              <a:t>)</a:t>
            </a:r>
            <a:r>
              <a:rPr lang="zh-TW" altLang="en-US" sz="3500" dirty="0">
                <a:solidFill>
                  <a:schemeClr val="tx1"/>
                </a:solidFill>
              </a:rPr>
              <a:t>。</a:t>
            </a:r>
          </a:p>
          <a:p>
            <a:pPr marL="96106" indent="0">
              <a:lnSpc>
                <a:spcPct val="110000"/>
              </a:lnSpc>
              <a:buNone/>
            </a:pPr>
            <a:r>
              <a:rPr lang="zh-TW" altLang="en-US" sz="3500" dirty="0">
                <a:solidFill>
                  <a:schemeClr val="tx1"/>
                </a:solidFill>
              </a:rPr>
              <a:t>     </a:t>
            </a:r>
            <a:r>
              <a:rPr lang="en-US" altLang="zh-TW" sz="3500" dirty="0">
                <a:solidFill>
                  <a:schemeClr val="tx1"/>
                </a:solidFill>
              </a:rPr>
              <a:t>b.AI </a:t>
            </a:r>
            <a:r>
              <a:rPr lang="zh-TW" altLang="en-US" sz="3500" dirty="0">
                <a:solidFill>
                  <a:schemeClr val="tx1"/>
                </a:solidFill>
              </a:rPr>
              <a:t>根據提示詞，用自然語言生成最終的回答。</a:t>
            </a:r>
          </a:p>
          <a:p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402247588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 descr="一張含有 文字, 螢幕擷取畫面, 軟體, 多媒體軟體 的圖片&#10;&#10;AI 產生的內容可能不正確。">
            <a:extLst>
              <a:ext uri="{FF2B5EF4-FFF2-40B4-BE49-F238E27FC236}">
                <a16:creationId xmlns:a16="http://schemas.microsoft.com/office/drawing/2014/main" id="{9B9BB59C-02C8-56E5-4DB2-827E723A9CC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863" y="331620"/>
            <a:ext cx="16666275" cy="9927947"/>
          </a:xfrm>
        </p:spPr>
      </p:pic>
    </p:spTree>
    <p:extLst>
      <p:ext uri="{BB962C8B-B14F-4D97-AF65-F5344CB8AC3E}">
        <p14:creationId xmlns:p14="http://schemas.microsoft.com/office/powerpoint/2010/main" val="251314708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D574129-B9D1-9E28-A2EA-75D78C488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15996" y="-212647"/>
            <a:ext cx="16149533" cy="1781969"/>
          </a:xfrm>
        </p:spPr>
        <p:txBody>
          <a:bodyPr/>
          <a:lstStyle/>
          <a:p>
            <a:r>
              <a:rPr lang="zh-TW" altLang="en-US" dirty="0"/>
              <a:t>未來進階運用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02F2564E-851E-5B54-3366-4A4ADCFBC2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297834" y="1237254"/>
            <a:ext cx="16377027" cy="9454559"/>
          </a:xfrm>
        </p:spPr>
        <p:txBody>
          <a:bodyPr>
            <a:normAutofit fontScale="92500" lnSpcReduction="20000"/>
          </a:bodyPr>
          <a:lstStyle/>
          <a:p>
            <a:pPr marL="96106" indent="0">
              <a:lnSpc>
                <a:spcPct val="200000"/>
              </a:lnSpc>
              <a:buNone/>
            </a:pPr>
            <a:r>
              <a:rPr lang="zh-TW" altLang="en-US" dirty="0">
                <a:solidFill>
                  <a:schemeClr val="tx1"/>
                </a:solidFill>
              </a:rPr>
              <a:t>雖然目前只用它來跑 </a:t>
            </a:r>
            <a:r>
              <a:rPr lang="en-US" altLang="zh-TW" dirty="0">
                <a:solidFill>
                  <a:schemeClr val="tx1"/>
                </a:solidFill>
              </a:rPr>
              <a:t>Llama 3</a:t>
            </a:r>
            <a:r>
              <a:rPr lang="zh-TW" altLang="en-US" dirty="0">
                <a:solidFill>
                  <a:schemeClr val="tx1"/>
                </a:solidFill>
              </a:rPr>
              <a:t>，但可以隨時透過 </a:t>
            </a:r>
            <a:r>
              <a:rPr lang="en-US" altLang="zh-TW" dirty="0">
                <a:solidFill>
                  <a:schemeClr val="tx1"/>
                </a:solidFill>
              </a:rPr>
              <a:t>Ollama </a:t>
            </a:r>
            <a:r>
              <a:rPr lang="zh-TW" altLang="en-US" dirty="0">
                <a:solidFill>
                  <a:schemeClr val="tx1"/>
                </a:solidFill>
              </a:rPr>
              <a:t>升級</a:t>
            </a:r>
            <a:r>
              <a:rPr lang="en-US" altLang="zh-TW" dirty="0">
                <a:solidFill>
                  <a:schemeClr val="tx1"/>
                </a:solidFill>
              </a:rPr>
              <a:t>:</a:t>
            </a:r>
            <a:endParaRPr lang="zh-TW" altLang="en-US" dirty="0">
              <a:solidFill>
                <a:schemeClr val="tx1"/>
              </a:solidFill>
            </a:endParaRPr>
          </a:p>
          <a:p>
            <a:pPr>
              <a:lnSpc>
                <a:spcPct val="200000"/>
              </a:lnSpc>
            </a:pPr>
            <a:r>
              <a:rPr lang="zh-TW" altLang="en-US" dirty="0">
                <a:solidFill>
                  <a:schemeClr val="tx1"/>
                </a:solidFill>
              </a:rPr>
              <a:t>更換更強的模型：</a:t>
            </a:r>
          </a:p>
          <a:p>
            <a:pPr marL="96106" indent="0">
              <a:lnSpc>
                <a:spcPct val="200000"/>
              </a:lnSpc>
              <a:buNone/>
            </a:pPr>
            <a:r>
              <a:rPr lang="zh-TW" altLang="en-US" dirty="0">
                <a:solidFill>
                  <a:schemeClr val="tx1"/>
                </a:solidFill>
              </a:rPr>
              <a:t>如果未來 </a:t>
            </a:r>
            <a:r>
              <a:rPr lang="en-US" altLang="zh-TW" dirty="0">
                <a:solidFill>
                  <a:schemeClr val="tx1"/>
                </a:solidFill>
              </a:rPr>
              <a:t>Llama 4 </a:t>
            </a:r>
            <a:r>
              <a:rPr lang="zh-TW" altLang="en-US" dirty="0">
                <a:solidFill>
                  <a:schemeClr val="tx1"/>
                </a:solidFill>
              </a:rPr>
              <a:t>出來了，修改 </a:t>
            </a:r>
            <a:r>
              <a:rPr lang="en-US" altLang="zh-TW" dirty="0">
                <a:solidFill>
                  <a:schemeClr val="tx1"/>
                </a:solidFill>
              </a:rPr>
              <a:t>rag_server.py </a:t>
            </a:r>
            <a:r>
              <a:rPr lang="zh-TW" altLang="en-US" dirty="0">
                <a:solidFill>
                  <a:schemeClr val="tx1"/>
                </a:solidFill>
              </a:rPr>
              <a:t>裡的程式碼，就可以用更強的推理模型。</a:t>
            </a:r>
          </a:p>
          <a:p>
            <a:pPr>
              <a:lnSpc>
                <a:spcPct val="200000"/>
              </a:lnSpc>
            </a:pPr>
            <a:r>
              <a:rPr lang="zh-TW" altLang="en-US" dirty="0">
                <a:solidFill>
                  <a:schemeClr val="tx1"/>
                </a:solidFill>
              </a:rPr>
              <a:t>嘗試不同風格的模型：</a:t>
            </a:r>
          </a:p>
          <a:p>
            <a:pPr marL="96106" indent="0">
              <a:lnSpc>
                <a:spcPct val="200000"/>
              </a:lnSpc>
              <a:buNone/>
            </a:pPr>
            <a:r>
              <a:rPr lang="zh-TW" altLang="en-US" dirty="0">
                <a:solidFill>
                  <a:schemeClr val="tx1"/>
                </a:solidFill>
              </a:rPr>
              <a:t>可以下載 </a:t>
            </a:r>
            <a:r>
              <a:rPr lang="en-US" altLang="zh-TW" dirty="0">
                <a:solidFill>
                  <a:schemeClr val="tx1"/>
                </a:solidFill>
              </a:rPr>
              <a:t>gemma (Google </a:t>
            </a:r>
            <a:r>
              <a:rPr lang="zh-TW" altLang="en-US" dirty="0">
                <a:solidFill>
                  <a:schemeClr val="tx1"/>
                </a:solidFill>
              </a:rPr>
              <a:t>的模型</a:t>
            </a:r>
            <a:r>
              <a:rPr lang="en-US" altLang="zh-TW" dirty="0">
                <a:solidFill>
                  <a:schemeClr val="tx1"/>
                </a:solidFill>
              </a:rPr>
              <a:t>) </a:t>
            </a:r>
            <a:r>
              <a:rPr lang="zh-TW" altLang="en-US" dirty="0">
                <a:solidFill>
                  <a:schemeClr val="tx1"/>
                </a:solidFill>
              </a:rPr>
              <a:t>，比較看看誰解釋公差比較清楚。</a:t>
            </a:r>
          </a:p>
          <a:p>
            <a:pPr>
              <a:lnSpc>
                <a:spcPct val="200000"/>
              </a:lnSpc>
            </a:pPr>
            <a:r>
              <a:rPr lang="zh-TW" altLang="en-US" dirty="0">
                <a:solidFill>
                  <a:schemeClr val="tx1"/>
                </a:solidFill>
              </a:rPr>
              <a:t>自定義模型 ：</a:t>
            </a:r>
          </a:p>
          <a:p>
            <a:pPr marL="96106" indent="0">
              <a:lnSpc>
                <a:spcPct val="200000"/>
              </a:lnSpc>
              <a:buNone/>
            </a:pPr>
            <a:r>
              <a:rPr lang="zh-TW" altLang="en-US" dirty="0">
                <a:solidFill>
                  <a:schemeClr val="tx1"/>
                </a:solidFill>
              </a:rPr>
              <a:t>可以創建一個 </a:t>
            </a:r>
            <a:r>
              <a:rPr lang="en-US" altLang="zh-TW" dirty="0">
                <a:solidFill>
                  <a:schemeClr val="tx1"/>
                </a:solidFill>
              </a:rPr>
              <a:t>Model file</a:t>
            </a:r>
            <a:r>
              <a:rPr lang="zh-TW" altLang="en-US" dirty="0">
                <a:solidFill>
                  <a:schemeClr val="tx1"/>
                </a:solidFill>
              </a:rPr>
              <a:t>，鎖定系統提示詞</a:t>
            </a:r>
            <a:r>
              <a:rPr lang="en-US" altLang="zh-TW" dirty="0">
                <a:solidFill>
                  <a:schemeClr val="tx1"/>
                </a:solidFill>
              </a:rPr>
              <a:t>(</a:t>
            </a:r>
            <a:r>
              <a:rPr lang="zh-TW" altLang="en-US" dirty="0">
                <a:solidFill>
                  <a:schemeClr val="tx1"/>
                </a:solidFill>
              </a:rPr>
              <a:t>例如：「你是一個講話很幽默的工程師」</a:t>
            </a:r>
            <a:r>
              <a:rPr lang="en-US" altLang="zh-TW" dirty="0">
                <a:solidFill>
                  <a:schemeClr val="tx1"/>
                </a:solidFill>
              </a:rPr>
              <a:t>)</a:t>
            </a:r>
            <a:r>
              <a:rPr lang="zh-TW" altLang="en-US" dirty="0">
                <a:solidFill>
                  <a:schemeClr val="tx1"/>
                </a:solidFill>
              </a:rPr>
              <a:t>，然後建立一個專屬模型風格。</a:t>
            </a:r>
          </a:p>
        </p:txBody>
      </p:sp>
    </p:spTree>
    <p:extLst>
      <p:ext uri="{BB962C8B-B14F-4D97-AF65-F5344CB8AC3E}">
        <p14:creationId xmlns:p14="http://schemas.microsoft.com/office/powerpoint/2010/main" val="22296159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AC540091-A0D3-D768-BB38-2D3B91542D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19748" y="97098"/>
            <a:ext cx="16149533" cy="1781969"/>
          </a:xfrm>
        </p:spPr>
        <p:txBody>
          <a:bodyPr/>
          <a:lstStyle/>
          <a:p>
            <a:r>
              <a:rPr lang="zh-TW" altLang="en-US" dirty="0"/>
              <a:t>未來規劃</a:t>
            </a:r>
          </a:p>
        </p:txBody>
      </p:sp>
      <p:grpSp>
        <p:nvGrpSpPr>
          <p:cNvPr id="39" name="群組 38">
            <a:extLst>
              <a:ext uri="{FF2B5EF4-FFF2-40B4-BE49-F238E27FC236}">
                <a16:creationId xmlns:a16="http://schemas.microsoft.com/office/drawing/2014/main" id="{1AADFC31-AAE6-DD7F-7B3A-8AE764B4586E}"/>
              </a:ext>
            </a:extLst>
          </p:cNvPr>
          <p:cNvGrpSpPr/>
          <p:nvPr/>
        </p:nvGrpSpPr>
        <p:grpSpPr>
          <a:xfrm>
            <a:off x="2219748" y="1835782"/>
            <a:ext cx="16559778" cy="8715810"/>
            <a:chOff x="1017813" y="4111398"/>
            <a:chExt cx="20200238" cy="9800843"/>
          </a:xfrm>
        </p:grpSpPr>
        <p:graphicFrame>
          <p:nvGraphicFramePr>
            <p:cNvPr id="40" name="Content Placeholder 20">
              <a:extLst>
                <a:ext uri="{FF2B5EF4-FFF2-40B4-BE49-F238E27FC236}">
                  <a16:creationId xmlns:a16="http://schemas.microsoft.com/office/drawing/2014/main" id="{357EF0ED-6103-5AD6-354D-7A36B7F68069}"/>
                </a:ext>
              </a:extLst>
            </p:cNvPr>
            <p:cNvGraphicFramePr>
              <a:graphicFrameLocks/>
            </p:cNvGraphicFramePr>
            <p:nvPr>
              <p:extLst>
                <p:ext uri="{D42A27DB-BD31-4B8C-83A1-F6EECF244321}">
                  <p14:modId xmlns:p14="http://schemas.microsoft.com/office/powerpoint/2010/main" val="2171140420"/>
                </p:ext>
              </p:extLst>
            </p:nvPr>
          </p:nvGraphicFramePr>
          <p:xfrm>
            <a:off x="1017813" y="4111398"/>
            <a:ext cx="20200238" cy="9800843"/>
          </p:xfrm>
          <a:graphic>
            <a:graphicData uri="http://schemas.openxmlformats.org/drawingml/2006/table">
              <a:tbl>
                <a:tblPr/>
                <a:tblGrid>
                  <a:gridCol w="3531978">
                    <a:extLst>
                      <a:ext uri="{9D8B030D-6E8A-4147-A177-3AD203B41FA5}">
                        <a16:colId xmlns:a16="http://schemas.microsoft.com/office/drawing/2014/main" val="2000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3801447871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26157823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820344115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4019376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202919214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48747768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0003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368410080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1754211082"/>
                      </a:ext>
                    </a:extLst>
                  </a:gridCol>
                  <a:gridCol w="1085650">
                    <a:extLst>
                      <a:ext uri="{9D8B030D-6E8A-4147-A177-3AD203B41FA5}">
                        <a16:colId xmlns:a16="http://schemas.microsoft.com/office/drawing/2014/main" val="2509450787"/>
                      </a:ext>
                    </a:extLst>
                  </a:gridCol>
                </a:tblGrid>
                <a:tr h="730377">
                  <a:tc rowSpan="2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12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gridSpan="4"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1</a:t>
                        </a:r>
                        <a:r>
                          <a:rPr lang="zh-TW" altLang="en-US" sz="32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月</a:t>
                        </a:r>
                        <a:endParaRPr lang="en-US" sz="3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8BC248">
                          <a:lumMod val="40000"/>
                          <a:lumOff val="60000"/>
                        </a:srgbClr>
                      </a:solidFill>
                    </a:tcPr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tc hMerge="1">
                    <a:txBody>
                      <a:bodyPr/>
                      <a:lstStyle/>
                      <a:p>
                        <a:endParaRPr lang="zh-TW" altLang="en-US"/>
                      </a:p>
                    </a:txBody>
                    <a:tcPr/>
                  </a:tc>
                  <a:extLst>
                    <a:ext uri="{0D108BD9-81ED-4DB2-BD59-A6C34878D82A}">
                      <a16:rowId xmlns:a16="http://schemas.microsoft.com/office/drawing/2014/main" val="10000"/>
                    </a:ext>
                  </a:extLst>
                </a:tr>
                <a:tr h="894706">
                  <a:tc vMerge="1"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chemeClr val="tx1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week1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week2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week3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algn="ctr"/>
                        <a:r>
                          <a:rPr lang="en-US" altLang="zh-TW" sz="200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week4</a:t>
                        </a: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solidFill>
                        <a:srgbClr val="EF9527">
                          <a:lumMod val="20000"/>
                          <a:lumOff val="80000"/>
                        </a:srgbClr>
                      </a:solidFill>
                    </a:tcPr>
                  </a:tc>
                  <a:extLst>
                    <a:ext uri="{0D108BD9-81ED-4DB2-BD59-A6C34878D82A}">
                      <a16:rowId xmlns:a16="http://schemas.microsoft.com/office/drawing/2014/main" val="1771980896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公差知識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</a:rPr>
                          <a:t>)</a:t>
                        </a:r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1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Protégé(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製程知識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2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Protégé →Neo4j</a:t>
                        </a:r>
                      </a:p>
                      <a:p>
                        <a:endParaRPr 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3"/>
                    </a:ext>
                  </a:extLst>
                </a:tr>
                <a:tr h="1704212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NX(CAD→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接觸面</a:t>
                        </a: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)</a:t>
                        </a:r>
                      </a:p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4"/>
                    </a:ext>
                  </a:extLst>
                </a:tr>
                <a:tr h="1345676"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marR="0" lvl="0" indent="0" algn="l" defTabSz="1828434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r>
                          <a:rPr lang="en-US" altLang="zh-TW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MySQL</a:t>
                        </a:r>
                        <a:r>
                          <a:rPr lang="zh-TW" altLang="en-US" sz="3200" b="0" i="0" baseline="0" dirty="0">
                            <a:solidFill>
                              <a:sysClr val="windowText" lastClr="000000"/>
                            </a:solidFill>
                            <a:latin typeface="Times New Roman" panose="02020603050405020304" pitchFamily="18" charset="0"/>
                            <a:ea typeface="標楷體" panose="03000509000000000000" pitchFamily="65" charset="-120"/>
                            <a:cs typeface="Lato Regular"/>
                          </a:rPr>
                          <a:t>標準查詢</a:t>
                        </a:r>
                        <a:endParaRPr lang="en-US" altLang="zh-TW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  <a:p>
                        <a:endParaRPr lang="zh-TW" altLang="en-US" sz="3200" b="0" i="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endParaRPr lang="en-US" sz="37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>
                        <a:lvl1pPr marL="0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1pPr>
                        <a:lvl2pPr marL="533918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2pPr>
                        <a:lvl3pPr marL="1067836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3pPr>
                        <a:lvl4pPr marL="1601754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4pPr>
                        <a:lvl5pPr marL="2135673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5pPr>
                        <a:lvl6pPr marL="2669591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6pPr>
                        <a:lvl7pPr marL="3203509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7pPr>
                        <a:lvl8pPr marL="3737427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8pPr>
                        <a:lvl9pPr marL="4271345" algn="l" rtl="0" eaLnBrk="1" latinLnBrk="0" hangingPunct="1">
                          <a:defRPr kumimoji="0" kern="1200">
                            <a:solidFill>
                              <a:schemeClr val="tx1"/>
                            </a:solidFill>
                            <a:latin typeface="Lato Light"/>
                          </a:defRPr>
                        </a:lvl9pPr>
                      </a:lstStyle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tc>
                    <a:txBody>
                      <a:bodyPr/>
                      <a:lstStyle/>
                      <a:p>
                        <a:pPr marL="0" algn="l" rtl="0" eaLnBrk="1" latinLnBrk="0" hangingPunct="1"/>
                        <a:endParaRPr kumimoji="0" lang="en-US" sz="3700" kern="1200" baseline="0" dirty="0">
                          <a:solidFill>
                            <a:sysClr val="windowText" lastClr="000000"/>
                          </a:solidFill>
                          <a:latin typeface="Times New Roman" panose="02020603050405020304" pitchFamily="18" charset="0"/>
                          <a:ea typeface="標楷體" panose="03000509000000000000" pitchFamily="65" charset="-120"/>
                          <a:cs typeface="Lato Regular"/>
                        </a:endParaRPr>
                      </a:p>
                    </a:txBody>
                    <a:tcPr marL="237716" marR="237716" marT="121920" marB="121920" anchor="ctr">
                      <a:lnL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L>
                      <a:lnR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R>
                      <a:lnT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T>
                      <a:lnB w="12700" cap="flat" cmpd="sng" algn="ctr">
                        <a:solidFill>
                          <a:srgbClr val="445469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lnTlToBr w="12700" cmpd="sng">
                        <a:noFill/>
                        <a:prstDash val="solid"/>
                      </a:lnTlToBr>
                      <a:lnBlToTr w="12700" cmpd="sng">
                        <a:noFill/>
                        <a:prstDash val="solid"/>
                      </a:lnBlToTr>
                      <a:noFill/>
                    </a:tcPr>
                  </a:tc>
                  <a:extLst>
                    <a:ext uri="{0D108BD9-81ED-4DB2-BD59-A6C34878D82A}">
                      <a16:rowId xmlns:a16="http://schemas.microsoft.com/office/drawing/2014/main" val="10005"/>
                    </a:ext>
                  </a:extLst>
                </a:tr>
              </a:tbl>
            </a:graphicData>
          </a:graphic>
        </p:graphicFrame>
        <p:sp>
          <p:nvSpPr>
            <p:cNvPr id="41" name="Rounded Rectangle 4">
              <a:extLst>
                <a:ext uri="{FF2B5EF4-FFF2-40B4-BE49-F238E27FC236}">
                  <a16:creationId xmlns:a16="http://schemas.microsoft.com/office/drawing/2014/main" id="{0F21BD24-2AC2-522B-EA96-BD4031D3F7AF}"/>
                </a:ext>
              </a:extLst>
            </p:cNvPr>
            <p:cNvSpPr/>
            <p:nvPr/>
          </p:nvSpPr>
          <p:spPr>
            <a:xfrm>
              <a:off x="5592224" y="6429319"/>
              <a:ext cx="9641461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solidFill>
                <a:srgbClr val="EF9527"/>
              </a:solidFill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2" name="Rounded Rectangle 6">
              <a:extLst>
                <a:ext uri="{FF2B5EF4-FFF2-40B4-BE49-F238E27FC236}">
                  <a16:creationId xmlns:a16="http://schemas.microsoft.com/office/drawing/2014/main" id="{E89D2DA6-0CB6-A7E9-C6C3-2E07C1A6AAB3}"/>
                </a:ext>
              </a:extLst>
            </p:cNvPr>
            <p:cNvSpPr/>
            <p:nvPr/>
          </p:nvSpPr>
          <p:spPr>
            <a:xfrm>
              <a:off x="5592226" y="8058498"/>
              <a:ext cx="11099038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3" name="Rounded Rectangle 7">
              <a:extLst>
                <a:ext uri="{FF2B5EF4-FFF2-40B4-BE49-F238E27FC236}">
                  <a16:creationId xmlns:a16="http://schemas.microsoft.com/office/drawing/2014/main" id="{5A651710-6DB6-9E8F-E05B-5D2017AA20A4}"/>
                </a:ext>
              </a:extLst>
            </p:cNvPr>
            <p:cNvSpPr/>
            <p:nvPr/>
          </p:nvSpPr>
          <p:spPr>
            <a:xfrm>
              <a:off x="8260447" y="9518942"/>
              <a:ext cx="9848329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4" name="Rounded Rectangle 9">
              <a:extLst>
                <a:ext uri="{FF2B5EF4-FFF2-40B4-BE49-F238E27FC236}">
                  <a16:creationId xmlns:a16="http://schemas.microsoft.com/office/drawing/2014/main" id="{7D56C01C-7A89-1FCB-6F91-9471F3F712BB}"/>
                </a:ext>
              </a:extLst>
            </p:cNvPr>
            <p:cNvSpPr/>
            <p:nvPr/>
          </p:nvSpPr>
          <p:spPr>
            <a:xfrm>
              <a:off x="6933131" y="12890103"/>
              <a:ext cx="6205424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  <p:sp>
          <p:nvSpPr>
            <p:cNvPr id="45" name="Rounded Rectangle 10">
              <a:extLst>
                <a:ext uri="{FF2B5EF4-FFF2-40B4-BE49-F238E27FC236}">
                  <a16:creationId xmlns:a16="http://schemas.microsoft.com/office/drawing/2014/main" id="{00104F05-6343-6A1F-8A57-610DA15BD83B}"/>
                </a:ext>
              </a:extLst>
            </p:cNvPr>
            <p:cNvSpPr/>
            <p:nvPr/>
          </p:nvSpPr>
          <p:spPr>
            <a:xfrm>
              <a:off x="6933131" y="10934970"/>
              <a:ext cx="13987431" cy="607225"/>
            </a:xfrm>
            <a:prstGeom prst="roundRect">
              <a:avLst>
                <a:gd name="adj" fmla="val 50000"/>
              </a:avLst>
            </a:prstGeom>
            <a:solidFill>
              <a:srgbClr val="ED423D"/>
            </a:solidFill>
            <a:ln w="6350" cap="flat" cmpd="sng" algn="ctr">
              <a:noFill/>
              <a:prstDash val="solid"/>
              <a:miter lim="800000"/>
            </a:ln>
            <a:effectLst/>
          </p:spPr>
          <p:txBody>
            <a:bodyPr lIns="243852" tIns="121926" rIns="243852" bIns="121926" rtlCol="0" anchor="ctr"/>
            <a:lstStyle/>
            <a:p>
              <a:pPr marL="0" marR="0" lvl="0" indent="0" algn="ctr" defTabSz="1828434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Lato Regular"/>
                <a:ea typeface="+mn-ea"/>
                <a:cs typeface="Lato Regular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3128277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25C56DA-07F9-5F5B-49E4-B0A154CF2C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3952" y="4076192"/>
            <a:ext cx="10683754" cy="2539427"/>
          </a:xfrm>
        </p:spPr>
        <p:txBody>
          <a:bodyPr/>
          <a:lstStyle/>
          <a:p>
            <a:pPr marL="96106" indent="0" algn="ctr">
              <a:buNone/>
            </a:pP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報告結束</a:t>
            </a:r>
            <a:br>
              <a:rPr lang="en-US" altLang="zh-TW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</a:br>
            <a:r>
              <a:rPr lang="zh-TW" altLang="en-US" sz="7200" b="1" kern="0" dirty="0">
                <a:solidFill>
                  <a:schemeClr val="tx1"/>
                </a:solidFill>
                <a:latin typeface="標楷體" panose="03000509000000000000" pitchFamily="65" charset="-120"/>
              </a:rPr>
              <a:t>感謝聆聽</a:t>
            </a:r>
          </a:p>
          <a:p>
            <a:endParaRPr lang="zh-TW" altLang="en-US" b="1" dirty="0"/>
          </a:p>
        </p:txBody>
      </p:sp>
    </p:spTree>
    <p:extLst>
      <p:ext uri="{BB962C8B-B14F-4D97-AF65-F5344CB8AC3E}">
        <p14:creationId xmlns:p14="http://schemas.microsoft.com/office/powerpoint/2010/main" val="631032119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佈景主題1">
  <a:themeElements>
    <a:clrScheme name="夏至">
      <a:dk1>
        <a:sysClr val="windowText" lastClr="000000"/>
      </a:dk1>
      <a:lt1>
        <a:sysClr val="window" lastClr="FFFFFF"/>
      </a:lt1>
      <a:dk2>
        <a:srgbClr val="4F271C"/>
      </a:dk2>
      <a:lt2>
        <a:srgbClr val="E7DEC9"/>
      </a:lt2>
      <a:accent1>
        <a:srgbClr val="3891A7"/>
      </a:accent1>
      <a:accent2>
        <a:srgbClr val="FEB80A"/>
      </a:accent2>
      <a:accent3>
        <a:srgbClr val="C32D2E"/>
      </a:accent3>
      <a:accent4>
        <a:srgbClr val="84AA33"/>
      </a:accent4>
      <a:accent5>
        <a:srgbClr val="964305"/>
      </a:accent5>
      <a:accent6>
        <a:srgbClr val="475A8D"/>
      </a:accent6>
      <a:hlink>
        <a:srgbClr val="8DC765"/>
      </a:hlink>
      <a:folHlink>
        <a:srgbClr val="AA8A14"/>
      </a:folHlink>
    </a:clrScheme>
    <a:fontScheme name="夏至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HY엽서L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夏至">
      <a:fillStyleLst>
        <a:solidFill>
          <a:schemeClr val="phClr"/>
        </a:solidFill>
        <a:gradFill rotWithShape="1">
          <a:gsLst>
            <a:gs pos="0">
              <a:schemeClr val="phClr">
                <a:tint val="35000"/>
                <a:satMod val="253000"/>
              </a:schemeClr>
            </a:gs>
            <a:gs pos="50000">
              <a:schemeClr val="phClr">
                <a:tint val="42000"/>
                <a:satMod val="255000"/>
              </a:schemeClr>
            </a:gs>
            <a:gs pos="97000">
              <a:schemeClr val="phClr">
                <a:tint val="53000"/>
                <a:satMod val="260000"/>
              </a:schemeClr>
            </a:gs>
            <a:gs pos="100000">
              <a:schemeClr val="phClr">
                <a:tint val="56000"/>
                <a:satMod val="275000"/>
              </a:schemeClr>
            </a:gs>
          </a:gsLst>
          <a:path path="circle">
            <a:fillToRect l="50000" t="50000" r="50000" b="50000"/>
          </a:path>
        </a:gradFill>
        <a:gradFill rotWithShape="1">
          <a:gsLst>
            <a:gs pos="0">
              <a:schemeClr val="phClr">
                <a:tint val="92000"/>
                <a:satMod val="170000"/>
              </a:schemeClr>
            </a:gs>
            <a:gs pos="15000">
              <a:schemeClr val="phClr">
                <a:tint val="92000"/>
                <a:shade val="99000"/>
                <a:satMod val="170000"/>
              </a:schemeClr>
            </a:gs>
            <a:gs pos="62000">
              <a:schemeClr val="phClr">
                <a:tint val="96000"/>
                <a:shade val="80000"/>
                <a:satMod val="170000"/>
              </a:schemeClr>
            </a:gs>
            <a:gs pos="97000">
              <a:schemeClr val="phClr">
                <a:tint val="98000"/>
                <a:shade val="63000"/>
                <a:satMod val="170000"/>
              </a:schemeClr>
            </a:gs>
            <a:gs pos="100000">
              <a:schemeClr val="phClr">
                <a:shade val="62000"/>
                <a:satMod val="170000"/>
              </a:schemeClr>
            </a:gs>
          </a:gsLst>
          <a:path path="circle">
            <a:fillToRect l="50000" t="50000" r="50000" b="5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8700000"/>
            </a:lightRig>
          </a:scene3d>
          <a:sp3d contourW="12700">
            <a:bevelT w="0" h="0"/>
            <a:contourClr>
              <a:schemeClr val="phClr">
                <a:shade val="80000"/>
              </a:schemeClr>
            </a:contourClr>
          </a:sp3d>
        </a:effectStyle>
        <a:effectStyle>
          <a:effectLst>
            <a:outerShdw blurRad="63500" dist="25400" dir="5400000" rotWithShape="0">
              <a:srgbClr val="000000">
                <a:alpha val="43137"/>
              </a:srgbClr>
            </a:outerShdw>
          </a:effectLst>
          <a:scene3d>
            <a:camera prst="orthographicFront" fov="0">
              <a:rot lat="0" lon="0" rev="0"/>
            </a:camera>
            <a:lightRig rig="brightRoom" dir="tl">
              <a:rot lat="0" lon="0" rev="5400000"/>
            </a:lightRig>
          </a:scene3d>
          <a:sp3d contourW="12700">
            <a:bevelT w="25400" h="50800" prst="angle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355000"/>
              </a:schemeClr>
            </a:gs>
            <a:gs pos="40000">
              <a:schemeClr val="phClr">
                <a:tint val="85000"/>
                <a:satMod val="320000"/>
              </a:schemeClr>
            </a:gs>
            <a:gs pos="100000">
              <a:schemeClr val="phClr">
                <a:shade val="55000"/>
                <a:satMod val="300000"/>
              </a:schemeClr>
            </a:gs>
          </a:gsLst>
          <a:path path="circle">
            <a:fillToRect l="-24500" t="-20000" r="124500" b="12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"/>
                <a:satMod val="300000"/>
              </a:schemeClr>
              <a:schemeClr val="phClr">
                <a:tint val="90000"/>
                <a:satMod val="225000"/>
              </a:schemeClr>
            </a:duotone>
          </a:blip>
          <a:tile tx="0" ty="0" sx="90000" sy="90000" flip="xy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佈景主題1" id="{E61209DD-7C03-404D-B789-7B1DDF8EB829}" vid="{B8D7766B-4337-40CD-B4A4-BF345C77790C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64880</TotalTime>
  <Words>1009</Words>
  <Application>Microsoft Office PowerPoint</Application>
  <PresentationFormat>自訂</PresentationFormat>
  <Paragraphs>121</Paragraphs>
  <Slides>18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10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18</vt:i4>
      </vt:variant>
    </vt:vector>
  </HeadingPairs>
  <TitlesOfParts>
    <vt:vector size="29" baseType="lpstr">
      <vt:lpstr>標楷體</vt:lpstr>
      <vt:lpstr>Arial</vt:lpstr>
      <vt:lpstr>Calibri</vt:lpstr>
      <vt:lpstr>Cambria Math</vt:lpstr>
      <vt:lpstr>Gill Sans MT</vt:lpstr>
      <vt:lpstr>Lato Regular</vt:lpstr>
      <vt:lpstr>Times New Roman</vt:lpstr>
      <vt:lpstr>Verdana</vt:lpstr>
      <vt:lpstr>Wingdings</vt:lpstr>
      <vt:lpstr>Wingdings 2</vt:lpstr>
      <vt:lpstr>佈景主題1</vt:lpstr>
      <vt:lpstr>PowerPoint 簡報</vt:lpstr>
      <vt:lpstr>PowerPoint 簡報</vt:lpstr>
      <vt:lpstr>solidworks讀取讀取產品製造資訊(PMI) </vt:lpstr>
      <vt:lpstr>solidworks讀取產品製造資訊(PMI) </vt:lpstr>
      <vt:lpstr>PowerPoint 簡報</vt:lpstr>
      <vt:lpstr>MySQL標準查詢</vt:lpstr>
      <vt:lpstr>PowerPoint 簡報</vt:lpstr>
      <vt:lpstr>PowerPoint 簡報</vt:lpstr>
      <vt:lpstr>PowerPoint 簡報</vt:lpstr>
      <vt:lpstr>PowerPoint 簡報</vt:lpstr>
      <vt:lpstr>離線版(不用連線到資料庫)</vt:lpstr>
      <vt:lpstr>將公差查詢系統與 LLM 結合</vt:lpstr>
      <vt:lpstr>RAG vs Fine-Tuning</vt:lpstr>
      <vt:lpstr>系統架構與運作原理</vt:lpstr>
      <vt:lpstr>PowerPoint 簡報</vt:lpstr>
      <vt:lpstr>未來進階運用</vt:lpstr>
      <vt:lpstr>未來規劃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Group meeting</dc:title>
  <dc:creator>博宇 蔡</dc:creator>
  <cp:lastModifiedBy>泓文 陳</cp:lastModifiedBy>
  <cp:revision>1289</cp:revision>
  <dcterms:created xsi:type="dcterms:W3CDTF">2022-09-16T14:31:41Z</dcterms:created>
  <dcterms:modified xsi:type="dcterms:W3CDTF">2025-12-21T17:31:19Z</dcterms:modified>
</cp:coreProperties>
</file>